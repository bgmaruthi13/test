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495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05840"/>
            <a:ext cx="786384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BPS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&amp; Schrems II Compliance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7863840" cy="5486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Lifecycle · Database Internals · Log Architecture · GDPR Risk Register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Reference: </a:t>
            </a: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</a:t>
            </a:r>
            <a:r>
              <a:rPr lang="en-US" sz="10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37764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</a:t>
            </a: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Database Engineering, GGG SSSS  |  April 2026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0325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Status: </a:t>
            </a: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Pending DPO / GTS Review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WEBCON BPS and why does it matter for compliance?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64008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00200" y="121615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BPS is a Business Process and Workflow Management platform built on Microsoft SQL Server, deployed within the </a:t>
            </a:r>
            <a:r>
              <a:rPr lang="en-US" sz="1000" dirty="0" err="1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 Shared Centre (GGG) environment.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64008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751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Shared-Table Architecture: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197510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 data across every process lands in a small set of common SQL tables. This efficiency creates a compliance challenge: broad SELECT permissions expose EEA personal data from any process.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60904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660904"/>
            <a:ext cx="64008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340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 Risk: 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273405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Non-EEA database user with unrestricted SELECT on WFElements can access EEA employee HR, payroll and identity data alongside unrelated IT-helpdesk tickets simultaneously.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19856"/>
            <a:ext cx="64008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this document: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34930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full workflow lifecycle from design-time configuration through runtime storage, system logging, and purge — with column-level PII mapping and GDPR/Schrems II compliance analysis.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85953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78808"/>
            <a:ext cx="64008" cy="658368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251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Actions: 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42519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Masking (DDM), Row-Level Security (RLS), Process-Scoped Views, and Service Account Separation are the four independent security layers required to achieve compliance.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two-layer design model and shared-table principle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Architecture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design model: how WEBCON separates design from runtime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352044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Design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Admin / Developer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Designer Studio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938528"/>
            <a:ext cx="3566160" cy="2743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31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processes, steps, paths, fields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rules in Designer Studio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written: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852928"/>
            <a:ext cx="3566160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529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WFDefinitions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36392"/>
            <a:ext cx="3566160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36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WFSteps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3566160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198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WFAvailablePaths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3566160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WFFieldDefinitions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986784"/>
            <a:ext cx="3566160" cy="237744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WFStepFormFields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70832" y="2651760"/>
            <a:ext cx="402336" cy="274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0A4AE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1097280"/>
            <a:ext cx="402336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097280"/>
            <a:ext cx="64008" cy="352044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15361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Actor: End 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Form submissions &amp; path transitions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74920" y="1938528"/>
            <a:ext cx="3566160" cy="27432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19933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74920" y="2231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forms, click buttons, take paths,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 — all personal data written here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259689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written (all carry PII):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74920" y="2852928"/>
            <a:ext cx="3566160" cy="237744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85292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WFElements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74920" y="3136392"/>
            <a:ext cx="3566160" cy="237744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1363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WFHistoryElements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74920" y="3419856"/>
            <a:ext cx="3566160" cy="237744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4198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WFElementTasks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74920" y="3703320"/>
            <a:ext cx="3566160" cy="237744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7033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WFLogs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74920" y="3986784"/>
            <a:ext cx="3566160" cy="237744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986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WFAttachmentFiles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Shared-Table Principle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architectural fact for Schrems II compliance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594360"/>
          </a:xfrm>
          <a:prstGeom prst="rect">
            <a:avLst/>
          </a:prstGeom>
          <a:solidFill>
            <a:srgbClr val="FFF3CD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SCHREMS II IMPLICATION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WEBCON does NOT create a new SQL table per workflow or process. Every instance from every application shares WFElements. WFD_DEFID is the ONLY logical separator.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23774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64008" cy="2468880"/>
          </a:xfrm>
          <a:prstGeom prst="rect">
            <a:avLst/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Onboarding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(EEA)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WFD_DEFID = 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 Anna Schmidt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Salary: €85,000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info: Hypertension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02920" y="3182112"/>
            <a:ext cx="201168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64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EEA Personal Data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26080" y="1901952"/>
            <a:ext cx="23774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26080" y="1901952"/>
            <a:ext cx="64008" cy="24688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9933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(Global)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54680" y="2423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WFD_DEFID = 30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Ticket: VPN issue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To: Kiran Das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Network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54680" y="3182112"/>
            <a:ext cx="201168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2644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Low-sensitivity 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1901952"/>
            <a:ext cx="29260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901952"/>
            <a:ext cx="64008" cy="2468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993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(ONE shared table)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06440" y="242316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WFD_DEFID=10, WFD_Creator='a.schmidt'...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2: WFD_DEFID=10, WFD_AttLong1='Hypertension'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3: WFD_DEFID=30, WFD_Creator='kiran.das'...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4: WFD_DEFID=30, WFD_AttText1='VPN not conn'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06440" y="3255264"/>
            <a:ext cx="256032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DB-level process isolation by default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33472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76088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0A4AE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solidFill>
            <a:srgbClr val="FFE0E0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988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Non-EEA database user granted SELECT on WFElements without row-level or column-level restrictions can read EEA HR data and IT helpdesk data simultaneously. DDM and RLS are mandatory — not optional enhancements.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Design-Time Configuration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Designer Studio writes to configuration 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Design-Time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Studio → Configuration tables → Runtime tables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Tables (No PII)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8988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WFApplications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registry (e.g. 'IT Service Management')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3852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93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WFDefinitions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registry — DEF_ID=102 'IT Support Ticket'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8716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8716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420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WFSteps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27432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step (rectangle) on the workflow canvas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3580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WFAvailablePaths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path/arrow between steps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58444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8444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639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WFFieldDefinitions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8404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logical field names to physical column slots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133088"/>
            <a:ext cx="42062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133088"/>
            <a:ext cx="64008" cy="475488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879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WFStepFormFields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3891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Matrix: visibility/editability per step (UI-only control)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1078992"/>
            <a:ext cx="4114800" cy="1463040"/>
          </a:xfrm>
          <a:prstGeom prst="rect">
            <a:avLst/>
          </a:prstGeom>
          <a:solidFill>
            <a:srgbClr val="FFF3CD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170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Field Matrix Is UI-Only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1444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a field as Hidden in the Field Matrix prevents it appearing on the form at that step. It has NO effect on the underlying SQL column.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Non-EEA DB user with SELECT can still read every column regardless of step-level visibility. DDM is your actual Schrems II control at the persistence layer.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651760"/>
            <a:ext cx="4114800" cy="162763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2651760"/>
            <a:ext cx="64008" cy="16276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Assignment at Design 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017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→ Physical col: WFD_AttText1</a:t>
            </a: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→ WFD_AttLong1 (ntext)</a:t>
            </a: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</a:t>
            </a:r>
            <a:r>
              <a:rPr lang="en-US" sz="85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Assigned To → WFD_AttPeople1 (CRITICAL)</a:t>
            </a: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00" dirty="0"/>
          </a:p>
          <a:p>
            <a:pPr marL="0" indent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table creation. Column pool is fixed at installation.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Pool &amp; Field Limits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constraints and PII classification per column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Column Pool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WFElements pre-built column pool — fixed at installation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33832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Column Pattern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SQL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Max Slots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Schrems II Sensitivity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WFD_AttText1–Text80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varchar(255)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80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860B"/>
                          </a:solidFill>
                        </a:rPr>
                        <a:t>Medium — names, IDs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WFD_AttChoose1–Choose90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varchar(1000)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Low — structured values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WFD_AttDateTime1–DateTime50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datetime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Low alone; HIGH combined with person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WFD_AttDecimal1–Decimal50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decimal(21,6)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8860B"/>
                          </a:solidFill>
                        </a:rPr>
                        <a:t>Medium — salary, financial data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WFD_AttLong1–Long25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ntext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HIGH — free text, partially unmaskable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WFD_AttInt1–Int30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int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WFD_AttBool1–Bool20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bit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WFD_AttPeople1–People15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varchar(1000)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B71C1C"/>
                          </a:solidFill>
                        </a:rPr>
                        <a:t>CRITICAL — EEA identity (tightest limit)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WFD_AttMap1–Map3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varchar/ntext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65100"/>
                          </a:solidFill>
                        </a:rPr>
                        <a:t>HIGH — location = personal data under GDPR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FE0E0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714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Global fields (WFD_AttTextGlob, ChooseGlob, DateTimeGlob) are shared across ALL processes — DDM required on ALL Glob columns. WFElementDetails sub-rows have an INDEPENDENT column pool and require their own separate DDM policy.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Data Flow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SQL operations triggered by a user 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Runtime Data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database operations when a user clicks a path button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1480" cy="5120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13232" y="1115568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115568"/>
            <a:ext cx="64008" cy="512064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1612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WFStepFormFields (read)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32688" y="138074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None — validation read only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275320" y="1271016"/>
            <a:ext cx="822960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271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NONE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746504"/>
            <a:ext cx="411480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4650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3232" y="1746504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1746504"/>
            <a:ext cx="64008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179222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WFActions / WFLogs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32688" y="20116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Email recipients if email actions configured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75320" y="1901952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901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411480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13232" y="2377440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2377440"/>
            <a:ext cx="64008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24231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WFElements (INSERT)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264261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WFD_Creator, WFD_ModifiedBy, WFD_AttPeople[N], WFD_AttLong[N]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275320" y="2532888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532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008376"/>
            <a:ext cx="411480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083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13232" y="3008376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3008376"/>
            <a:ext cx="64008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30540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WFHistoryElements (INSERT)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32688" y="32735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HIST_User, HIST_Comment (free text — uncontrolled)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75320" y="3163824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75320" y="3163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639312"/>
            <a:ext cx="411480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63931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13232" y="3639312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3639312"/>
            <a:ext cx="64008" cy="5120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2688" y="368503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WFElementTasks (INSERT)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32688" y="39044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TSK_AssignedTo (email), TSK_DelegatedTo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75320" y="3794760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3794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4270248"/>
            <a:ext cx="411480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27024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13232" y="4270248"/>
            <a:ext cx="8156448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4270248"/>
            <a:ext cx="64008" cy="5120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431596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WFLogs (INSERT)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32688" y="45354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PII: LOG_User, LOG_Message (may embed field values, emails, exception data)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75320" y="4425696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44256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in this chain carries personal data and requires compliance controls.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WFElements · WFHistoryElements · WFElementTasks · WFAttachmentFiles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WFElements &amp; WFHistoryElements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table and complete audit trail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WFElements — Central Data Table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workflow instance. Never deleted in normal operation.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1848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WFD_Creator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12848" y="163677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16367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79222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login of instance creator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0253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WFD_ModifiedBy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12848" y="2020824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2020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17627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login of last modifier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368296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8658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WFD_BossLogin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12848" y="2404872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2848" y="2404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" y="256032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login (approval routing)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752344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77063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WFD_SubstLogin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12848" y="2788920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12848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2944368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/ delegate login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3136392"/>
            <a:ext cx="4114800" cy="347472"/>
          </a:xfrm>
          <a:prstGeom prst="rect">
            <a:avLst/>
          </a:prstGeom>
          <a:solidFill>
            <a:srgbClr val="FFE8E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54680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WFD_AttPeople[N]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212848" y="3172968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12848" y="3172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7472" y="3328416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employee identity — ID#Name format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520440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538728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WFD_AttLong[N]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12848" y="355701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12848" y="3557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7472" y="3712464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— may contain any PII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74320" y="3904488"/>
            <a:ext cx="4114800" cy="347472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922776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WFD_AttText[N]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12848" y="3941064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12848" y="3941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47472" y="4096512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Context-dependent — review per process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74320" y="4288536"/>
            <a:ext cx="411480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306824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WFD_AttMap[N]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212848" y="4325112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12848" y="4325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47472" y="448056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 — personal under GDPR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663440" y="1078992"/>
            <a:ext cx="420624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WFHistoryElements — Audit Trail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13716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path transition. Never deleted. History tab visible to end users.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1600200"/>
            <a:ext cx="4206240" cy="347472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161848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HIST_User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10528" y="163677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16367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36592" y="179222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login of the actor who took the path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63440" y="1984248"/>
            <a:ext cx="4206240" cy="347472"/>
          </a:xfrm>
          <a:prstGeom prst="rect">
            <a:avLst/>
          </a:prstGeom>
          <a:solidFill>
            <a:srgbClr val="FFE8E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2002536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HIST_Comment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10528" y="2020824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0528" y="20208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736592" y="217627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— salary, HR, health, financial data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63440" y="2368296"/>
            <a:ext cx="4206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2386584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HIST_FromStepID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510528" y="2404872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2404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36592" y="2560320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ID — behavioural record if combined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63440" y="2752344"/>
            <a:ext cx="4206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2770632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HIST_ToStepID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510528" y="2788920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0528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736592" y="2944368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ID — not PII alone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663440" y="3136392"/>
            <a:ext cx="4206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36592" y="3154680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HIST_Date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510528" y="3172968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10528" y="3172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736592" y="3328416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only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663440" y="3520440"/>
            <a:ext cx="42062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736592" y="3538728"/>
            <a:ext cx="17373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HIST_WFDID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510528" y="3557016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510528" y="35570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736592" y="3712464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to WFElements — not PII alone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663440" y="4041648"/>
            <a:ext cx="4206240" cy="868680"/>
          </a:xfrm>
          <a:prstGeom prst="rect">
            <a:avLst/>
          </a:prstGeom>
          <a:solidFill>
            <a:srgbClr val="FFE8E8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4096512"/>
            <a:ext cx="4023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HIST_Comment is highest uncontrolled risk in WFHistoryElements. DDM can only mask the entire column. Consider: full column mask, revoke SELECT for Non-EEA DB roles, or enforce structured comment codes via BPS form rules.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WFElementTasks &amp; WFAttachmentFiles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assignments and file attachment metadata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WFElementTasks — Task Assignments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C4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missed in Schrems II remediation scope.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18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TSK_AssignedTo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21408" y="163677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16367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18013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employee email address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4320" y="2002536"/>
            <a:ext cx="411480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020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TSK_AssignedToID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21408" y="2039112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22037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SID or user GUID — linkable to identity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74320" y="2404872"/>
            <a:ext cx="411480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TSK_DelegatedTo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121408" y="244144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441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47472" y="2606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/ substitute email address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2807208"/>
            <a:ext cx="4114800" cy="365760"/>
          </a:xfrm>
          <a:prstGeom prst="rect">
            <a:avLst/>
          </a:prstGeom>
          <a:solidFill>
            <a:srgbClr val="FFE8E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25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TSK_Comment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121408" y="2843784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21408" y="2843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47472" y="3008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on task completion — same risk as HIST_Comment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3209544"/>
            <a:ext cx="411480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227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TSK_DueDate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21408" y="3246120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21408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47472" y="34107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only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3611880"/>
            <a:ext cx="411480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630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TSK_Status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21408" y="3648456"/>
            <a:ext cx="822960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21408" y="36484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NONE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47472" y="3813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status code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1078992"/>
            <a:ext cx="420624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097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WFAttachmentFiles — Attachment Metadata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13716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file content stored on UNC share or Azure Blob — separate access controls required.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1600200"/>
            <a:ext cx="420624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161848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ATT_FileName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10528" y="163677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163677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36592" y="180136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embed employee name (e.g. Anna_Schmidt_Payslip.pdf)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63440" y="2002536"/>
            <a:ext cx="420624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2020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ATT_AddedByUser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10528" y="2039112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0528" y="2039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36592" y="220370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login of the uploader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663440" y="2404872"/>
            <a:ext cx="4206240" cy="36576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36592" y="24231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ATT_Description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10528" y="244144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2441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736592" y="260604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description — user-entered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63440" y="2807208"/>
            <a:ext cx="4206240" cy="36576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2825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ATT_GUID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10528" y="2843784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10528" y="2843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736592" y="3008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locator — indirect access vector to blob/UNC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63440" y="3209544"/>
            <a:ext cx="4206240" cy="36576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36592" y="32278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ATT_StoragePath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510528" y="3246120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4736592" y="34107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 or Azure Blob path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663440" y="3611880"/>
            <a:ext cx="420624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36592" y="3630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ATT_StorType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510528" y="3648456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510528" y="36484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4736592" y="3813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type code (0=DB, 1=UNC, 2=Azure)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4663440" y="4096512"/>
            <a:ext cx="4206240" cy="804672"/>
          </a:xfrm>
          <a:prstGeom prst="rect">
            <a:avLst/>
          </a:prstGeom>
          <a:solidFill>
            <a:srgbClr val="FFF0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415137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C4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Azure Blob (ATT_StorType=2): Ensure Blob Storage container RBAC is scoped to EEA-only access. ATT_GUID in the SQL row resolves to the blob — a Non-EEA user who reads ATT_GUID and has storage account access can retrieve the physical file even with DDM applied to the metadata row.</a:t>
            </a:r>
            <a:endParaRPr lang="en-US" sz="780" dirty="0"/>
          </a:p>
        </p:txBody>
      </p:sp>
      <p:sp>
        <p:nvSpPr>
          <p:cNvPr id="73" name="Text 71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WFLogs — System Operation Log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structure · Type reference · PII exposure analysis · Remediation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WFLogs: What It Is and Is Not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 from WFHistoryElements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35112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WFHistoryElements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WFLogs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Written by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Workflow engine (one row per path transition)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Platform engine (multiple rows per single user action)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Visible to end users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Yes — the History tab on the form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45200"/>
                          </a:solidFill>
                        </a:rPr>
                        <a:t>No — DBA and admin tooling only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Granularity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One row per path taken by a user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One row per internal operation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Free text source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User-typed comment at path transition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System-generated — engine / plugin messages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Controllable at source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Yes — train users, enforce structured comments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45200"/>
                          </a:solidFill>
                        </a:rPr>
                        <a:t>No — engine writes it; no sanitisation possible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Retention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Permanent unless manually purged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Configurable; 90 / 180 days recommended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455A64"/>
                          </a:solidFill>
                        </a:rPr>
                        <a:t>Schrems II risk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C45200"/>
                          </a:solidFill>
                        </a:rPr>
                        <a:t>HIGH (HIST_Comment)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71C1C"/>
                          </a:solidFill>
                        </a:rPr>
                        <a:t>CRITICAL (LOG_Message — uncontrolled, engine-written)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FFE8E8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714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WFLogs is the HIGHEST UNCONTROLLED PII exposure in the system. LOG_Message is written by the platform engine — you cannot sanitise it at source. It must be treated as CRITICAL, protected by DDM as minimum, with a formal retention and purge policy in the ROPA.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WFLogs: LOG_Message Real-World PII Examples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writes — and why you cannot control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LOG_Type = 2 (Email action)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75320" y="116128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75320" y="1161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8321040" cy="502920"/>
          </a:xfrm>
          <a:prstGeom prst="rect">
            <a:avLst/>
          </a:prstGeom>
          <a:solidFill>
            <a:srgbClr val="FFF0E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39903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[Notify Requester] executed.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To: anna.schmidt@AAAens.de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Subject: Your HR request TKT/2026/0088 has been approved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039112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39112"/>
            <a:ext cx="64008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848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LOG_Type = 4 (Data row execution)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2103120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03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313432"/>
            <a:ext cx="8321040" cy="502920"/>
          </a:xfrm>
          <a:prstGeom prst="rect">
            <a:avLst/>
          </a:prstGeom>
          <a:solidFill>
            <a:srgbClr val="FFF0E0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408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[Employee Lookup] returned 1 row.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 @EmployeeID=EMP-DE-0042, @Name=Anna Schmidt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980944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980944"/>
            <a:ext cx="64008" cy="8412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266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LOG_Type = 6 (Exception — CRITICAL)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275320" y="3044952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30449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3255264"/>
            <a:ext cx="8321040" cy="502920"/>
          </a:xfrm>
          <a:prstGeom prst="rect">
            <a:avLst/>
          </a:prstGeom>
          <a:solidFill>
            <a:srgbClr val="FFE8E8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2826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 field validation failed for WFD_AttPeople1.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attempted: anna.schmidt@AAAens.de  Step: 312.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922776"/>
            <a:ext cx="85953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922776"/>
            <a:ext cx="64008" cy="8412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6849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LOG_Type = 2 (SDK Plugin)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275320" y="3986784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986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02920" y="4197096"/>
            <a:ext cx="8321040" cy="502920"/>
          </a:xfrm>
          <a:prstGeom prst="rect">
            <a:avLst/>
          </a:prstGeom>
          <a:solidFill>
            <a:srgbClr val="FFE8E8"/>
          </a:solidFill>
          <a:ln w="6350">
            <a:solidFill>
              <a:srgbClr val="B7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224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[SAPIntegration] invoked.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{"employee":"anna.schmidt@AAAens.de","salary":85000}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entries are written by the administrator or under administrative control. Only DDM, access revocation, and retention-based purge are available as controls.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System Tables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WFUsers · WFEmailHistory · WFSchedulerLog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Supporting Tables: PII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overlooked PII stores that require independent remediation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29260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AD-synced user directory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for task assign,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picker, permissions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237744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92024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USR_Login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65960" y="193852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2920" y="2212848"/>
            <a:ext cx="237744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23113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USR_Email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965960" y="2249424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2249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237744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2542032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USR_DisplayName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65960" y="2560320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237744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2852928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USR_Phone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965960" y="2871216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2871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02920" y="3145536"/>
            <a:ext cx="2377440" cy="27432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" y="316382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USR_ADGroup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65960" y="3182112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65960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3456432"/>
            <a:ext cx="237744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34747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USR_ManagerLogin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65960" y="349300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0" y="1097280"/>
            <a:ext cx="28346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1097280"/>
            <a:ext cx="64008" cy="292608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WFEmailHistory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29000" y="14813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email archive.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body may contain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form notification PII.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29000" y="1901952"/>
            <a:ext cx="246888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02152" y="19202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EMAIL_To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937760" y="1938528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429000" y="2212848"/>
            <a:ext cx="2468880" cy="27432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02152" y="223113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EMAIL_From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937760" y="2249424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2249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29000" y="2523744"/>
            <a:ext cx="2468880" cy="274320"/>
          </a:xfrm>
          <a:prstGeom prst="rect">
            <a:avLst/>
          </a:prstGeom>
          <a:solidFill>
            <a:srgbClr val="FFF0E0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02152" y="2542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EMAIL_Subject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560320"/>
            <a:ext cx="822960" cy="2011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HIGH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429000" y="2834640"/>
            <a:ext cx="2468880" cy="274320"/>
          </a:xfrm>
          <a:prstGeom prst="rect">
            <a:avLst/>
          </a:prstGeom>
          <a:solidFill>
            <a:srgbClr val="FFE8E8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02152" y="28529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EMAIL_Body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937760" y="2871216"/>
            <a:ext cx="822960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2871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CRITICAL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29000" y="3145536"/>
            <a:ext cx="24688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02152" y="316382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EMAIL_SentDate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937760" y="3182112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318211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429000" y="3456432"/>
            <a:ext cx="246888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02152" y="34747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EMAIL_Status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937760" y="3493008"/>
            <a:ext cx="822960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34930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NONE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217920" y="1097280"/>
            <a:ext cx="2651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17920" y="1097280"/>
            <a:ext cx="64008" cy="292608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465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WFSchedulerLog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46520" y="14813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action execution log.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contain parameters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to scheduled queries.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446520" y="1901952"/>
            <a:ext cx="2286000" cy="27432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19672" y="19202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SCH_LastRunUser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863840" y="1938528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863840" y="1938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446520" y="2212848"/>
            <a:ext cx="2286000" cy="274320"/>
          </a:xfrm>
          <a:prstGeom prst="rect">
            <a:avLst/>
          </a:prstGeom>
          <a:solidFill>
            <a:srgbClr val="FFFBE6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19672" y="223113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SCH_Message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863840" y="2249424"/>
            <a:ext cx="82296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63840" y="22494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MEDIUM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446520" y="2523744"/>
            <a:ext cx="22860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19672" y="2542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SCH_RunDate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863840" y="2560320"/>
            <a:ext cx="822960" cy="2011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0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LOW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446520" y="2834640"/>
            <a:ext cx="228600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19672" y="28529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SCH_Duration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863840" y="2871216"/>
            <a:ext cx="822960" cy="201168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863840" y="28712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NONE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solidFill>
            <a:srgbClr val="FFE8E8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4178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 — WFEmailHistory.EMAIL_Body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44074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a WEBCON email action fires, the rendered notification — including all field values embedded in the email template — is written to EMAIL_Body. If notification templates include employee names, salaries, or HR decisions, WFEmailHistory is a complete secondary copy of that PII with potentially weaker access controls than WFElements.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 Consolidated Risk Register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· All columns · All required controls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— Schrems II Consolidated Risk Register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quarterly; update on each new process deployment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401421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Highest Risk Columns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Required Controls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Runtime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WFD_Creator, WFD_ModifiedBy, WFD_AttPeople[N], WFD_AttLong[N]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on system + configured columns; EEA/Non-EEA AD group separation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WFHistoryElements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Runtime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HIST_User, HIST_Comment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on HIST_Comment (full mask); consider access revocation for Non-EEA DB roles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WFElementDetails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Runtime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DET_AttText[N], DET_AttLong[N]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65100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Separate DDM policy required; not inherited from WFElements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WFElementTasks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Runtime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TSK_AssignedTo, TSK_DelegatedTo, TSK_Comment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65100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mask; commonly missed in remediation scope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WFAttachmentFiles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Runtime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ATT_FileName, ATT_AddedByUser, ATT_Description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65100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metadata + separate UNC / Blob ACL controls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WFLogs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LOG_User, LOG_Message, LOG_IPEX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full mask on LOG_Message + LOG_IPEX; retention policy mandatory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WFUsers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USR_Login, USR_Email, USR_DisplayName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E65100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mask; restrict Non-EEA SELECT on this table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WFEmailQueue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EMAIL_To, EMAIL_Body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or revoke SELECT; body mirrors WFElements PII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WFEmailHistory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EMAIL_To, EMAIL_Body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71C1C"/>
                          </a:solidFill>
                        </a:rPr>
                        <a:t>CRITICAL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DDM or revoke SELECT; historical record of all notification content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WFSchedulerLog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SCH_LastRunUser, SCH_Message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8860B"/>
                          </a:solidFill>
                        </a:rPr>
                        <a:t>MEDIUM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Assess per scheduler; mask if parameters include PII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WFUserGroups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System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membership mappings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B8860B"/>
                          </a:solidFill>
                        </a:rPr>
                        <a:t>MEDIUM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Reveals org structure; restrict Non-EEA access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WFApplications / WFDefinitions / WFSteps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Config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None — structural metadata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D7A6E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No action required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— DDM Implementation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remediation tasks — each requires owner, target date, and evidence of completion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403250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Column(s)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DDM Function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Grant UNMASK To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WFD_Creator, WFD_ModifiedBy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partial(1,'***',0)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WFD_AttPeople1–15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partial(1,'***',0)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WFD_AttLong1–25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WFD_BossLogin, WFD_SubstLogin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partial(1,'***',0)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WFHistoryElements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HIST_User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partial(1,'***',0)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WFHistoryElements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HIST_Comment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WFElementDetails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DET_AttText[N], DET_AttLong[N]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WFElementTasks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TSK_AssignedTo, TSK_DelegatedTo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WFElementTasks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TSK_Comment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WFAttachmentFiles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ATT_FileName, ATT_AddedByUser, ATT_Description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11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WFLogs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LOG_User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partial(1,'***',0)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12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WFLogs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LOG_Message, LOG_IPEX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13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WFUsers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USR_Login, USR_Email, USR_DisplayName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56A0"/>
                          </a:solidFill>
                        </a:rPr>
                        <a:t>14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WFEmailHistory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EMAIL_To, EMAIL_Body, EMAIL_Subject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D7A6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default()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455A64"/>
                          </a:solidFill>
                        </a:rPr>
                        <a:t>EEA_DBA_Role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C45200"/>
                          </a:solidFill>
                        </a:rPr>
                        <a:t>⬜ Pending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17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Schrems II Remediation Strategy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views with data masking — non-disruptive to existing Non-EEA operations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Four-Layer Security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independent. Together they form defence-in-depth.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33272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independent. Removing any one opens a route to EEA personal data.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178308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Process-Scoped Views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One SQL view per application. Non-EEA roles query views — never the raw table.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closed: Eliminates cross-process column leakage. IT cannot see HR columns.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vw_HR_Suite, vw_IT_Helpdesk, vw_Operational_All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1783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— Row-Level Security (RLS)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1907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A security predicate on WFElements that evaluates every single row, every query.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closed: HR and Payroll rows return 0 results for non-EEA logins. Not masked — absent.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fn_WFElements_AccessPolicy() — blocks sensitive ProcessIDs for Non-EEA logins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4114800" cy="17190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— Dynamic Data Masking (DDM)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8444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SQL Server masks sensitive column values at read time based on the querying user's role.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closed: Salary shows as 0.00, medical notes as xxxx, emails partially masked.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a.schmidt → a*** | 85,000 EUR → 0.00 | Hypertension → xxxx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4114800" cy="1719072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— Service Account Separation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84448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 Two separate SQL service accounts — one for EEA operations, one for non-EEA tools.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closed: Bangalore BI / reporting tools connect via Non-EEA account — DDM always enforced.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webcon_svc_eea (IIS App Pool) vs webcon_svc_nonea (SSRS / Power BI)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Remediation: Targeted Views with Data Masking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tables need full protection — only rows and columns with sensitive 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remediation principle: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8595360" cy="530352"/>
          </a:xfrm>
          <a:prstGeom prst="rect">
            <a:avLst/>
          </a:prstGeom>
          <a:solidFill>
            <a:srgbClr val="E8F5E9"/>
          </a:solidFill>
          <a:ln w="19050">
            <a:solidFill>
              <a:srgbClr val="0D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898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process-scoped SQL Views over sensitive tables. Apply DDM only to columns that contain personal/sensitive data within those views. Non-EEA teams continue using the same views — DDM enforces masking transparently at read time. EEA-authorised DB roles receive UNMASK permission to see real data. No changes to application code, workflow processes, or end-user experience.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93392"/>
            <a:ext cx="64008" cy="237744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 Applications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(IIS App Pool)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via: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webcon_svc_eea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219456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UNMASK granted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 data visible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RLS: all EEA rows visible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process-scoped views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08960" y="1993392"/>
            <a:ext cx="2926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993392"/>
            <a:ext cx="64008" cy="23774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08483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Database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(Shared Tables)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4871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WFElements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WFHistoryElements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WFLogs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WFUsers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WFEmailHistory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3108960"/>
            <a:ext cx="256032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182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applied at column level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predicate on WFElements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Process-scoped views overlay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untouched physically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309360" y="1993392"/>
            <a:ext cx="25603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993392"/>
            <a:ext cx="64008" cy="23774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08483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Tools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(Bangalore BI / SSRS)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via: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webcon_svc_nonea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37960" y="2834640"/>
            <a:ext cx="2194560" cy="54864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90779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Views only — no raw tables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DDM masks PII columns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RLS: EEA rows absent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Operations unaffected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816352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A4AE"/>
                </a:solidFill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16752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0A4AE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74320" y="44805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Existing operational workflows, forms, and process logic are completely unaffected. Masking operates at the SQL read layer — invisible to the application.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DB-Level Remediation: How It Works Without Impacting 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Process-scoped views + DDM applied as transparent SQL layer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4572000" cy="11430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1170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WFElements (Raw Table — unchanged)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1: WFD_DEFID=10, WFD_Creator='a.schmidt', WFD_AttLong1='Salary: 85000', WFD_AttPeople1='42#Anna Schmidt'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468880" y="161848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2: WFD_DEFID=30, WFD_Creator='kiran.das', WFD_AttText1='VPN not connecting from home', WFD_AttPeople1='NULL'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468880" y="18196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3: WFD_DEFID=10, WFD_Creator='m.klein@AAAens.de', WFD_AttLong1='Medical: Hypertension'...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Process-Scoped Views + DDM + RLS applied as SQL layer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33472"/>
            <a:ext cx="64008" cy="2103120"/>
          </a:xfrm>
          <a:prstGeom prst="rect">
            <a:avLst/>
          </a:prstGeom>
          <a:solidFill>
            <a:srgbClr val="0D7A6E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724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vw_HR_Suite  [EEA user]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WFD_DEFID=10 + UNMASK granted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365760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WFD_Creator = 'a.schmidt'  (real value)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365760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38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WFD_AttLong1 = 'Salary: 85000'  (real value)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" y="3639312"/>
            <a:ext cx="365760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0D7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57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0D7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WFD_AttPeople1 = '42#Anna Schmidt'  (real value)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0292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EEA team sees full unmasked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2633472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633472"/>
            <a:ext cx="64008" cy="210312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724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5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vw_HR_Suite  [Non-EEA user]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4920" y="2980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view, DDM active + RLS blocks EEA rows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74920" y="3200400"/>
            <a:ext cx="3657600" cy="201168"/>
          </a:xfrm>
          <a:prstGeom prst="rect">
            <a:avLst/>
          </a:prstGeom>
          <a:solidFill>
            <a:srgbClr val="FFE0E0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2186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WFD_Creator = 'a***'  (DDM partial mask)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074920" y="3419856"/>
            <a:ext cx="3657600" cy="201168"/>
          </a:xfrm>
          <a:prstGeom prst="rect">
            <a:avLst/>
          </a:prstGeom>
          <a:solidFill>
            <a:srgbClr val="FFE0E0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343814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WFD_AttLong1 = 'xxxx'  (DDM default mask)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074920" y="3639312"/>
            <a:ext cx="3657600" cy="201168"/>
          </a:xfrm>
          <a:prstGeom prst="rect">
            <a:avLst/>
          </a:prstGeom>
          <a:solidFill>
            <a:srgbClr val="FFE0E0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6576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WFD_AttPeople1 = 'x***'  (DDM partial mask)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074920" y="3858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Non-EEA team sees masked data — operations continue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— Log Retention Policy &amp; Governance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WFLogs retention schedule — must be documented in ROPA for GDPR Article 30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8595360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Log Type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LOG_Type Values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Recommended Retention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Operational / Transition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1, 3, 5, 7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55A64"/>
                          </a:solidFill>
                        </a:rPr>
                        <a:t>90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Sufficient for operational monitoring; minimises PII exposure window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Action execution / API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2, 8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55A64"/>
                          </a:solidFill>
                        </a:rPr>
                        <a:t>90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High PII risk; purge at minimum retention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SQL Query execution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55A64"/>
                          </a:solidFill>
                        </a:rPr>
                        <a:t>30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May contain parameter values (names, IDs); purge aggressively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Error / Exception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55A64"/>
                          </a:solidFill>
                        </a:rPr>
                        <a:t>180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Required for incident investigation; highest PII risk — DDM mandatory throughout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Cyclic / Scheduler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455A64"/>
                          </a:solidFill>
                        </a:rPr>
                        <a:t>90 days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55A64"/>
                          </a:solidFill>
                        </a:rPr>
                        <a:t>Low PII risk but apply standard retention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8221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Principles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74320" y="413308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4320" y="4133088"/>
            <a:ext cx="64008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97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ROPA Documentation: 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417320" y="4197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policy must be formally documented in the Record of Processing Activities for GDPR Article 30 compliance.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4320" y="460857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4608576"/>
            <a:ext cx="64008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672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Throughout Window: 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417320" y="4672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error logs (LOG_Type=6) at 180-day retention, DDM on LOG_Message and LOG_IPEX is mandatory for the entire retention window.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413308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4133088"/>
            <a:ext cx="64008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41970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Review: 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806440" y="419709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Schrems II risk register should be reviewed quarterly and updated on each new process deployment or modification.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63440" y="460857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FD8D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4608576"/>
            <a:ext cx="64008" cy="420624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92040" y="467258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EEA_DBA_Role: 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5806440" y="46725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 permissions must be granted ONLY to the EEA_DBA_Role. Non-EEA service accounts must never hold UNMASK on any sensitive column.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AAA-GGG-PDE-WEBCON-TA-001 v2.0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3B8AC4"/>
          </a:solidFill>
          <a:ln w="12700">
            <a:solidFill>
              <a:srgbClr val="3B8A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896112"/>
            <a:ext cx="8229600" cy="27432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4241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Instance, Forever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5568" y="126187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on WFElements protects current state only. WFHistoryElements requires its own independent DDM policy for historical snapshots.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40080" y="1673352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733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5568" y="17099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Matrix Is UI-Only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" y="19293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on SQL Server is your actual Schrems II control. Hiding a field from the form has zero effect on database-level access.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2340864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4086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568" y="237744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WFLogs Is the Highest Uncontrolled Risk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" y="25968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LOG_Message cannot be sanitised at source. It must be treated as CRITICAL, protected by DDM, with a formal retention/purge policy in the ROPA.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3008376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00837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5568" y="3044952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WFElementDetails Requires Independent DDM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326440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list sub-rows in WFElementDetails are NOT covered by WFElements DDM. Both must be assessed and masked separately.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675888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7588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5568" y="3712464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WFEmailHistory Mirrors WFElements PII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" y="39319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EMAIL_Body is a complete secondary copy of notification PII. Access must be restricted to EEA-authorised roles with DDM applied.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343400"/>
            <a:ext cx="365760" cy="530352"/>
          </a:xfrm>
          <a:prstGeom prst="rect">
            <a:avLst/>
          </a:prstGeom>
          <a:solidFill>
            <a:srgbClr val="2171C7"/>
          </a:solidFill>
          <a:ln w="12700">
            <a:solidFill>
              <a:srgbClr val="2171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4340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5568" y="4379976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Non-EEA Operations Are Fully Protected Without Disruption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" y="459943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Process-scoped views + DDM + RLS + service account separation provide defence-in-depth with zero impact on existing workflows.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AAAENS · GGG Platform &amp; Database Engineering · AAA-GGG-PDE-WEBCON-TA-001 v2.0 · CONFIDENTIAL ·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4190</Words>
  <Application>Microsoft Office PowerPoint</Application>
  <PresentationFormat>On-screen Show (16:9)</PresentationFormat>
  <Paragraphs>728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WEBCON BPS Technical Architecture &amp; Schrems II Compliance</dc:title>
  <dc:subject>PptxGenJS Presentation</dc:subject>
  <dc:creator>Platform &amp; Database Engineering, GSC Bangalore</dc:creator>
  <cp:lastModifiedBy>drmadhurareddy2@gmail.com</cp:lastModifiedBy>
  <cp:revision>2</cp:revision>
  <dcterms:created xsi:type="dcterms:W3CDTF">2026-04-06T08:07:59Z</dcterms:created>
  <dcterms:modified xsi:type="dcterms:W3CDTF">2026-04-06T08:19:07Z</dcterms:modified>
</cp:coreProperties>
</file>