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9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0"/>
            <a:ext cx="640080" cy="5143500"/>
          </a:xfrm>
          <a:prstGeom prst="rect">
            <a:avLst/>
          </a:prstGeom>
          <a:solidFill>
            <a:srgbClr val="003D8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0" y="822960"/>
            <a:ext cx="1463040" cy="14630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6032"/>
            <a:ext cx="2834640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749808"/>
            <a:ext cx="2834640" cy="2286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457200"/>
            <a:ext cx="1371600" cy="2743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11480" y="914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SCHREMS II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411480" y="15727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REMEDIATION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11480" y="2103120"/>
            <a:ext cx="4114800" cy="36576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21284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Masking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WebCon UI Group-Based Field Hiding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1148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(DB Masking)  •  R2 (WebCon RBAC)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1480" y="34930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11480" y="37856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|  2025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1298448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1298448"/>
            <a:ext cx="566928" cy="10058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15544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005840" y="1408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Scope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17739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two remediations, what they address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2487168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487168"/>
            <a:ext cx="566928" cy="10058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0040" y="27432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005840" y="25968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Masking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005840" y="296265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DDM: fields, rules, roles, verification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0040" y="3675888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0040" y="3675888"/>
            <a:ext cx="566928" cy="10058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39319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1005840" y="37856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Group Setup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05840" y="41513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EEA / Non-EEA groups in AD &amp; WebCon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1298448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754880" y="1298448"/>
            <a:ext cx="566928" cy="10058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0" y="15544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5440680" y="1408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&amp; Form Hiding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440680" y="17739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rules by group in WebCon Designer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754880" y="2487168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54880" y="2487168"/>
            <a:ext cx="566928" cy="10058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54880" y="27432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5440680" y="25968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Sign-off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440680" y="296265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8-case validation checklist &amp; DPO evidence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754880" y="3675888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754880" y="3675888"/>
            <a:ext cx="566928" cy="10058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39319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1" name="Text 37"/>
          <p:cNvSpPr/>
          <p:nvPr/>
        </p:nvSpPr>
        <p:spPr>
          <a:xfrm>
            <a:off x="5440680" y="37856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Next Steps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5440680" y="41513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and immediate actions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Scope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highest-risk components in the Schrems II data pipeline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2104" y="1261872"/>
            <a:ext cx="1719072" cy="822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32104" y="132588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2104" y="18105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EEA-hosted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551176" y="1673352"/>
            <a:ext cx="201168" cy="0"/>
          </a:xfrm>
          <a:prstGeom prst="line">
            <a:avLst/>
          </a:prstGeom>
          <a:noFill/>
          <a:ln w="25400">
            <a:solidFill>
              <a:srgbClr val="003D8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52344" y="1261872"/>
            <a:ext cx="171907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752344" y="132588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752344" y="18105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EXPOSED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471416" y="1673352"/>
            <a:ext cx="201168" cy="0"/>
          </a:xfrm>
          <a:prstGeom prst="line">
            <a:avLst/>
          </a:prstGeom>
          <a:noFill/>
          <a:ln w="25400">
            <a:solidFill>
              <a:srgbClr val="003D8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72584" y="1261872"/>
            <a:ext cx="171907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672584" y="132588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DB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672584" y="18105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EXPOSED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91656" y="1673352"/>
            <a:ext cx="201168" cy="0"/>
          </a:xfrm>
          <a:prstGeom prst="line">
            <a:avLst/>
          </a:prstGeom>
          <a:noFill/>
          <a:ln w="25400">
            <a:solidFill>
              <a:srgbClr val="003D8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592824" y="1261872"/>
            <a:ext cx="1719072" cy="8229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592824" y="132588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592824" y="18105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20040" y="2359152"/>
            <a:ext cx="4160520" cy="24505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20040" y="2359152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9768" y="24140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Dynamic DB Masking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38912" y="2834640"/>
            <a:ext cx="391363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Database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SQL Server column-level DDM so Non-EEA users receive masked values (XXXX) while EEA users retain full data access.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mitigated: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Unlawful cross-border transfer of EEA personal data via DB queries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2359152"/>
            <a:ext cx="4160520" cy="24505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754880" y="2359152"/>
            <a:ext cx="4160520" cy="384048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64608" y="24140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WebCon UI Group-Based Hiding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4873752" y="2834640"/>
            <a:ext cx="391363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UI &amp; Databases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EEA and Non-EEA groups, configure field-level and form-level visibility rules so Non-EEA staff see only process metadata.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mitigated: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surfaced to Non-EEA support staff via WebCon UI sessions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Masking (DDM) — How It Works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Staging Database | SQL Server native feature, zero application changes required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1261872"/>
            <a:ext cx="2194560" cy="10058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39903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13533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Database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 PII stored)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1353312"/>
            <a:ext cx="2331720" cy="82296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4475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13898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User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(UNMASK granted)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2651760" y="1764792"/>
            <a:ext cx="822960" cy="0"/>
          </a:xfrm>
          <a:prstGeom prst="line">
            <a:avLst/>
          </a:prstGeom>
          <a:noFill/>
          <a:ln w="25400">
            <a:solidFill>
              <a:srgbClr val="1E844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651760" y="1581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→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265176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Real values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6492240" y="1353312"/>
            <a:ext cx="2331720" cy="82296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144475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138988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User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UNMASK)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69280" y="1764792"/>
            <a:ext cx="8229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669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Masked values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320040" y="2432304"/>
            <a:ext cx="850392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38912" y="245059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does not alter stored data. The same SQL query returns full values to EEA accounts and masked values to Non-EEA accounts — no application code changes required.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0040" y="3136392"/>
            <a:ext cx="2011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" y="3136392"/>
            <a:ext cx="2011680" cy="301752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20040" y="3172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default()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11480" y="3483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XXXX / 0 / 1900-01-01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11480" y="3739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addresses, dates of birth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450592" y="3136392"/>
            <a:ext cx="2011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450592" y="3136392"/>
            <a:ext cx="2011680" cy="301752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450592" y="3172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email()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2542032" y="3483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aXXX@XXXX.com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2542032" y="3739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columns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581144" y="3136392"/>
            <a:ext cx="2011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581144" y="3136392"/>
            <a:ext cx="2011680" cy="301752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581144" y="3172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partial()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672584" y="3483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XXXXXXX1234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4672584" y="3739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 — show last 4 digits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711696" y="3136392"/>
            <a:ext cx="2011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711696" y="3136392"/>
            <a:ext cx="2011680" cy="301752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711696" y="3172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random()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6803136" y="3483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Random integer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6803136" y="3739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and numeric financial fields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Which Fields to Mask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classification: PII columns masked | Operational metadata visible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1261872"/>
            <a:ext cx="1554480" cy="3200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Category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828800" y="1261872"/>
            <a:ext cx="1645920" cy="3200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74520" y="1298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Columns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74720" y="1261872"/>
            <a:ext cx="1645920" cy="3200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20440" y="1298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Function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120640" y="1261872"/>
            <a:ext cx="1920240" cy="3200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6636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Output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040880" y="1261872"/>
            <a:ext cx="1737360" cy="320040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86600" y="1298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4320" y="1581912"/>
            <a:ext cx="155448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9184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828800" y="1581912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883664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first_name, last_name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474720" y="1581912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29584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default()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120640" y="1581912"/>
            <a:ext cx="192024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175504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040880" y="1581912"/>
            <a:ext cx="1737360" cy="301752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95744" y="1627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74320" y="1883664"/>
            <a:ext cx="1554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9184" y="1929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1828800" y="1883664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883664" y="19293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contact_email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474720" y="1883664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529584" y="19293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email()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5120640" y="1883664"/>
            <a:ext cx="1920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175504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aXXX@XXXX.com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040880" y="1883664"/>
            <a:ext cx="1737360" cy="301752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95744" y="19293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274320" y="2185416"/>
            <a:ext cx="155448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9184" y="22311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1828800" y="2185416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883664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dob, date_of_birth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474720" y="2185416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529584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default()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5120640" y="2185416"/>
            <a:ext cx="192024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175504" y="2231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1900-01-01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7040880" y="2185416"/>
            <a:ext cx="1737360" cy="301752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095744" y="22311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274320" y="2487168"/>
            <a:ext cx="1554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29184" y="2532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/ Tax Number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1828800" y="2487168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1883664" y="25328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ni_number, tax_id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3474720" y="2487168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529584" y="25328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partial(0,'XXXX',0)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5120640" y="2487168"/>
            <a:ext cx="1920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5175504" y="2532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XXXXXXXX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7040880" y="2487168"/>
            <a:ext cx="1737360" cy="301752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095744" y="2532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274320" y="2788920"/>
            <a:ext cx="155448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329184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Address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1828800" y="2788920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1883664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address_line1, postcode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3474720" y="2788920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529584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default()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5120640" y="2788920"/>
            <a:ext cx="192024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5175504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</a:t>
            </a:r>
            <a:endParaRPr lang="en-US" sz="1000" dirty="0"/>
          </a:p>
        </p:txBody>
      </p:sp>
      <p:sp>
        <p:nvSpPr>
          <p:cNvPr id="71" name="Shape 67"/>
          <p:cNvSpPr/>
          <p:nvPr/>
        </p:nvSpPr>
        <p:spPr>
          <a:xfrm>
            <a:off x="7040880" y="2788920"/>
            <a:ext cx="1737360" cy="301752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7095744" y="2834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73" name="Shape 69"/>
          <p:cNvSpPr/>
          <p:nvPr/>
        </p:nvSpPr>
        <p:spPr>
          <a:xfrm>
            <a:off x="274320" y="3090672"/>
            <a:ext cx="1554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329184" y="31363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000" dirty="0"/>
          </a:p>
        </p:txBody>
      </p:sp>
      <p:sp>
        <p:nvSpPr>
          <p:cNvPr id="75" name="Shape 71"/>
          <p:cNvSpPr/>
          <p:nvPr/>
        </p:nvSpPr>
        <p:spPr>
          <a:xfrm>
            <a:off x="1828800" y="3090672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883664" y="3136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mobile</a:t>
            </a:r>
            <a:endParaRPr lang="en-US" sz="1000" dirty="0"/>
          </a:p>
        </p:txBody>
      </p:sp>
      <p:sp>
        <p:nvSpPr>
          <p:cNvPr id="77" name="Shape 73"/>
          <p:cNvSpPr/>
          <p:nvPr/>
        </p:nvSpPr>
        <p:spPr>
          <a:xfrm>
            <a:off x="3474720" y="3090672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3529584" y="3136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partial(0,'XXXXX',4)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5120640" y="3090672"/>
            <a:ext cx="1920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5175504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XXXXX1234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7040880" y="3090672"/>
            <a:ext cx="1737360" cy="301752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7095744" y="3136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274320" y="3392424"/>
            <a:ext cx="155448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329184" y="3438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/ Finance</a:t>
            </a:r>
            <a:endParaRPr lang="en-US" sz="1000" dirty="0"/>
          </a:p>
        </p:txBody>
      </p:sp>
      <p:sp>
        <p:nvSpPr>
          <p:cNvPr id="85" name="Shape 81"/>
          <p:cNvSpPr/>
          <p:nvPr/>
        </p:nvSpPr>
        <p:spPr>
          <a:xfrm>
            <a:off x="1828800" y="3392424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1883664" y="34381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account_no</a:t>
            </a:r>
            <a:endParaRPr lang="en-US" sz="1000" dirty="0"/>
          </a:p>
        </p:txBody>
      </p:sp>
      <p:sp>
        <p:nvSpPr>
          <p:cNvPr id="87" name="Shape 83"/>
          <p:cNvSpPr/>
          <p:nvPr/>
        </p:nvSpPr>
        <p:spPr>
          <a:xfrm>
            <a:off x="3474720" y="3392424"/>
            <a:ext cx="164592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3529584" y="34381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random(1,9999)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5120640" y="3392424"/>
            <a:ext cx="1920240" cy="301752"/>
          </a:xfrm>
          <a:prstGeom prst="rect">
            <a:avLst/>
          </a:prstGeom>
          <a:solidFill>
            <a:srgbClr val="FDF2F2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5175504" y="3438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7823</a:t>
            </a:r>
            <a:endParaRPr lang="en-US" sz="1000" dirty="0"/>
          </a:p>
        </p:txBody>
      </p:sp>
      <p:sp>
        <p:nvSpPr>
          <p:cNvPr id="91" name="Shape 87"/>
          <p:cNvSpPr/>
          <p:nvPr/>
        </p:nvSpPr>
        <p:spPr>
          <a:xfrm>
            <a:off x="7040880" y="3392424"/>
            <a:ext cx="1737360" cy="301752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7095744" y="3438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93" name="Shape 89"/>
          <p:cNvSpPr/>
          <p:nvPr/>
        </p:nvSpPr>
        <p:spPr>
          <a:xfrm>
            <a:off x="274320" y="3694176"/>
            <a:ext cx="1554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329184" y="37398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Workflow ID</a:t>
            </a:r>
            <a:endParaRPr lang="en-US" sz="1000" dirty="0"/>
          </a:p>
        </p:txBody>
      </p:sp>
      <p:sp>
        <p:nvSpPr>
          <p:cNvPr id="95" name="Shape 91"/>
          <p:cNvSpPr/>
          <p:nvPr/>
        </p:nvSpPr>
        <p:spPr>
          <a:xfrm>
            <a:off x="1828800" y="3694176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883664" y="37398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process_id, workflow_ref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3474720" y="3694176"/>
            <a:ext cx="16459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3529584" y="37398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none —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5120640" y="3694176"/>
            <a:ext cx="1920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75504" y="3739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WF-00123456</a:t>
            </a:r>
            <a:endParaRPr lang="en-US" sz="1000" dirty="0"/>
          </a:p>
        </p:txBody>
      </p:sp>
      <p:sp>
        <p:nvSpPr>
          <p:cNvPr id="101" name="Shape 97"/>
          <p:cNvSpPr/>
          <p:nvPr/>
        </p:nvSpPr>
        <p:spPr>
          <a:xfrm>
            <a:off x="7040880" y="3694176"/>
            <a:ext cx="1737360" cy="301752"/>
          </a:xfrm>
          <a:prstGeom prst="rect">
            <a:avLst/>
          </a:prstGeom>
          <a:solidFill>
            <a:srgbClr val="D5F5E3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7095744" y="3739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000" dirty="0"/>
          </a:p>
        </p:txBody>
      </p:sp>
      <p:sp>
        <p:nvSpPr>
          <p:cNvPr id="103" name="Shape 99"/>
          <p:cNvSpPr/>
          <p:nvPr/>
        </p:nvSpPr>
        <p:spPr>
          <a:xfrm>
            <a:off x="274320" y="3995928"/>
            <a:ext cx="1554480" cy="301752"/>
          </a:xfrm>
          <a:prstGeom prst="rect">
            <a:avLst/>
          </a:prstGeom>
          <a:solidFill>
            <a:srgbClr val="F0FAF4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329184" y="4041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Timestamps</a:t>
            </a:r>
            <a:endParaRPr lang="en-US" sz="1000" dirty="0"/>
          </a:p>
        </p:txBody>
      </p:sp>
      <p:sp>
        <p:nvSpPr>
          <p:cNvPr id="105" name="Shape 101"/>
          <p:cNvSpPr/>
          <p:nvPr/>
        </p:nvSpPr>
        <p:spPr>
          <a:xfrm>
            <a:off x="1828800" y="3995928"/>
            <a:ext cx="1645920" cy="301752"/>
          </a:xfrm>
          <a:prstGeom prst="rect">
            <a:avLst/>
          </a:prstGeom>
          <a:solidFill>
            <a:srgbClr val="F0FAF4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1883664" y="40416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created_at</a:t>
            </a:r>
            <a:endParaRPr lang="en-US" sz="1000" dirty="0"/>
          </a:p>
        </p:txBody>
      </p:sp>
      <p:sp>
        <p:nvSpPr>
          <p:cNvPr id="107" name="Shape 103"/>
          <p:cNvSpPr/>
          <p:nvPr/>
        </p:nvSpPr>
        <p:spPr>
          <a:xfrm>
            <a:off x="3474720" y="3995928"/>
            <a:ext cx="1645920" cy="301752"/>
          </a:xfrm>
          <a:prstGeom prst="rect">
            <a:avLst/>
          </a:prstGeom>
          <a:solidFill>
            <a:srgbClr val="F0FAF4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3529584" y="40416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none —</a:t>
            </a:r>
            <a:endParaRPr lang="en-US" sz="900" dirty="0"/>
          </a:p>
        </p:txBody>
      </p:sp>
      <p:sp>
        <p:nvSpPr>
          <p:cNvPr id="109" name="Shape 105"/>
          <p:cNvSpPr/>
          <p:nvPr/>
        </p:nvSpPr>
        <p:spPr>
          <a:xfrm>
            <a:off x="5120640" y="3995928"/>
            <a:ext cx="1920240" cy="301752"/>
          </a:xfrm>
          <a:prstGeom prst="rect">
            <a:avLst/>
          </a:prstGeom>
          <a:solidFill>
            <a:srgbClr val="F0FAF4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517550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11" name="Shape 107"/>
          <p:cNvSpPr/>
          <p:nvPr/>
        </p:nvSpPr>
        <p:spPr>
          <a:xfrm>
            <a:off x="7040880" y="3995928"/>
            <a:ext cx="1737360" cy="301752"/>
          </a:xfrm>
          <a:prstGeom prst="rect">
            <a:avLst/>
          </a:prstGeom>
          <a:solidFill>
            <a:srgbClr val="D5F5E3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7095744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Implementation Steps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process to apply DDM on the staging database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1261872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33272" y="1399032"/>
            <a:ext cx="585216" cy="585216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33272" y="1417320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1148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Existing Columns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2523744"/>
            <a:ext cx="1463040" cy="18288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2596896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sys.masked_columns to identify any pre-existing masks. Confirm zero existing rules before proceeding.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450592" y="1261872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163824" y="1399032"/>
            <a:ext cx="585216" cy="585216"/>
          </a:xfrm>
          <a:prstGeom prst="ellipse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63824" y="1417320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2542032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ALTER TABLE Masking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724912" y="2523744"/>
            <a:ext cx="1463040" cy="18288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42032" y="2596896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PII column, run: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dbo.employees ALTER COLUMN first_name ADD MASKED WITH (FUNCTION = 'default()');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fields in classification list.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581144" y="1261872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294376" y="1399032"/>
            <a:ext cx="585216" cy="58521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94376" y="1417320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4672584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UNMASK to EEA Accounts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855464" y="2523744"/>
            <a:ext cx="1463040" cy="182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72584" y="2596896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GRANT UNMASK TO [DOMAIN\EEA-DataAccess];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this for any Non-EEA login or AD group. This is the critical control gate.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711696" y="1261872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7424928" y="1399032"/>
            <a:ext cx="585216" cy="5852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424928" y="1417320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6803136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Non-EEA Read-Only Role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986016" y="2523744"/>
            <a:ext cx="1463040" cy="18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03136" y="2596896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ROLE [NonEEA_Support_ReadOnly];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SELECT only (no INSERT/UPDATE/DELETE/UNMASK).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MEMBER [DOMAIN\NonEEA-Support];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3986784"/>
            <a:ext cx="850392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38912" y="402336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VERIFY: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queries with EXECUTE AS USER for both Non-EEA and EEA accounts. Confirm Non-EEA sees XXXX / 1900-01-01 / 0. Confirm EEA sees real data. Document screenshots for DPO evidence pack.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Creating EEA &amp; Non-EEA Groups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groups → mapped into WebCon Designer privilege groups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1261872"/>
            <a:ext cx="416052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1261872"/>
            <a:ext cx="4160520" cy="5303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3167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968" y="1316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Users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154680" y="1335024"/>
            <a:ext cx="118872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154680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57200" y="18745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Name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746504" y="1874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DL-WebCon-EEA-Users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23500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Type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746504" y="2350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(not Distribution)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57200" y="282549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746504" y="2825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EEA-based staff: analysts, DPO delegates, EEA admins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330098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Level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746504" y="33009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access — all PII fields visible, all reports, attachments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7200" y="37764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1746504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— Data Transfer Review Board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754880" y="1261872"/>
            <a:ext cx="416052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54880" y="1261872"/>
            <a:ext cx="416052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316736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21808" y="1316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Users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7589520" y="1335024"/>
            <a:ext cx="118872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589520" y="1335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892040" y="18745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Name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181344" y="1874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DL-WebCon-NonEEA-Users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4892040" y="23500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Type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181344" y="2350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(not Distribution)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892040" y="282549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6181344" y="2825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dev staff outside EEA — all non-EEA SQL and WebCon logins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4892040" y="330098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Level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181344" y="33009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PII fields hidden, attachments suppressed, process metadata only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4892040" y="37764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181344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— Data Transfer Review Board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320040" y="4608576"/>
            <a:ext cx="8503920" cy="438912"/>
          </a:xfrm>
          <a:prstGeom prst="rect">
            <a:avLst/>
          </a:prstGeom>
          <a:solidFill>
            <a:srgbClr val="D8E8F8"/>
          </a:solidFill>
          <a:ln w="12700">
            <a:solidFill>
              <a:srgbClr val="B0CFED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38912" y="464515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Designer path: </a:t>
            </a:r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 → Privileges → Groups → Add New Group → Set Type: Active Directory group → Browse &amp; select AD group → Save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Field-Level Visibility Rules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per-field conditional visibility in WebCon Designer — default-deny for Non-EEA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1261872"/>
            <a:ext cx="3840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1261872"/>
            <a:ext cx="384048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for Non-EEA Users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48056" y="178308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 / Last Name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8056" y="211226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" y="2066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48056" y="244144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224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48056" y="277063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9224" y="2724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/ Tax Number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48056" y="309981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9224" y="30540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Address / Postcode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48056" y="342900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9224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48056" y="375818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9224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/ Compensation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48056" y="408736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9224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(ID documents)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343400" y="1261872"/>
            <a:ext cx="3840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343400" y="1261872"/>
            <a:ext cx="384048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43484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for Non-EEA Users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471416" y="1783080"/>
            <a:ext cx="146304" cy="14630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672584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Workflow ID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471416" y="2112264"/>
            <a:ext cx="146304" cy="14630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72584" y="2066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Step Name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471416" y="2441448"/>
            <a:ext cx="146304" cy="14630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672584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/ Modified Dates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4471416" y="2770632"/>
            <a:ext cx="146304" cy="14630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72584" y="2724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Non-personal comments (review case by case)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4343400" y="2980944"/>
            <a:ext cx="3840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343400" y="2980944"/>
            <a:ext cx="3840480" cy="3657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43484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Configure in WebCon Designer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4462272" y="3483864"/>
            <a:ext cx="201168" cy="201168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462272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4727448" y="343814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Process → Form Fields → select sensitive field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4462272" y="3785616"/>
            <a:ext cx="201168" cy="201168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462272" y="3776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4727448" y="373989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tab → set to Conditional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4462272" y="4087368"/>
            <a:ext cx="201168" cy="201168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462272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4727448" y="40416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Privilege Group IS MEMBER OF → EEA Users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4462272" y="4389120"/>
            <a:ext cx="201168" cy="201168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462272" y="4379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4727448" y="43434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TRUE: Show field   |   If FALSE: Hide field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4462272" y="4690872"/>
            <a:ext cx="201168" cy="201168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462272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0" name="Text 56"/>
          <p:cNvSpPr/>
          <p:nvPr/>
        </p:nvSpPr>
        <p:spPr>
          <a:xfrm>
            <a:off x="4727448" y="464515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repeat for all PII fields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320040" y="4535424"/>
            <a:ext cx="384048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29768" y="459028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DEFAULT-DENY: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are HIDDEN unless the user is confirmed EEA group member. Accounts not in either group inherit the Non-EEA (restricted) treatment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Form Sections, Reports &amp; Process List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entire sections, tabs, panels and report variants for Non-EEA users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1261872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1261872"/>
            <a:ext cx="27432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1298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Sections / Tabs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84048" y="17190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Section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84048" y="19476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entire section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84048" y="2231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Tab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84048" y="245973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entire tab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84048" y="27432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Information Panel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84048" y="297180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entire panel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84048" y="325526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/ Documents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84048" y="34838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panel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84048" y="37673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Summary Tab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84048" y="399592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Visible (metadata only)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84048" y="42793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History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84048" y="45079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Visible (review step names)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246120" y="1261872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246120" y="1261872"/>
            <a:ext cx="2743200" cy="36576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37560" y="1298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3355848" y="17190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report with PII columns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355848" y="19476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group access only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355848" y="2231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report variant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3355848" y="245973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/ anonymised columns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355848" y="27432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export reports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355848" y="297180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for Non-EEA entirely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3355848" y="325526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volume dashboards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3355848" y="34838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Visible (no PII)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355848" y="37673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 reports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3355848" y="399592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Visible (no PII)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217920" y="1261872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217920" y="1261872"/>
            <a:ext cx="2743200" cy="3657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09360" y="1298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List View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6327648" y="17190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Name column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6327648" y="19476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for Non-EEA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327648" y="2231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Phone columns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6327648" y="245973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for Non-EEA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327648" y="27432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/ NI columns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6327648" y="297180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for Non-EEA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6327648" y="325526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6327648" y="34838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Show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6327648" y="37673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Step Name</a:t>
            </a:r>
            <a:endParaRPr lang="en-US" sz="950" dirty="0"/>
          </a:p>
        </p:txBody>
      </p:sp>
      <p:sp>
        <p:nvSpPr>
          <p:cNvPr id="53" name="Text 49"/>
          <p:cNvSpPr/>
          <p:nvPr/>
        </p:nvSpPr>
        <p:spPr>
          <a:xfrm>
            <a:off x="6327648" y="399592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Show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6327648" y="42793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 Date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6327648" y="45079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Show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274320" y="4910328"/>
            <a:ext cx="8595360" cy="457200"/>
          </a:xfrm>
          <a:prstGeom prst="rect">
            <a:avLst/>
          </a:prstGeom>
          <a:solidFill>
            <a:srgbClr val="D8E8F8"/>
          </a:solidFill>
          <a:ln w="12700">
            <a:solidFill>
              <a:srgbClr val="B0CFED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11480" y="49651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 </a:t>
            </a:r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WebCon Audit Trail (System Settings → Audit Trail). Log: form open, field view, attachment download, report export. Pipe events to SIEM. Retain logs ≥ 12 months. Alert on Non-EEA access events.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 Checklist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 cases required for DPO sign-off — document evidence for each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" y="1261872"/>
            <a:ext cx="457200" cy="310896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130759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85800" y="1261872"/>
            <a:ext cx="502920" cy="310896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1307592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1188720" y="1261872"/>
            <a:ext cx="3200400" cy="310896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34440" y="130759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389120" y="1261872"/>
            <a:ext cx="4617720" cy="310896"/>
          </a:xfrm>
          <a:prstGeom prst="rect">
            <a:avLst/>
          </a:prstGeom>
          <a:solidFill>
            <a:srgbClr val="003D8F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1307592"/>
            <a:ext cx="4544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/ Pass Criteria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28600" y="1572768"/>
            <a:ext cx="4572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4320" y="16184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85800" y="1572768"/>
            <a:ext cx="502920" cy="420624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" y="1618488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1188720" y="1572768"/>
            <a:ext cx="3200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234440" y="161848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SQL login queries employees table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389120" y="1572768"/>
            <a:ext cx="461772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34840" y="1618488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PII columns return XXXX / 1900-01-01 / 0 — zero real values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28600" y="1993392"/>
            <a:ext cx="4572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4320" y="2039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85800" y="1993392"/>
            <a:ext cx="502920" cy="420624"/>
          </a:xfrm>
          <a:prstGeom prst="rect">
            <a:avLst/>
          </a:prstGeom>
          <a:solidFill>
            <a:srgbClr val="FADBD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31520" y="2039112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1188720" y="1993392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234440" y="20391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SQL login queries same employees table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389120" y="1993392"/>
            <a:ext cx="4617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434840" y="2039112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real data returned — no masking applied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228600" y="2414016"/>
            <a:ext cx="4572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74320" y="2459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85800" y="2414016"/>
            <a:ext cx="502920" cy="420624"/>
          </a:xfrm>
          <a:prstGeom prst="rect">
            <a:avLst/>
          </a:prstGeom>
          <a:solidFill>
            <a:srgbClr val="D8E8F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1520" y="2459736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1188720" y="2414016"/>
            <a:ext cx="3200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234440" y="24597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user opens a case in WebCon UI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389120" y="2414016"/>
            <a:ext cx="461772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434840" y="2459736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DOB, NI, Address fields absent. Status and Process ID visible.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228600" y="2834640"/>
            <a:ext cx="4572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74320" y="2880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85800" y="2834640"/>
            <a:ext cx="502920" cy="420624"/>
          </a:xfrm>
          <a:prstGeom prst="rect">
            <a:avLst/>
          </a:prstGeom>
          <a:solidFill>
            <a:srgbClr val="D8E8F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31520" y="2880360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1188720" y="2834640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234440" y="288036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user opens the same case in WebCon UI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4389120" y="2834640"/>
            <a:ext cx="4617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434840" y="2880360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 fields visible and populated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228600" y="3255264"/>
            <a:ext cx="4572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74320" y="33009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685800" y="3255264"/>
            <a:ext cx="502920" cy="420624"/>
          </a:xfrm>
          <a:prstGeom prst="rect">
            <a:avLst/>
          </a:prstGeom>
          <a:solidFill>
            <a:srgbClr val="D8E8F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31520" y="3300984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1188720" y="3255264"/>
            <a:ext cx="3200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234440" y="33009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user navigates to a PII report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4389120" y="3255264"/>
            <a:ext cx="461772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434840" y="3300984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or redirected to anonymised variant — no PII in any column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228600" y="3675888"/>
            <a:ext cx="4572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274320" y="37216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685800" y="3675888"/>
            <a:ext cx="502920" cy="420624"/>
          </a:xfrm>
          <a:prstGeom prst="rect">
            <a:avLst/>
          </a:prstGeom>
          <a:solidFill>
            <a:srgbClr val="D8E8F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31520" y="3721608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65" name="Shape 61"/>
          <p:cNvSpPr/>
          <p:nvPr/>
        </p:nvSpPr>
        <p:spPr>
          <a:xfrm>
            <a:off x="1188720" y="3675888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1234440" y="372160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user attempts to access attachment panel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4389120" y="3675888"/>
            <a:ext cx="4617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4434840" y="3721608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hidden — no download option presented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228600" y="4096512"/>
            <a:ext cx="4572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274320" y="41422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TC7</a:t>
            </a:r>
            <a:endParaRPr lang="en-US" sz="950" dirty="0"/>
          </a:p>
        </p:txBody>
      </p:sp>
      <p:sp>
        <p:nvSpPr>
          <p:cNvPr id="71" name="Shape 67"/>
          <p:cNvSpPr/>
          <p:nvPr/>
        </p:nvSpPr>
        <p:spPr>
          <a:xfrm>
            <a:off x="685800" y="4096512"/>
            <a:ext cx="502920" cy="420624"/>
          </a:xfrm>
          <a:prstGeom prst="rect">
            <a:avLst/>
          </a:prstGeom>
          <a:solidFill>
            <a:srgbClr val="D8E8F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731520" y="4142232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73" name="Shape 69"/>
          <p:cNvSpPr/>
          <p:nvPr/>
        </p:nvSpPr>
        <p:spPr>
          <a:xfrm>
            <a:off x="1188720" y="4096512"/>
            <a:ext cx="3200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1234440" y="41422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 not in either AD group logs in</a:t>
            </a:r>
            <a:endParaRPr lang="en-US" sz="950" dirty="0"/>
          </a:p>
        </p:txBody>
      </p:sp>
      <p:sp>
        <p:nvSpPr>
          <p:cNvPr id="75" name="Shape 71"/>
          <p:cNvSpPr/>
          <p:nvPr/>
        </p:nvSpPr>
        <p:spPr>
          <a:xfrm>
            <a:off x="4389120" y="4096512"/>
            <a:ext cx="461772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4434840" y="4142232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applies — Non-EEA treatment, no PII exposed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228600" y="4517136"/>
            <a:ext cx="4572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274320" y="45628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TC8</a:t>
            </a:r>
            <a:endParaRPr lang="en-US" sz="950" dirty="0"/>
          </a:p>
        </p:txBody>
      </p:sp>
      <p:sp>
        <p:nvSpPr>
          <p:cNvPr id="79" name="Shape 75"/>
          <p:cNvSpPr/>
          <p:nvPr/>
        </p:nvSpPr>
        <p:spPr>
          <a:xfrm>
            <a:off x="685800" y="4517136"/>
            <a:ext cx="502920" cy="420624"/>
          </a:xfrm>
          <a:prstGeom prst="rect">
            <a:avLst/>
          </a:prstGeom>
          <a:solidFill>
            <a:srgbClr val="D8E8F8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731520" y="4562856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81" name="Shape 77"/>
          <p:cNvSpPr/>
          <p:nvPr/>
        </p:nvSpPr>
        <p:spPr>
          <a:xfrm>
            <a:off x="1188720" y="4517136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1234440" y="456285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login and form access events reviewed in SIEM</a:t>
            </a:r>
            <a:endParaRPr lang="en-US" sz="950" dirty="0"/>
          </a:p>
        </p:txBody>
      </p:sp>
      <p:sp>
        <p:nvSpPr>
          <p:cNvPr id="83" name="Shape 79"/>
          <p:cNvSpPr/>
          <p:nvPr/>
        </p:nvSpPr>
        <p:spPr>
          <a:xfrm>
            <a:off x="4389120" y="4517136"/>
            <a:ext cx="4617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4434840" y="4562856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events logged with user, timestamp, process ID — no gaps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"/>
            <a:ext cx="2240280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1440"/>
            <a:ext cx="18288" cy="868680"/>
          </a:xfrm>
          <a:prstGeom prst="rect">
            <a:avLst/>
          </a:prstGeom>
          <a:solidFill>
            <a:srgbClr val="5A8CC0"/>
          </a:solidFill>
          <a:ln w="12700">
            <a:solidFill>
              <a:srgbClr val="5A8C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64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" y="6126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each remediation action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Remediation  |  v1.0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1261872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1261872"/>
            <a:ext cx="109728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6616" y="153619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340864"/>
            <a:ext cx="822960" cy="219456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2340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490472" y="1399032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DDM to all PII columns in staging DB. Create NonEEA_Support_ReadOnly role. GRANT UNMASK to EEA AD group. Execute TC1 &amp; TC2 and screenshot evidence.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63440" y="1261872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1261872"/>
            <a:ext cx="1097280" cy="137160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00016" y="153619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Admin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00600" y="2340864"/>
            <a:ext cx="822960" cy="219456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00600" y="2340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833872" y="1399032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WebCon privilege groups. Map to AD groups. Configure field, section, tab, process list, and report visibility rules. Execute TC3–TC7.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" y="2724912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" y="2724912"/>
            <a:ext cx="1097280" cy="137160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6616" y="299923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/ AD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3803904"/>
            <a:ext cx="822960" cy="219456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7200" y="38039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+ R2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490472" y="2862072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populate DL-WebCon-EEA-Users and DL-WebCon-NonEEA-Users security groups in Active Directory. Establish quarterly membership review process.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663440" y="2724912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663440" y="2724912"/>
            <a:ext cx="1097280" cy="137160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00016" y="299923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800600" y="3803904"/>
            <a:ext cx="822960" cy="219456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00600" y="38039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+ R2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833872" y="2862072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sign-off. Validate masking spec against Phase 1 data map. Confirm target state architecture is correctly implemented end-to-end.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187952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320040" y="4187952"/>
            <a:ext cx="1097280" cy="13716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6616" y="446227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Data Protection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57200" y="5266944"/>
            <a:ext cx="822960" cy="219456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7200" y="52669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+ R2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490472" y="4325112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test case evidence. Provide compliance sign-off. Maintain GDPR Article 30 accountability record of controls implemented.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663440" y="4187952"/>
            <a:ext cx="4160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663440" y="4187952"/>
            <a:ext cx="1097280" cy="13716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00016" y="446227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SecOps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800600" y="5266944"/>
            <a:ext cx="822960" cy="219456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800600" y="52669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833872" y="4325112"/>
            <a:ext cx="2880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alerting for Non-EEA WebCon access events. Verify audit trail completeness. Include in monthly access review report.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9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D8F"/>
          </a:solidFill>
          <a:ln w="12700">
            <a:solidFill>
              <a:srgbClr val="00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Immediate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Schrems II Compliance Remediation  |  R1 &amp; R2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34747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88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DB Masking Complete When: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28016" cy="128016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PII columns masked in staging DB via ALTER TABLE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128016" cy="128016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1856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UNMASK granted to AD group DL-WebCon-EEA-Users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128016" cy="128016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203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NonEEA_Support_ReadOnly role created and populated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128016" cy="128016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5511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 &amp; TC2 pass — screenshots in evidence pack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6052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16052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088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WebCon RBAC Complete When: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572768"/>
            <a:ext cx="128016" cy="12801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Users &amp; Non-EEA Users groups active in WebCon Designer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1920240"/>
            <a:ext cx="128016" cy="12801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1856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PII fields set to conditional visibility (EEA group only)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267712"/>
            <a:ext cx="128016" cy="12801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203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Sections, tabs, reports, process list filtered for Non-EEA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615184"/>
            <a:ext cx="128016" cy="12801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25511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TC3–TC8 pass — screenshots and SIEM log samples collected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3383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47472" y="3794760"/>
            <a:ext cx="256032" cy="256032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" y="37490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Security: Create AD groups DL-WebCon-EEA-Users &amp; DL-WebCon-NonEEA-Users and populate membership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4114800"/>
            <a:ext cx="256032" cy="256032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6656" y="40690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DBA: Apply ALTER TABLE masking scripts to staging DB and run TC1/TC2 verification tests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4434840"/>
            <a:ext cx="256032" cy="256032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42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6656" y="4389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Admin: Map AD groups in Designer, apply field/form visibility rules, run TC3–TC8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4754880"/>
            <a:ext cx="256032" cy="256032"/>
          </a:xfrm>
          <a:prstGeom prst="ellipse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745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6656" y="47091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+ DPO: Review evidence pack and obtain compliance sign-off before broader remediation phases proceed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2970"/>
          </a:solidFill>
          <a:ln w="12700">
            <a:solidFill>
              <a:srgbClr val="0029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914900"/>
            <a:ext cx="9144000" cy="27432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4928616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Schrems II Compliance Remediation  |  Solution Architect  |  v1.0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32120" y="4928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Capgemini. All rights reserved.</a:t>
            </a:r>
            <a:endParaRPr lang="en-US" sz="7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926787"/>
            <a:ext cx="1051560" cy="169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Schrems II Remediation — Technical Implementation</dc:title>
  <dc:subject>PptxGenJS Presentation</dc:subject>
  <dc:creator>Solution Architect</dc:creator>
  <cp:lastModifiedBy>Solution Architect</cp:lastModifiedBy>
  <cp:revision>1</cp:revision>
  <dcterms:created xsi:type="dcterms:W3CDTF">2026-03-12T02:48:23Z</dcterms:created>
  <dcterms:modified xsi:type="dcterms:W3CDTF">2026-03-12T02:48:23Z</dcterms:modified>
</cp:coreProperties>
</file>