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1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756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508760"/>
          </a:xfrm>
          <a:prstGeom prst="rect">
            <a:avLst/>
          </a:prstGeom>
          <a:solidFill>
            <a:srgbClr val="009B9E"/>
          </a:solidFill>
          <a:ln/>
        </p:spPr>
      </p:sp>
      <p:sp>
        <p:nvSpPr>
          <p:cNvPr id="3" name="Text 1"/>
          <p:cNvSpPr/>
          <p:nvPr/>
        </p:nvSpPr>
        <p:spPr>
          <a:xfrm>
            <a:off x="411480" y="164592"/>
            <a:ext cx="8229600" cy="256032"/>
          </a:xfrm>
          <a:prstGeom prst="rect">
            <a:avLst/>
          </a:prstGeom>
          <a:noFill/>
          <a:ln/>
        </p:spPr>
        <p:txBody>
          <a:bodyPr wrap="square" rtlCol="0" anchor="ctr"/>
          <a:lstStyle/>
          <a:p>
            <a:pPr marL="0" indent="0">
              <a:buNone/>
            </a:pPr>
            <a:r>
              <a:rPr lang="en-US" sz="900" kern="0" spc="300" dirty="0">
                <a:solidFill>
                  <a:srgbClr val="FFFFFF"/>
                </a:solidFill>
                <a:latin typeface="Calibri" pitchFamily="34" charset="0"/>
                <a:ea typeface="Calibri" pitchFamily="34" charset="-122"/>
                <a:cs typeface="Calibri" pitchFamily="34" charset="-120"/>
              </a:rPr>
              <a:t>COMPANY NAME  ·  COMPANY NAME COMPANY NAME  ·  CONFIDENTIAL</a:t>
            </a:r>
            <a:endParaRPr lang="en-US" sz="900" dirty="0"/>
          </a:p>
        </p:txBody>
      </p:sp>
      <p:sp>
        <p:nvSpPr>
          <p:cNvPr id="4" name="Text 2"/>
          <p:cNvSpPr/>
          <p:nvPr/>
        </p:nvSpPr>
        <p:spPr>
          <a:xfrm>
            <a:off x="411480" y="438912"/>
            <a:ext cx="822960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WEBCON BPS  —  Schrems II Remediation</a:t>
            </a:r>
            <a:endParaRPr lang="en-US" sz="2800" dirty="0"/>
          </a:p>
        </p:txBody>
      </p:sp>
      <p:sp>
        <p:nvSpPr>
          <p:cNvPr id="5" name="Text 3"/>
          <p:cNvSpPr/>
          <p:nvPr/>
        </p:nvSpPr>
        <p:spPr>
          <a:xfrm>
            <a:off x="411480" y="1005840"/>
            <a:ext cx="8229600" cy="347472"/>
          </a:xfrm>
          <a:prstGeom prst="rect">
            <a:avLst/>
          </a:prstGeom>
          <a:noFill/>
          <a:ln/>
        </p:spPr>
        <p:txBody>
          <a:bodyPr wrap="square" rtlCol="0" anchor="ctr"/>
          <a:lstStyle/>
          <a:p>
            <a:pPr marL="0" indent="0">
              <a:buNone/>
            </a:pPr>
            <a:r>
              <a:rPr lang="en-US" sz="1400" dirty="0">
                <a:solidFill>
                  <a:srgbClr val="E0F5F5"/>
                </a:solidFill>
                <a:latin typeface="Calibri" pitchFamily="34" charset="0"/>
                <a:ea typeface="Calibri" pitchFamily="34" charset="-122"/>
                <a:cs typeface="Calibri" pitchFamily="34" charset="-120"/>
              </a:rPr>
              <a:t>Runtime Database Security Architecture</a:t>
            </a:r>
            <a:endParaRPr lang="en-US" sz="1400" dirty="0"/>
          </a:p>
        </p:txBody>
      </p:sp>
      <p:sp>
        <p:nvSpPr>
          <p:cNvPr id="6" name="Shape 4"/>
          <p:cNvSpPr/>
          <p:nvPr/>
        </p:nvSpPr>
        <p:spPr>
          <a:xfrm>
            <a:off x="0" y="1508760"/>
            <a:ext cx="109728" cy="3429000"/>
          </a:xfrm>
          <a:prstGeom prst="rect">
            <a:avLst/>
          </a:prstGeom>
          <a:solidFill>
            <a:srgbClr val="007A7D"/>
          </a:solidFill>
          <a:ln/>
        </p:spPr>
      </p:sp>
      <p:pic>
        <p:nvPicPr>
          <p:cNvPr id="7" name="Image 0" descr="preencoded.png"/>
          <p:cNvPicPr>
            <a:picLocks noChangeAspect="1"/>
          </p:cNvPicPr>
          <p:nvPr/>
        </p:nvPicPr>
        <p:blipFill>
          <a:blip r:embed="rId3">
            <a:alphaModFix amt="70000"/>
          </a:blip>
          <a:stretch>
            <a:fillRect/>
          </a:stretch>
        </p:blipFill>
        <p:spPr>
          <a:xfrm>
            <a:off x="7315200" y="1645920"/>
            <a:ext cx="1463040" cy="1463040"/>
          </a:xfrm>
          <a:prstGeom prst="rect">
            <a:avLst/>
          </a:prstGeom>
        </p:spPr>
      </p:pic>
      <p:sp>
        <p:nvSpPr>
          <p:cNvPr id="8" name="Text 5"/>
          <p:cNvSpPr/>
          <p:nvPr/>
        </p:nvSpPr>
        <p:spPr>
          <a:xfrm>
            <a:off x="320040" y="1691640"/>
            <a:ext cx="3657600" cy="274320"/>
          </a:xfrm>
          <a:prstGeom prst="rect">
            <a:avLst/>
          </a:prstGeom>
          <a:noFill/>
          <a:ln/>
        </p:spPr>
        <p:txBody>
          <a:bodyPr wrap="square" rtlCol="0" anchor="ctr"/>
          <a:lstStyle/>
          <a:p>
            <a:pPr marL="0" indent="0">
              <a:buNone/>
            </a:pPr>
            <a:r>
              <a:rPr lang="en-US" sz="1100" b="1" dirty="0">
                <a:solidFill>
                  <a:srgbClr val="009B9E"/>
                </a:solidFill>
                <a:latin typeface="Calibri" pitchFamily="34" charset="0"/>
                <a:ea typeface="Calibri" pitchFamily="34" charset="-122"/>
                <a:cs typeface="Calibri" pitchFamily="34" charset="-120"/>
              </a:rPr>
              <a:t>Five-Layer Protection</a:t>
            </a:r>
            <a:endParaRPr lang="en-US" sz="1100" dirty="0"/>
          </a:p>
        </p:txBody>
      </p:sp>
      <p:sp>
        <p:nvSpPr>
          <p:cNvPr id="9" name="Text 6"/>
          <p:cNvSpPr/>
          <p:nvPr/>
        </p:nvSpPr>
        <p:spPr>
          <a:xfrm>
            <a:off x="320040" y="1993392"/>
            <a:ext cx="6766560" cy="2560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L1 Designer Studio  ·  L2 Process Views  ·  L3 Row-Level Security  ·  L4 DDM  ·  L5 Service Accounts</a:t>
            </a:r>
            <a:endParaRPr lang="en-US" sz="1000" dirty="0"/>
          </a:p>
        </p:txBody>
      </p:sp>
      <p:sp>
        <p:nvSpPr>
          <p:cNvPr id="10" name="Shape 7"/>
          <p:cNvSpPr/>
          <p:nvPr/>
        </p:nvSpPr>
        <p:spPr>
          <a:xfrm>
            <a:off x="320040" y="2331720"/>
            <a:ext cx="6583680" cy="36576"/>
          </a:xfrm>
          <a:prstGeom prst="rect">
            <a:avLst/>
          </a:prstGeom>
          <a:solidFill>
            <a:srgbClr val="009B9E"/>
          </a:solidFill>
          <a:ln/>
        </p:spPr>
      </p:sp>
      <p:sp>
        <p:nvSpPr>
          <p:cNvPr id="11" name="Text 8"/>
          <p:cNvSpPr/>
          <p:nvPr/>
        </p:nvSpPr>
        <p:spPr>
          <a:xfrm>
            <a:off x="320040" y="2450592"/>
            <a:ext cx="3657600" cy="256032"/>
          </a:xfrm>
          <a:prstGeom prst="rect">
            <a:avLst/>
          </a:prstGeom>
          <a:noFill/>
          <a:ln/>
        </p:spPr>
        <p:txBody>
          <a:bodyPr wrap="square" rtlCol="0" anchor="ctr"/>
          <a:lstStyle/>
          <a:p>
            <a:pPr marL="0" indent="0">
              <a:buNone/>
            </a:pPr>
            <a:r>
              <a:rPr lang="en-US" sz="1100" b="1" dirty="0">
                <a:solidFill>
                  <a:srgbClr val="009B9E"/>
                </a:solidFill>
                <a:latin typeface="Calibri" pitchFamily="34" charset="0"/>
                <a:ea typeface="Calibri" pitchFamily="34" charset="-122"/>
                <a:cs typeface="Calibri" pitchFamily="34" charset="-120"/>
              </a:rPr>
              <a:t>Eight Runtime Tables Covered</a:t>
            </a:r>
            <a:endParaRPr lang="en-US" sz="1100" dirty="0"/>
          </a:p>
        </p:txBody>
      </p:sp>
      <p:sp>
        <p:nvSpPr>
          <p:cNvPr id="12" name="Text 9"/>
          <p:cNvSpPr/>
          <p:nvPr/>
        </p:nvSpPr>
        <p:spPr>
          <a:xfrm>
            <a:off x="320040" y="2724912"/>
            <a:ext cx="6766560" cy="2560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WFElements  ·  WFHistoryElements  ·  WFElementDetails  ·  WFElementComments  ·  WFFiles  ·  WFFilesContent  ·  WFUsers  ·  WFLogs</a:t>
            </a:r>
            <a:endParaRPr lang="en-US" sz="1000" dirty="0"/>
          </a:p>
        </p:txBody>
      </p:sp>
      <p:sp>
        <p:nvSpPr>
          <p:cNvPr id="13" name="Shape 10"/>
          <p:cNvSpPr/>
          <p:nvPr/>
        </p:nvSpPr>
        <p:spPr>
          <a:xfrm>
            <a:off x="320040" y="3063240"/>
            <a:ext cx="6583680" cy="36576"/>
          </a:xfrm>
          <a:prstGeom prst="rect">
            <a:avLst/>
          </a:prstGeom>
          <a:solidFill>
            <a:srgbClr val="009B9E"/>
          </a:solidFill>
          <a:ln/>
        </p:spPr>
      </p:sp>
      <p:sp>
        <p:nvSpPr>
          <p:cNvPr id="14" name="Text 11"/>
          <p:cNvSpPr/>
          <p:nvPr/>
        </p:nvSpPr>
        <p:spPr>
          <a:xfrm>
            <a:off x="320040" y="3182112"/>
            <a:ext cx="6766560" cy="2560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EEA / Non-EEA Role Separation  ·  COMPANY NAME COMPANY NAME Operational Access Preserved</a:t>
            </a:r>
            <a:endParaRPr lang="en-US" sz="1000" dirty="0"/>
          </a:p>
        </p:txBody>
      </p:sp>
      <p:sp>
        <p:nvSpPr>
          <p:cNvPr id="15" name="Shape 12"/>
          <p:cNvSpPr/>
          <p:nvPr/>
        </p:nvSpPr>
        <p:spPr>
          <a:xfrm>
            <a:off x="0" y="4828032"/>
            <a:ext cx="9144000" cy="315468"/>
          </a:xfrm>
          <a:prstGeom prst="rect">
            <a:avLst/>
          </a:prstGeom>
          <a:solidFill>
            <a:srgbClr val="009B9E"/>
          </a:solidFill>
          <a:ln/>
        </p:spPr>
      </p:sp>
      <p:sp>
        <p:nvSpPr>
          <p:cNvPr id="16" name="Text 13"/>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a:t>
            </a:r>
            <a:endParaRPr lang="en-US" sz="900" dirty="0"/>
          </a:p>
        </p:txBody>
      </p:sp>
      <p:sp>
        <p:nvSpPr>
          <p:cNvPr id="17" name="Shape 14"/>
          <p:cNvSpPr/>
          <p:nvPr/>
        </p:nvSpPr>
        <p:spPr>
          <a:xfrm>
            <a:off x="502920" y="4919472"/>
            <a:ext cx="18288" cy="128016"/>
          </a:xfrm>
          <a:prstGeom prst="rect">
            <a:avLst/>
          </a:prstGeom>
          <a:solidFill>
            <a:srgbClr val="FFFFFF"/>
          </a:solidFill>
          <a:ln/>
        </p:spPr>
      </p:sp>
      <p:sp>
        <p:nvSpPr>
          <p:cNvPr id="18" name="Text 15"/>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19" name="Text 16"/>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THE CORE PROBLEM</a:t>
            </a:r>
            <a:endParaRPr lang="en-US" sz="1100" dirty="0"/>
          </a:p>
        </p:txBody>
      </p:sp>
      <p:sp>
        <p:nvSpPr>
          <p:cNvPr id="4" name="Text 2"/>
          <p:cNvSpPr/>
          <p:nvPr/>
        </p:nvSpPr>
        <p:spPr>
          <a:xfrm>
            <a:off x="365760" y="822960"/>
            <a:ext cx="8412480" cy="50292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One Shared Table — All Applications</a:t>
            </a:r>
            <a:endParaRPr lang="en-US" sz="2600" dirty="0"/>
          </a:p>
        </p:txBody>
      </p:sp>
      <p:sp>
        <p:nvSpPr>
          <p:cNvPr id="5" name="Text 3"/>
          <p:cNvSpPr/>
          <p:nvPr/>
        </p:nvSpPr>
        <p:spPr>
          <a:xfrm>
            <a:off x="365760" y="1325880"/>
            <a:ext cx="8412480" cy="365760"/>
          </a:xfrm>
          <a:prstGeom prst="rect">
            <a:avLst/>
          </a:prstGeom>
          <a:noFill/>
          <a:ln/>
        </p:spPr>
        <p:txBody>
          <a:bodyPr wrap="square" rtlCol="0" anchor="ctr"/>
          <a:lstStyle/>
          <a:p>
            <a:pPr marL="0" indent="0">
              <a:buNone/>
            </a:pPr>
            <a:r>
              <a:rPr lang="en-US" sz="1300" dirty="0">
                <a:solidFill>
                  <a:srgbClr val="6B7C93"/>
                </a:solidFill>
                <a:latin typeface="Calibri" pitchFamily="34" charset="0"/>
                <a:ea typeface="Calibri" pitchFamily="34" charset="-122"/>
                <a:cs typeface="Calibri" pitchFamily="34" charset="-120"/>
              </a:rPr>
              <a:t>WEBCON BPS stores every workflow — HR, Finance, IT, Procurement — in a single table: WFElements.</a:t>
            </a:r>
            <a:endParaRPr lang="en-US" sz="1300" dirty="0"/>
          </a:p>
        </p:txBody>
      </p:sp>
      <p:sp>
        <p:nvSpPr>
          <p:cNvPr id="6" name="Shape 4"/>
          <p:cNvSpPr/>
          <p:nvPr/>
        </p:nvSpPr>
        <p:spPr>
          <a:xfrm>
            <a:off x="3474720" y="1828800"/>
            <a:ext cx="2194560" cy="640080"/>
          </a:xfrm>
          <a:prstGeom prst="rect">
            <a:avLst/>
          </a:prstGeom>
          <a:solidFill>
            <a:srgbClr val="F0F9FA"/>
          </a:solidFill>
          <a:ln w="10160">
            <a:solidFill>
              <a:srgbClr val="009B9E"/>
            </a:solidFill>
            <a:prstDash val="solid"/>
          </a:ln>
          <a:effectLst>
            <a:outerShdw blurRad="101600" dist="38100" dir="8100000" algn="bl" rotWithShape="0">
              <a:srgbClr val="000000">
                <a:alpha val="12000"/>
              </a:srgbClr>
            </a:outerShdw>
          </a:effectLst>
        </p:spPr>
      </p:sp>
      <p:sp>
        <p:nvSpPr>
          <p:cNvPr id="7" name="Text 5"/>
          <p:cNvSpPr/>
          <p:nvPr/>
        </p:nvSpPr>
        <p:spPr>
          <a:xfrm>
            <a:off x="3474720" y="1828800"/>
            <a:ext cx="219456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WFElements</a:t>
            </a:r>
            <a:endParaRPr lang="en-US" sz="1300" dirty="0"/>
          </a:p>
        </p:txBody>
      </p:sp>
      <p:sp>
        <p:nvSpPr>
          <p:cNvPr id="8" name="Shape 6"/>
          <p:cNvSpPr/>
          <p:nvPr/>
        </p:nvSpPr>
        <p:spPr>
          <a:xfrm>
            <a:off x="320040" y="1691640"/>
            <a:ext cx="2011680" cy="685800"/>
          </a:xfrm>
          <a:prstGeom prst="rect">
            <a:avLst/>
          </a:prstGeom>
          <a:solidFill>
            <a:srgbClr val="B71C1C"/>
          </a:solidFill>
          <a:ln/>
          <a:effectLst>
            <a:outerShdw blurRad="101600" dist="38100" dir="8100000" algn="bl" rotWithShape="0">
              <a:srgbClr val="000000">
                <a:alpha val="12000"/>
              </a:srgbClr>
            </a:outerShdw>
          </a:effectLst>
        </p:spPr>
      </p:sp>
      <p:sp>
        <p:nvSpPr>
          <p:cNvPr id="9" name="Text 7"/>
          <p:cNvSpPr/>
          <p:nvPr/>
        </p:nvSpPr>
        <p:spPr>
          <a:xfrm>
            <a:off x="320040" y="1691640"/>
            <a:ext cx="2011680" cy="6858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HR Suite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 HIGH</a:t>
            </a:r>
            <a:endParaRPr lang="en-US" sz="1050" dirty="0"/>
          </a:p>
        </p:txBody>
      </p:sp>
      <p:sp>
        <p:nvSpPr>
          <p:cNvPr id="10" name="Shape 8"/>
          <p:cNvSpPr/>
          <p:nvPr/>
        </p:nvSpPr>
        <p:spPr>
          <a:xfrm>
            <a:off x="2331720" y="2002536"/>
            <a:ext cx="1143000" cy="45720"/>
          </a:xfrm>
          <a:prstGeom prst="rect">
            <a:avLst/>
          </a:prstGeom>
          <a:solidFill>
            <a:srgbClr val="AAAAAA"/>
          </a:solidFill>
          <a:ln/>
        </p:spPr>
      </p:sp>
      <p:sp>
        <p:nvSpPr>
          <p:cNvPr id="11" name="Shape 9"/>
          <p:cNvSpPr/>
          <p:nvPr/>
        </p:nvSpPr>
        <p:spPr>
          <a:xfrm>
            <a:off x="320040" y="2743200"/>
            <a:ext cx="2011680" cy="685800"/>
          </a:xfrm>
          <a:prstGeom prst="rect">
            <a:avLst/>
          </a:prstGeom>
          <a:solidFill>
            <a:srgbClr val="B71C1C"/>
          </a:solidFill>
          <a:ln/>
          <a:effectLst>
            <a:outerShdw blurRad="101600" dist="38100" dir="8100000" algn="bl" rotWithShape="0">
              <a:srgbClr val="000000">
                <a:alpha val="12000"/>
              </a:srgbClr>
            </a:outerShdw>
          </a:effectLst>
        </p:spPr>
      </p:sp>
      <p:sp>
        <p:nvSpPr>
          <p:cNvPr id="12" name="Text 10"/>
          <p:cNvSpPr/>
          <p:nvPr/>
        </p:nvSpPr>
        <p:spPr>
          <a:xfrm>
            <a:off x="320040" y="2743200"/>
            <a:ext cx="2011680" cy="6858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Payroll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 HIGH</a:t>
            </a:r>
            <a:endParaRPr lang="en-US" sz="1050" dirty="0"/>
          </a:p>
        </p:txBody>
      </p:sp>
      <p:sp>
        <p:nvSpPr>
          <p:cNvPr id="13" name="Shape 11"/>
          <p:cNvSpPr/>
          <p:nvPr/>
        </p:nvSpPr>
        <p:spPr>
          <a:xfrm>
            <a:off x="2331720" y="3054096"/>
            <a:ext cx="1143000" cy="45720"/>
          </a:xfrm>
          <a:prstGeom prst="rect">
            <a:avLst/>
          </a:prstGeom>
          <a:solidFill>
            <a:srgbClr val="AAAAAA"/>
          </a:solidFill>
          <a:ln/>
        </p:spPr>
      </p:sp>
      <p:sp>
        <p:nvSpPr>
          <p:cNvPr id="14" name="Shape 12"/>
          <p:cNvSpPr/>
          <p:nvPr/>
        </p:nvSpPr>
        <p:spPr>
          <a:xfrm>
            <a:off x="6675120" y="1691640"/>
            <a:ext cx="2011680" cy="685800"/>
          </a:xfrm>
          <a:prstGeom prst="rect">
            <a:avLst/>
          </a:prstGeom>
          <a:solidFill>
            <a:srgbClr val="E65100"/>
          </a:solidFill>
          <a:ln/>
          <a:effectLst>
            <a:outerShdw blurRad="101600" dist="38100" dir="8100000" algn="bl" rotWithShape="0">
              <a:srgbClr val="000000">
                <a:alpha val="12000"/>
              </a:srgbClr>
            </a:outerShdw>
          </a:effectLst>
        </p:spPr>
      </p:sp>
      <p:sp>
        <p:nvSpPr>
          <p:cNvPr id="15" name="Text 13"/>
          <p:cNvSpPr/>
          <p:nvPr/>
        </p:nvSpPr>
        <p:spPr>
          <a:xfrm>
            <a:off x="6675120" y="1691640"/>
            <a:ext cx="2011680" cy="6858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IT Helpdesk</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 MED</a:t>
            </a:r>
            <a:endParaRPr lang="en-US" sz="1050" dirty="0"/>
          </a:p>
        </p:txBody>
      </p:sp>
      <p:sp>
        <p:nvSpPr>
          <p:cNvPr id="16" name="Shape 14"/>
          <p:cNvSpPr/>
          <p:nvPr/>
        </p:nvSpPr>
        <p:spPr>
          <a:xfrm>
            <a:off x="5486400" y="2002536"/>
            <a:ext cx="1188720" cy="45720"/>
          </a:xfrm>
          <a:prstGeom prst="rect">
            <a:avLst/>
          </a:prstGeom>
          <a:solidFill>
            <a:srgbClr val="AAAAAA"/>
          </a:solidFill>
          <a:ln/>
        </p:spPr>
      </p:sp>
      <p:sp>
        <p:nvSpPr>
          <p:cNvPr id="17" name="Shape 15"/>
          <p:cNvSpPr/>
          <p:nvPr/>
        </p:nvSpPr>
        <p:spPr>
          <a:xfrm>
            <a:off x="6675120" y="2743200"/>
            <a:ext cx="2011680" cy="685800"/>
          </a:xfrm>
          <a:prstGeom prst="rect">
            <a:avLst/>
          </a:prstGeom>
          <a:solidFill>
            <a:srgbClr val="1B7A4A"/>
          </a:solidFill>
          <a:ln/>
          <a:effectLst>
            <a:outerShdw blurRad="101600" dist="38100" dir="8100000" algn="bl" rotWithShape="0">
              <a:srgbClr val="000000">
                <a:alpha val="12000"/>
              </a:srgbClr>
            </a:outerShdw>
          </a:effectLst>
        </p:spPr>
      </p:sp>
      <p:sp>
        <p:nvSpPr>
          <p:cNvPr id="18" name="Text 16"/>
          <p:cNvSpPr/>
          <p:nvPr/>
        </p:nvSpPr>
        <p:spPr>
          <a:xfrm>
            <a:off x="6675120" y="2743200"/>
            <a:ext cx="2011680" cy="6858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Procurement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 LOW</a:t>
            </a:r>
            <a:endParaRPr lang="en-US" sz="1050" dirty="0"/>
          </a:p>
        </p:txBody>
      </p:sp>
      <p:sp>
        <p:nvSpPr>
          <p:cNvPr id="19" name="Shape 17"/>
          <p:cNvSpPr/>
          <p:nvPr/>
        </p:nvSpPr>
        <p:spPr>
          <a:xfrm>
            <a:off x="5486400" y="3054096"/>
            <a:ext cx="1188720" cy="45720"/>
          </a:xfrm>
          <a:prstGeom prst="rect">
            <a:avLst/>
          </a:prstGeom>
          <a:solidFill>
            <a:srgbClr val="AAAAAA"/>
          </a:solidFill>
          <a:ln/>
        </p:spPr>
      </p:sp>
      <p:sp>
        <p:nvSpPr>
          <p:cNvPr id="20" name="Shape 18"/>
          <p:cNvSpPr/>
          <p:nvPr/>
        </p:nvSpPr>
        <p:spPr>
          <a:xfrm>
            <a:off x="320040" y="3657600"/>
            <a:ext cx="8503920" cy="868680"/>
          </a:xfrm>
          <a:prstGeom prst="rect">
            <a:avLst/>
          </a:prstGeom>
          <a:solidFill>
            <a:srgbClr val="FFF3E0"/>
          </a:solidFill>
          <a:ln w="19050">
            <a:solidFill>
              <a:srgbClr val="E67E22"/>
            </a:solidFill>
            <a:prstDash val="solid"/>
          </a:ln>
          <a:effectLst>
            <a:outerShdw blurRad="101600" dist="38100" dir="8100000" algn="bl" rotWithShape="0">
              <a:srgbClr val="000000">
                <a:alpha val="12000"/>
              </a:srgbClr>
            </a:outerShdw>
          </a:effectLst>
        </p:spPr>
      </p:sp>
      <p:sp>
        <p:nvSpPr>
          <p:cNvPr id="21" name="Shape 19"/>
          <p:cNvSpPr/>
          <p:nvPr/>
        </p:nvSpPr>
        <p:spPr>
          <a:xfrm>
            <a:off x="320040" y="3657600"/>
            <a:ext cx="109728" cy="868680"/>
          </a:xfrm>
          <a:prstGeom prst="rect">
            <a:avLst/>
          </a:prstGeom>
          <a:solidFill>
            <a:srgbClr val="E67E22"/>
          </a:solidFill>
          <a:ln/>
        </p:spPr>
      </p:sp>
      <p:sp>
        <p:nvSpPr>
          <p:cNvPr id="22" name="Text 20"/>
          <p:cNvSpPr/>
          <p:nvPr/>
        </p:nvSpPr>
        <p:spPr>
          <a:xfrm>
            <a:off x="548640" y="3703320"/>
            <a:ext cx="2286000" cy="320040"/>
          </a:xfrm>
          <a:prstGeom prst="rect">
            <a:avLst/>
          </a:prstGeom>
          <a:noFill/>
          <a:ln/>
        </p:spPr>
        <p:txBody>
          <a:bodyPr wrap="square" rtlCol="0" anchor="ctr"/>
          <a:lstStyle/>
          <a:p>
            <a:pPr marL="0" indent="0">
              <a:buNone/>
            </a:pPr>
            <a:r>
              <a:rPr lang="en-US" sz="1100" b="1" dirty="0">
                <a:solidFill>
                  <a:srgbClr val="E67E22"/>
                </a:solidFill>
                <a:latin typeface="Calibri" pitchFamily="34" charset="0"/>
                <a:ea typeface="Calibri" pitchFamily="34" charset="-122"/>
                <a:cs typeface="Calibri" pitchFamily="34" charset="-120"/>
              </a:rPr>
              <a:t>⚠  The Challenge:</a:t>
            </a:r>
            <a:endParaRPr lang="en-US" sz="1100" dirty="0"/>
          </a:p>
        </p:txBody>
      </p:sp>
      <p:sp>
        <p:nvSpPr>
          <p:cNvPr id="23" name="Text 21"/>
          <p:cNvSpPr/>
          <p:nvPr/>
        </p:nvSpPr>
        <p:spPr>
          <a:xfrm>
            <a:off x="548640" y="4005072"/>
            <a:ext cx="822960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COMPANY NAME COMPANY NAME must operate all applications. But GDPR/Schrems II prohibits EEA personal data (salary, medical, name, email) from being accessible in India without adequate safeguards. WFElements column pools mean HR data and IT data share the same physical columns.</a:t>
            </a:r>
            <a:endParaRPr lang="en-US" sz="1050" dirty="0"/>
          </a:p>
        </p:txBody>
      </p:sp>
      <p:sp>
        <p:nvSpPr>
          <p:cNvPr id="24" name="Shape 22"/>
          <p:cNvSpPr/>
          <p:nvPr/>
        </p:nvSpPr>
        <p:spPr>
          <a:xfrm>
            <a:off x="0" y="4828032"/>
            <a:ext cx="9144000" cy="315468"/>
          </a:xfrm>
          <a:prstGeom prst="rect">
            <a:avLst/>
          </a:prstGeom>
          <a:solidFill>
            <a:srgbClr val="009B9E"/>
          </a:solidFill>
          <a:ln/>
        </p:spPr>
      </p:sp>
      <p:sp>
        <p:nvSpPr>
          <p:cNvPr id="25" name="Shape 23"/>
          <p:cNvSpPr/>
          <p:nvPr/>
        </p:nvSpPr>
        <p:spPr>
          <a:xfrm>
            <a:off x="502920" y="4919472"/>
            <a:ext cx="18288" cy="128016"/>
          </a:xfrm>
          <a:prstGeom prst="rect">
            <a:avLst/>
          </a:prstGeom>
          <a:solidFill>
            <a:srgbClr val="FFFFFF"/>
          </a:solidFill>
          <a:ln/>
        </p:spPr>
      </p:sp>
      <p:sp>
        <p:nvSpPr>
          <p:cNvPr id="26" name="Text 24"/>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27" name="Text 25"/>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REMEDIATION ARCHITECTURE</a:t>
            </a:r>
            <a:endParaRPr lang="en-US" sz="1100" dirty="0"/>
          </a:p>
        </p:txBody>
      </p:sp>
      <p:sp>
        <p:nvSpPr>
          <p:cNvPr id="4" name="Text 2"/>
          <p:cNvSpPr/>
          <p:nvPr/>
        </p:nvSpPr>
        <p:spPr>
          <a:xfrm>
            <a:off x="365760" y="822960"/>
            <a:ext cx="8412480" cy="457200"/>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Five Independent Security Layers</a:t>
            </a:r>
            <a:endParaRPr lang="en-US" sz="2400" dirty="0"/>
          </a:p>
        </p:txBody>
      </p:sp>
      <p:sp>
        <p:nvSpPr>
          <p:cNvPr id="5" name="Text 3"/>
          <p:cNvSpPr/>
          <p:nvPr/>
        </p:nvSpPr>
        <p:spPr>
          <a:xfrm>
            <a:off x="365760" y="1261872"/>
            <a:ext cx="8412480" cy="320040"/>
          </a:xfrm>
          <a:prstGeom prst="rect">
            <a:avLst/>
          </a:prstGeom>
          <a:noFill/>
          <a:ln/>
        </p:spPr>
        <p:txBody>
          <a:bodyPr wrap="square" rtlCol="0" anchor="ctr"/>
          <a:lstStyle/>
          <a:p>
            <a:pPr marL="0" indent="0">
              <a:buNone/>
            </a:pPr>
            <a:r>
              <a:rPr lang="en-US" sz="1200" i="1" dirty="0">
                <a:solidFill>
                  <a:srgbClr val="6B7C93"/>
                </a:solidFill>
                <a:latin typeface="Calibri" pitchFamily="34" charset="0"/>
                <a:ea typeface="Calibri" pitchFamily="34" charset="-122"/>
                <a:cs typeface="Calibri" pitchFamily="34" charset="-120"/>
              </a:rPr>
              <a:t>Each layer is independent. Removing any one opens a route to EEA personal data.</a:t>
            </a:r>
            <a:endParaRPr lang="en-US" sz="1200" dirty="0"/>
          </a:p>
        </p:txBody>
      </p:sp>
      <p:sp>
        <p:nvSpPr>
          <p:cNvPr id="6" name="Shape 4"/>
          <p:cNvSpPr/>
          <p:nvPr/>
        </p:nvSpPr>
        <p:spPr>
          <a:xfrm>
            <a:off x="320040" y="1691640"/>
            <a:ext cx="502920" cy="475488"/>
          </a:xfrm>
          <a:prstGeom prst="rect">
            <a:avLst/>
          </a:prstGeom>
          <a:solidFill>
            <a:srgbClr val="009B9E"/>
          </a:solidFill>
          <a:ln/>
        </p:spPr>
      </p:sp>
      <p:sp>
        <p:nvSpPr>
          <p:cNvPr id="7" name="Text 5"/>
          <p:cNvSpPr/>
          <p:nvPr/>
        </p:nvSpPr>
        <p:spPr>
          <a:xfrm>
            <a:off x="320040" y="1691640"/>
            <a:ext cx="50292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L1</a:t>
            </a:r>
            <a:endParaRPr lang="en-US" sz="1100" dirty="0"/>
          </a:p>
        </p:txBody>
      </p:sp>
      <p:sp>
        <p:nvSpPr>
          <p:cNvPr id="8" name="Shape 6"/>
          <p:cNvSpPr/>
          <p:nvPr/>
        </p:nvSpPr>
        <p:spPr>
          <a:xfrm>
            <a:off x="822960" y="1691640"/>
            <a:ext cx="8001000" cy="475488"/>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sp>
      <p:sp>
        <p:nvSpPr>
          <p:cNvPr id="9" name="Shape 7"/>
          <p:cNvSpPr/>
          <p:nvPr/>
        </p:nvSpPr>
        <p:spPr>
          <a:xfrm>
            <a:off x="822960" y="1691640"/>
            <a:ext cx="54864" cy="475488"/>
          </a:xfrm>
          <a:prstGeom prst="rect">
            <a:avLst/>
          </a:prstGeom>
          <a:solidFill>
            <a:srgbClr val="009B9E"/>
          </a:solidFill>
          <a:ln/>
        </p:spPr>
      </p:sp>
      <p:sp>
        <p:nvSpPr>
          <p:cNvPr id="10" name="Text 8"/>
          <p:cNvSpPr/>
          <p:nvPr/>
        </p:nvSpPr>
        <p:spPr>
          <a:xfrm>
            <a:off x="960120" y="1728216"/>
            <a:ext cx="22860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Designer Studio Scoping</a:t>
            </a:r>
            <a:endParaRPr lang="en-US" sz="1100" dirty="0"/>
          </a:p>
        </p:txBody>
      </p:sp>
      <p:sp>
        <p:nvSpPr>
          <p:cNvPr id="11" name="Text 9"/>
          <p:cNvSpPr/>
          <p:nvPr/>
        </p:nvSpPr>
        <p:spPr>
          <a:xfrm>
            <a:off x="960120" y="1929384"/>
            <a:ext cx="7772400" cy="201168"/>
          </a:xfrm>
          <a:prstGeom prst="rect">
            <a:avLst/>
          </a:prstGeom>
          <a:noFill/>
          <a:ln/>
        </p:spPr>
        <p:txBody>
          <a:bodyPr wrap="square" rtlCol="0" anchor="ctr"/>
          <a:lstStyle/>
          <a:p>
            <a:pPr marL="0" indent="0">
              <a:buNone/>
            </a:pPr>
            <a:r>
              <a:rPr lang="en-US" sz="950" dirty="0">
                <a:solidFill>
                  <a:srgbClr val="6B7C93"/>
                </a:solidFill>
                <a:latin typeface="Calibri" pitchFamily="34" charset="0"/>
                <a:ea typeface="Calibri" pitchFamily="34" charset="-122"/>
                <a:cs typeface="Calibri" pitchFamily="34" charset="-120"/>
              </a:rPr>
              <a:t>UI-level: Non-EEA staff cannot see HR/Payroll processes in WEBCON portal</a:t>
            </a:r>
            <a:endParaRPr lang="en-US" sz="950" dirty="0"/>
          </a:p>
        </p:txBody>
      </p:sp>
      <p:sp>
        <p:nvSpPr>
          <p:cNvPr id="12" name="Shape 10"/>
          <p:cNvSpPr/>
          <p:nvPr/>
        </p:nvSpPr>
        <p:spPr>
          <a:xfrm>
            <a:off x="320040" y="2304288"/>
            <a:ext cx="502920" cy="475488"/>
          </a:xfrm>
          <a:prstGeom prst="rect">
            <a:avLst/>
          </a:prstGeom>
          <a:solidFill>
            <a:srgbClr val="1976D2"/>
          </a:solidFill>
          <a:ln/>
        </p:spPr>
      </p:sp>
      <p:sp>
        <p:nvSpPr>
          <p:cNvPr id="13" name="Text 11"/>
          <p:cNvSpPr/>
          <p:nvPr/>
        </p:nvSpPr>
        <p:spPr>
          <a:xfrm>
            <a:off x="320040" y="2304288"/>
            <a:ext cx="50292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L2</a:t>
            </a:r>
            <a:endParaRPr lang="en-US" sz="1100" dirty="0"/>
          </a:p>
        </p:txBody>
      </p:sp>
      <p:sp>
        <p:nvSpPr>
          <p:cNvPr id="14" name="Shape 12"/>
          <p:cNvSpPr/>
          <p:nvPr/>
        </p:nvSpPr>
        <p:spPr>
          <a:xfrm>
            <a:off x="822960" y="2304288"/>
            <a:ext cx="8001000" cy="475488"/>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sp>
      <p:sp>
        <p:nvSpPr>
          <p:cNvPr id="15" name="Shape 13"/>
          <p:cNvSpPr/>
          <p:nvPr/>
        </p:nvSpPr>
        <p:spPr>
          <a:xfrm>
            <a:off x="822960" y="2304288"/>
            <a:ext cx="54864" cy="475488"/>
          </a:xfrm>
          <a:prstGeom prst="rect">
            <a:avLst/>
          </a:prstGeom>
          <a:solidFill>
            <a:srgbClr val="1976D2"/>
          </a:solidFill>
          <a:ln/>
        </p:spPr>
      </p:sp>
      <p:sp>
        <p:nvSpPr>
          <p:cNvPr id="16" name="Text 14"/>
          <p:cNvSpPr/>
          <p:nvPr/>
        </p:nvSpPr>
        <p:spPr>
          <a:xfrm>
            <a:off x="960120" y="2340864"/>
            <a:ext cx="22860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Process-Scoped Views</a:t>
            </a:r>
            <a:endParaRPr lang="en-US" sz="1100" dirty="0"/>
          </a:p>
        </p:txBody>
      </p:sp>
      <p:sp>
        <p:nvSpPr>
          <p:cNvPr id="17" name="Text 15"/>
          <p:cNvSpPr/>
          <p:nvPr/>
        </p:nvSpPr>
        <p:spPr>
          <a:xfrm>
            <a:off x="960120" y="2542032"/>
            <a:ext cx="7772400" cy="201168"/>
          </a:xfrm>
          <a:prstGeom prst="rect">
            <a:avLst/>
          </a:prstGeom>
          <a:noFill/>
          <a:ln/>
        </p:spPr>
        <p:txBody>
          <a:bodyPr wrap="square" rtlCol="0" anchor="ctr"/>
          <a:lstStyle/>
          <a:p>
            <a:pPr marL="0" indent="0">
              <a:buNone/>
            </a:pPr>
            <a:r>
              <a:rPr lang="en-US" sz="950" dirty="0">
                <a:solidFill>
                  <a:srgbClr val="6B7C93"/>
                </a:solidFill>
                <a:latin typeface="Calibri" pitchFamily="34" charset="0"/>
                <a:ea typeface="Calibri" pitchFamily="34" charset="-122"/>
                <a:cs typeface="Calibri" pitchFamily="34" charset="-120"/>
              </a:rPr>
              <a:t>SQL views per application family — Non-EEA roles query views, never raw WFElements</a:t>
            </a:r>
            <a:endParaRPr lang="en-US" sz="950" dirty="0"/>
          </a:p>
        </p:txBody>
      </p:sp>
      <p:sp>
        <p:nvSpPr>
          <p:cNvPr id="18" name="Shape 16"/>
          <p:cNvSpPr/>
          <p:nvPr/>
        </p:nvSpPr>
        <p:spPr>
          <a:xfrm>
            <a:off x="320040" y="2916936"/>
            <a:ext cx="502920" cy="475488"/>
          </a:xfrm>
          <a:prstGeom prst="rect">
            <a:avLst/>
          </a:prstGeom>
          <a:solidFill>
            <a:srgbClr val="4A235A"/>
          </a:solidFill>
          <a:ln/>
        </p:spPr>
      </p:sp>
      <p:sp>
        <p:nvSpPr>
          <p:cNvPr id="19" name="Text 17"/>
          <p:cNvSpPr/>
          <p:nvPr/>
        </p:nvSpPr>
        <p:spPr>
          <a:xfrm>
            <a:off x="320040" y="2916936"/>
            <a:ext cx="50292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L3</a:t>
            </a:r>
            <a:endParaRPr lang="en-US" sz="1100" dirty="0"/>
          </a:p>
        </p:txBody>
      </p:sp>
      <p:sp>
        <p:nvSpPr>
          <p:cNvPr id="20" name="Shape 18"/>
          <p:cNvSpPr/>
          <p:nvPr/>
        </p:nvSpPr>
        <p:spPr>
          <a:xfrm>
            <a:off x="822960" y="2916936"/>
            <a:ext cx="8001000" cy="475488"/>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sp>
      <p:sp>
        <p:nvSpPr>
          <p:cNvPr id="21" name="Shape 19"/>
          <p:cNvSpPr/>
          <p:nvPr/>
        </p:nvSpPr>
        <p:spPr>
          <a:xfrm>
            <a:off x="822960" y="2916936"/>
            <a:ext cx="54864" cy="475488"/>
          </a:xfrm>
          <a:prstGeom prst="rect">
            <a:avLst/>
          </a:prstGeom>
          <a:solidFill>
            <a:srgbClr val="4A235A"/>
          </a:solidFill>
          <a:ln/>
        </p:spPr>
      </p:sp>
      <p:sp>
        <p:nvSpPr>
          <p:cNvPr id="22" name="Text 20"/>
          <p:cNvSpPr/>
          <p:nvPr/>
        </p:nvSpPr>
        <p:spPr>
          <a:xfrm>
            <a:off x="960120" y="2953512"/>
            <a:ext cx="22860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Row-Level Security (RLS)</a:t>
            </a:r>
            <a:endParaRPr lang="en-US" sz="1100" dirty="0"/>
          </a:p>
        </p:txBody>
      </p:sp>
      <p:sp>
        <p:nvSpPr>
          <p:cNvPr id="23" name="Text 21"/>
          <p:cNvSpPr/>
          <p:nvPr/>
        </p:nvSpPr>
        <p:spPr>
          <a:xfrm>
            <a:off x="960120" y="3154680"/>
            <a:ext cx="7772400" cy="201168"/>
          </a:xfrm>
          <a:prstGeom prst="rect">
            <a:avLst/>
          </a:prstGeom>
          <a:noFill/>
          <a:ln/>
        </p:spPr>
        <p:txBody>
          <a:bodyPr wrap="square" rtlCol="0" anchor="ctr"/>
          <a:lstStyle/>
          <a:p>
            <a:pPr marL="0" indent="0">
              <a:buNone/>
            </a:pPr>
            <a:r>
              <a:rPr lang="en-US" sz="950" dirty="0">
                <a:solidFill>
                  <a:srgbClr val="6B7C93"/>
                </a:solidFill>
                <a:latin typeface="Calibri" pitchFamily="34" charset="0"/>
                <a:ea typeface="Calibri" pitchFamily="34" charset="-122"/>
                <a:cs typeface="Calibri" pitchFamily="34" charset="-120"/>
              </a:rPr>
              <a:t>Security predicate on WFElements — sensitive process rows are absent, not masked</a:t>
            </a:r>
            <a:endParaRPr lang="en-US" sz="950" dirty="0"/>
          </a:p>
        </p:txBody>
      </p:sp>
      <p:sp>
        <p:nvSpPr>
          <p:cNvPr id="24" name="Shape 22"/>
          <p:cNvSpPr/>
          <p:nvPr/>
        </p:nvSpPr>
        <p:spPr>
          <a:xfrm>
            <a:off x="320040" y="3529584"/>
            <a:ext cx="502920" cy="475488"/>
          </a:xfrm>
          <a:prstGeom prst="rect">
            <a:avLst/>
          </a:prstGeom>
          <a:solidFill>
            <a:srgbClr val="B71C1C"/>
          </a:solidFill>
          <a:ln/>
        </p:spPr>
      </p:sp>
      <p:sp>
        <p:nvSpPr>
          <p:cNvPr id="25" name="Text 23"/>
          <p:cNvSpPr/>
          <p:nvPr/>
        </p:nvSpPr>
        <p:spPr>
          <a:xfrm>
            <a:off x="320040" y="3529584"/>
            <a:ext cx="50292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L4</a:t>
            </a:r>
            <a:endParaRPr lang="en-US" sz="1100" dirty="0"/>
          </a:p>
        </p:txBody>
      </p:sp>
      <p:sp>
        <p:nvSpPr>
          <p:cNvPr id="26" name="Shape 24"/>
          <p:cNvSpPr/>
          <p:nvPr/>
        </p:nvSpPr>
        <p:spPr>
          <a:xfrm>
            <a:off x="822960" y="3529584"/>
            <a:ext cx="8001000" cy="475488"/>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sp>
      <p:sp>
        <p:nvSpPr>
          <p:cNvPr id="27" name="Shape 25"/>
          <p:cNvSpPr/>
          <p:nvPr/>
        </p:nvSpPr>
        <p:spPr>
          <a:xfrm>
            <a:off x="822960" y="3529584"/>
            <a:ext cx="54864" cy="475488"/>
          </a:xfrm>
          <a:prstGeom prst="rect">
            <a:avLst/>
          </a:prstGeom>
          <a:solidFill>
            <a:srgbClr val="B71C1C"/>
          </a:solidFill>
          <a:ln/>
        </p:spPr>
      </p:sp>
      <p:sp>
        <p:nvSpPr>
          <p:cNvPr id="28" name="Text 26"/>
          <p:cNvSpPr/>
          <p:nvPr/>
        </p:nvSpPr>
        <p:spPr>
          <a:xfrm>
            <a:off x="960120" y="3566160"/>
            <a:ext cx="22860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Dynamic Data Masking</a:t>
            </a:r>
            <a:endParaRPr lang="en-US" sz="1100" dirty="0"/>
          </a:p>
        </p:txBody>
      </p:sp>
      <p:sp>
        <p:nvSpPr>
          <p:cNvPr id="29" name="Text 27"/>
          <p:cNvSpPr/>
          <p:nvPr/>
        </p:nvSpPr>
        <p:spPr>
          <a:xfrm>
            <a:off x="960120" y="3767328"/>
            <a:ext cx="7772400" cy="201168"/>
          </a:xfrm>
          <a:prstGeom prst="rect">
            <a:avLst/>
          </a:prstGeom>
          <a:noFill/>
          <a:ln/>
        </p:spPr>
        <p:txBody>
          <a:bodyPr wrap="square" rtlCol="0" anchor="ctr"/>
          <a:lstStyle/>
          <a:p>
            <a:pPr marL="0" indent="0">
              <a:buNone/>
            </a:pPr>
            <a:r>
              <a:rPr lang="en-US" sz="950" dirty="0">
                <a:solidFill>
                  <a:srgbClr val="6B7C93"/>
                </a:solidFill>
                <a:latin typeface="Calibri" pitchFamily="34" charset="0"/>
                <a:ea typeface="Calibri" pitchFamily="34" charset="-122"/>
                <a:cs typeface="Calibri" pitchFamily="34" charset="-120"/>
              </a:rPr>
              <a:t>SQL Server masks salary→0.00, medical→xxxx, email→a***@XXXXX.com at read time</a:t>
            </a:r>
            <a:endParaRPr lang="en-US" sz="950" dirty="0"/>
          </a:p>
        </p:txBody>
      </p:sp>
      <p:sp>
        <p:nvSpPr>
          <p:cNvPr id="30" name="Shape 28"/>
          <p:cNvSpPr/>
          <p:nvPr/>
        </p:nvSpPr>
        <p:spPr>
          <a:xfrm>
            <a:off x="320040" y="4142232"/>
            <a:ext cx="502920" cy="475488"/>
          </a:xfrm>
          <a:prstGeom prst="rect">
            <a:avLst/>
          </a:prstGeom>
          <a:solidFill>
            <a:srgbClr val="007A7D"/>
          </a:solidFill>
          <a:ln/>
        </p:spPr>
      </p:sp>
      <p:sp>
        <p:nvSpPr>
          <p:cNvPr id="31" name="Text 29"/>
          <p:cNvSpPr/>
          <p:nvPr/>
        </p:nvSpPr>
        <p:spPr>
          <a:xfrm>
            <a:off x="320040" y="4142232"/>
            <a:ext cx="502920" cy="47548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L5</a:t>
            </a:r>
            <a:endParaRPr lang="en-US" sz="1100" dirty="0"/>
          </a:p>
        </p:txBody>
      </p:sp>
      <p:sp>
        <p:nvSpPr>
          <p:cNvPr id="32" name="Shape 30"/>
          <p:cNvSpPr/>
          <p:nvPr/>
        </p:nvSpPr>
        <p:spPr>
          <a:xfrm>
            <a:off x="822960" y="4142232"/>
            <a:ext cx="8001000" cy="475488"/>
          </a:xfrm>
          <a:prstGeom prst="rect">
            <a:avLst/>
          </a:prstGeom>
          <a:solidFill>
            <a:srgbClr val="FFFFFF"/>
          </a:solidFill>
          <a:ln w="6350">
            <a:solidFill>
              <a:srgbClr val="E0E8F0"/>
            </a:solidFill>
            <a:prstDash val="solid"/>
          </a:ln>
          <a:effectLst>
            <a:outerShdw blurRad="101600" dist="38100" dir="8100000" algn="bl" rotWithShape="0">
              <a:srgbClr val="000000">
                <a:alpha val="12000"/>
              </a:srgbClr>
            </a:outerShdw>
          </a:effectLst>
        </p:spPr>
      </p:sp>
      <p:sp>
        <p:nvSpPr>
          <p:cNvPr id="33" name="Shape 31"/>
          <p:cNvSpPr/>
          <p:nvPr/>
        </p:nvSpPr>
        <p:spPr>
          <a:xfrm>
            <a:off x="822960" y="4142232"/>
            <a:ext cx="54864" cy="475488"/>
          </a:xfrm>
          <a:prstGeom prst="rect">
            <a:avLst/>
          </a:prstGeom>
          <a:solidFill>
            <a:srgbClr val="007A7D"/>
          </a:solidFill>
          <a:ln/>
        </p:spPr>
      </p:sp>
      <p:sp>
        <p:nvSpPr>
          <p:cNvPr id="34" name="Text 32"/>
          <p:cNvSpPr/>
          <p:nvPr/>
        </p:nvSpPr>
        <p:spPr>
          <a:xfrm>
            <a:off x="960120" y="4178808"/>
            <a:ext cx="2286000" cy="22860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Service Account Separation</a:t>
            </a:r>
            <a:endParaRPr lang="en-US" sz="1100" dirty="0"/>
          </a:p>
        </p:txBody>
      </p:sp>
      <p:sp>
        <p:nvSpPr>
          <p:cNvPr id="35" name="Text 33"/>
          <p:cNvSpPr/>
          <p:nvPr/>
        </p:nvSpPr>
        <p:spPr>
          <a:xfrm>
            <a:off x="960120" y="4379976"/>
            <a:ext cx="7772400" cy="201168"/>
          </a:xfrm>
          <a:prstGeom prst="rect">
            <a:avLst/>
          </a:prstGeom>
          <a:noFill/>
          <a:ln/>
        </p:spPr>
        <p:txBody>
          <a:bodyPr wrap="square" rtlCol="0" anchor="ctr"/>
          <a:lstStyle/>
          <a:p>
            <a:pPr marL="0" indent="0">
              <a:buNone/>
            </a:pPr>
            <a:r>
              <a:rPr lang="en-US" sz="950" dirty="0">
                <a:solidFill>
                  <a:srgbClr val="6B7C93"/>
                </a:solidFill>
                <a:latin typeface="Calibri" pitchFamily="34" charset="0"/>
                <a:ea typeface="Calibri" pitchFamily="34" charset="-122"/>
                <a:cs typeface="Calibri" pitchFamily="34" charset="-120"/>
              </a:rPr>
              <a:t>webcon_svc_eea vs webcon_svc_nonea — BI/SSRS tools always get masked data</a:t>
            </a:r>
            <a:endParaRPr lang="en-US" sz="950" dirty="0"/>
          </a:p>
        </p:txBody>
      </p:sp>
      <p:sp>
        <p:nvSpPr>
          <p:cNvPr id="36" name="Shape 34"/>
          <p:cNvSpPr/>
          <p:nvPr/>
        </p:nvSpPr>
        <p:spPr>
          <a:xfrm>
            <a:off x="0" y="4828032"/>
            <a:ext cx="9144000" cy="315468"/>
          </a:xfrm>
          <a:prstGeom prst="rect">
            <a:avLst/>
          </a:prstGeom>
          <a:solidFill>
            <a:srgbClr val="009B9E"/>
          </a:solidFill>
          <a:ln/>
        </p:spPr>
      </p:sp>
      <p:sp>
        <p:nvSpPr>
          <p:cNvPr id="37" name="Shape 35"/>
          <p:cNvSpPr/>
          <p:nvPr/>
        </p:nvSpPr>
        <p:spPr>
          <a:xfrm>
            <a:off x="502920" y="4919472"/>
            <a:ext cx="18288" cy="128016"/>
          </a:xfrm>
          <a:prstGeom prst="rect">
            <a:avLst/>
          </a:prstGeom>
          <a:solidFill>
            <a:srgbClr val="FFFFFF"/>
          </a:solidFill>
          <a:ln/>
        </p:spPr>
      </p:sp>
      <p:sp>
        <p:nvSpPr>
          <p:cNvPr id="38" name="Text 36"/>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39" name="Text 37"/>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1976D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WFElements  —  TABLE STRUCTURE &amp; COLUMN ARCHITECTURE</a:t>
            </a:r>
            <a:endParaRPr lang="en-US" sz="1100" dirty="0"/>
          </a:p>
        </p:txBody>
      </p:sp>
      <p:sp>
        <p:nvSpPr>
          <p:cNvPr id="5" name="Text 3"/>
          <p:cNvSpPr/>
          <p:nvPr/>
        </p:nvSpPr>
        <p:spPr>
          <a:xfrm>
            <a:off x="320040" y="768096"/>
            <a:ext cx="850392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Understanding the Column Pool Design — The Root Cause of the Schrems II Challenge</a:t>
            </a:r>
            <a:endParaRPr lang="en-US" sz="1500" dirty="0"/>
          </a:p>
        </p:txBody>
      </p:sp>
      <p:sp>
        <p:nvSpPr>
          <p:cNvPr id="6" name="Shape 4"/>
          <p:cNvSpPr/>
          <p:nvPr/>
        </p:nvSpPr>
        <p:spPr>
          <a:xfrm>
            <a:off x="274320" y="1188720"/>
            <a:ext cx="8595360" cy="457200"/>
          </a:xfrm>
          <a:prstGeom prst="rect">
            <a:avLst/>
          </a:prstGeom>
          <a:solidFill>
            <a:srgbClr val="E3F0FF"/>
          </a:solidFill>
          <a:ln w="10160">
            <a:solidFill>
              <a:srgbClr val="1976D2"/>
            </a:solidFill>
            <a:prstDash val="solid"/>
          </a:ln>
        </p:spPr>
      </p:sp>
      <p:sp>
        <p:nvSpPr>
          <p:cNvPr id="7" name="Shape 5"/>
          <p:cNvSpPr/>
          <p:nvPr/>
        </p:nvSpPr>
        <p:spPr>
          <a:xfrm>
            <a:off x="274320" y="1188720"/>
            <a:ext cx="91440" cy="457200"/>
          </a:xfrm>
          <a:prstGeom prst="rect">
            <a:avLst/>
          </a:prstGeom>
          <a:solidFill>
            <a:srgbClr val="1976D2"/>
          </a:solidFill>
          <a:ln/>
        </p:spPr>
      </p:sp>
      <p:sp>
        <p:nvSpPr>
          <p:cNvPr id="8" name="Text 6"/>
          <p:cNvSpPr/>
          <p:nvPr/>
        </p:nvSpPr>
        <p:spPr>
          <a:xfrm>
            <a:off x="457200" y="1216152"/>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WFElements is WEBCON's universal workflow data table. Every application — HR, IT Helpdesk, Payroll, Procurement — stores all form submissions as rows in this single table. Instead of dedicated columns per field, WEBCON uses generic column pools mapped at configuration time in Designer Studio. The same physical column WFD_AttText3 stores a medical condition for HR and a ticket category for IT.</a:t>
            </a:r>
            <a:endParaRPr lang="en-US" sz="950" dirty="0"/>
          </a:p>
        </p:txBody>
      </p:sp>
      <p:sp>
        <p:nvSpPr>
          <p:cNvPr id="9" name="Shape 7"/>
          <p:cNvSpPr/>
          <p:nvPr/>
        </p:nvSpPr>
        <p:spPr>
          <a:xfrm>
            <a:off x="274320" y="1719072"/>
            <a:ext cx="2807208" cy="1444752"/>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19072"/>
            <a:ext cx="2807208" cy="274320"/>
          </a:xfrm>
          <a:prstGeom prst="rect">
            <a:avLst/>
          </a:prstGeom>
          <a:solidFill>
            <a:srgbClr val="E8F0FE"/>
          </a:solidFill>
          <a:ln/>
        </p:spPr>
      </p:sp>
      <p:sp>
        <p:nvSpPr>
          <p:cNvPr id="11" name="Shape 9"/>
          <p:cNvSpPr/>
          <p:nvPr/>
        </p:nvSpPr>
        <p:spPr>
          <a:xfrm>
            <a:off x="274320" y="1719072"/>
            <a:ext cx="64008" cy="1444752"/>
          </a:xfrm>
          <a:prstGeom prst="rect">
            <a:avLst/>
          </a:prstGeom>
          <a:solidFill>
            <a:srgbClr val="1565C0"/>
          </a:solidFill>
          <a:ln/>
        </p:spPr>
      </p:sp>
      <p:sp>
        <p:nvSpPr>
          <p:cNvPr id="12" name="Text 10"/>
          <p:cNvSpPr/>
          <p:nvPr/>
        </p:nvSpPr>
        <p:spPr>
          <a:xfrm>
            <a:off x="402336" y="1719072"/>
            <a:ext cx="2642616" cy="274320"/>
          </a:xfrm>
          <a:prstGeom prst="rect">
            <a:avLst/>
          </a:prstGeom>
          <a:noFill/>
          <a:ln/>
        </p:spPr>
        <p:txBody>
          <a:bodyPr wrap="square"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Identity &amp; Routing</a:t>
            </a:r>
            <a:endParaRPr lang="en-US" sz="850" dirty="0"/>
          </a:p>
        </p:txBody>
      </p:sp>
      <p:sp>
        <p:nvSpPr>
          <p:cNvPr id="13" name="Text 11"/>
          <p:cNvSpPr/>
          <p:nvPr/>
        </p:nvSpPr>
        <p:spPr>
          <a:xfrm>
            <a:off x="402336" y="2039112"/>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WFD_ID</a:t>
            </a:r>
            <a:endParaRPr lang="en-US" sz="720" dirty="0"/>
          </a:p>
        </p:txBody>
      </p:sp>
      <p:sp>
        <p:nvSpPr>
          <p:cNvPr id="14" name="Shape 12"/>
          <p:cNvSpPr/>
          <p:nvPr/>
        </p:nvSpPr>
        <p:spPr>
          <a:xfrm>
            <a:off x="1627632" y="2057400"/>
            <a:ext cx="621792" cy="155448"/>
          </a:xfrm>
          <a:prstGeom prst="rect">
            <a:avLst/>
          </a:prstGeom>
          <a:solidFill>
            <a:srgbClr val="E8F0FE"/>
          </a:solidFill>
          <a:ln/>
        </p:spPr>
      </p:sp>
      <p:sp>
        <p:nvSpPr>
          <p:cNvPr id="15" name="Text 13"/>
          <p:cNvSpPr/>
          <p:nvPr/>
        </p:nvSpPr>
        <p:spPr>
          <a:xfrm>
            <a:off x="1627632" y="2039112"/>
            <a:ext cx="1389888" cy="192024"/>
          </a:xfrm>
          <a:prstGeom prst="rect">
            <a:avLst/>
          </a:prstGeom>
          <a:noFill/>
          <a:ln/>
        </p:spPr>
        <p:txBody>
          <a:bodyPr wrap="square" rtlCol="0" anchor="ctr"/>
          <a:lstStyle/>
          <a:p>
            <a:pPr marL="0" indent="0" algn="l">
              <a:buNone/>
            </a:pPr>
            <a:r>
              <a:rPr lang="en-US" sz="620" dirty="0">
                <a:solidFill>
                  <a:srgbClr val="1565C0"/>
                </a:solidFill>
                <a:latin typeface="Calibri" pitchFamily="34" charset="0"/>
                <a:ea typeface="Calibri" pitchFamily="34" charset="-122"/>
                <a:cs typeface="Calibri" pitchFamily="34" charset="-120"/>
              </a:rPr>
              <a:t>INT PK</a:t>
            </a:r>
            <a:endParaRPr lang="en-US" sz="620" dirty="0"/>
          </a:p>
        </p:txBody>
      </p:sp>
      <p:sp>
        <p:nvSpPr>
          <p:cNvPr id="16" name="Text 14"/>
          <p:cNvSpPr/>
          <p:nvPr/>
        </p:nvSpPr>
        <p:spPr>
          <a:xfrm>
            <a:off x="402336" y="2253996"/>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WFD_FormType_ID</a:t>
            </a:r>
            <a:endParaRPr lang="en-US" sz="720" dirty="0"/>
          </a:p>
        </p:txBody>
      </p:sp>
      <p:sp>
        <p:nvSpPr>
          <p:cNvPr id="17" name="Shape 15"/>
          <p:cNvSpPr/>
          <p:nvPr/>
        </p:nvSpPr>
        <p:spPr>
          <a:xfrm>
            <a:off x="1627632" y="2272284"/>
            <a:ext cx="621792" cy="155448"/>
          </a:xfrm>
          <a:prstGeom prst="rect">
            <a:avLst/>
          </a:prstGeom>
          <a:solidFill>
            <a:srgbClr val="E8F0FE"/>
          </a:solidFill>
          <a:ln/>
        </p:spPr>
      </p:sp>
      <p:sp>
        <p:nvSpPr>
          <p:cNvPr id="18" name="Text 16"/>
          <p:cNvSpPr/>
          <p:nvPr/>
        </p:nvSpPr>
        <p:spPr>
          <a:xfrm>
            <a:off x="1627632" y="2253996"/>
            <a:ext cx="1389888" cy="192024"/>
          </a:xfrm>
          <a:prstGeom prst="rect">
            <a:avLst/>
          </a:prstGeom>
          <a:noFill/>
          <a:ln/>
        </p:spPr>
        <p:txBody>
          <a:bodyPr wrap="square" rtlCol="0" anchor="ctr"/>
          <a:lstStyle/>
          <a:p>
            <a:pPr marL="0" indent="0" algn="l">
              <a:buNone/>
            </a:pPr>
            <a:r>
              <a:rPr lang="en-US" sz="620" dirty="0">
                <a:solidFill>
                  <a:srgbClr val="1565C0"/>
                </a:solidFill>
                <a:latin typeface="Calibri" pitchFamily="34" charset="0"/>
                <a:ea typeface="Calibri" pitchFamily="34" charset="-122"/>
                <a:cs typeface="Calibri" pitchFamily="34" charset="-120"/>
              </a:rPr>
              <a:t>INT</a:t>
            </a:r>
            <a:endParaRPr lang="en-US" sz="620" dirty="0"/>
          </a:p>
        </p:txBody>
      </p:sp>
      <p:sp>
        <p:nvSpPr>
          <p:cNvPr id="19" name="Text 17"/>
          <p:cNvSpPr/>
          <p:nvPr/>
        </p:nvSpPr>
        <p:spPr>
          <a:xfrm>
            <a:off x="402336" y="2468880"/>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WFD_Status</a:t>
            </a:r>
            <a:endParaRPr lang="en-US" sz="720" dirty="0"/>
          </a:p>
        </p:txBody>
      </p:sp>
      <p:sp>
        <p:nvSpPr>
          <p:cNvPr id="20" name="Shape 18"/>
          <p:cNvSpPr/>
          <p:nvPr/>
        </p:nvSpPr>
        <p:spPr>
          <a:xfrm>
            <a:off x="1627632" y="2487168"/>
            <a:ext cx="621792" cy="155448"/>
          </a:xfrm>
          <a:prstGeom prst="rect">
            <a:avLst/>
          </a:prstGeom>
          <a:solidFill>
            <a:srgbClr val="E8F0FE"/>
          </a:solidFill>
          <a:ln/>
        </p:spPr>
      </p:sp>
      <p:sp>
        <p:nvSpPr>
          <p:cNvPr id="21" name="Text 19"/>
          <p:cNvSpPr/>
          <p:nvPr/>
        </p:nvSpPr>
        <p:spPr>
          <a:xfrm>
            <a:off x="1627632" y="2468880"/>
            <a:ext cx="1389888" cy="192024"/>
          </a:xfrm>
          <a:prstGeom prst="rect">
            <a:avLst/>
          </a:prstGeom>
          <a:noFill/>
          <a:ln/>
        </p:spPr>
        <p:txBody>
          <a:bodyPr wrap="square" rtlCol="0" anchor="ctr"/>
          <a:lstStyle/>
          <a:p>
            <a:pPr marL="0" indent="0" algn="l">
              <a:buNone/>
            </a:pPr>
            <a:r>
              <a:rPr lang="en-US" sz="620" dirty="0">
                <a:solidFill>
                  <a:srgbClr val="1565C0"/>
                </a:solidFill>
                <a:latin typeface="Calibri" pitchFamily="34" charset="0"/>
                <a:ea typeface="Calibri" pitchFamily="34" charset="-122"/>
                <a:cs typeface="Calibri" pitchFamily="34" charset="-120"/>
              </a:rPr>
              <a:t>INT</a:t>
            </a:r>
            <a:endParaRPr lang="en-US" sz="620" dirty="0"/>
          </a:p>
        </p:txBody>
      </p:sp>
      <p:sp>
        <p:nvSpPr>
          <p:cNvPr id="22" name="Text 20"/>
          <p:cNvSpPr/>
          <p:nvPr/>
        </p:nvSpPr>
        <p:spPr>
          <a:xfrm>
            <a:off x="402336" y="2683764"/>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WFD_Modified</a:t>
            </a:r>
            <a:endParaRPr lang="en-US" sz="720" dirty="0"/>
          </a:p>
        </p:txBody>
      </p:sp>
      <p:sp>
        <p:nvSpPr>
          <p:cNvPr id="23" name="Shape 21"/>
          <p:cNvSpPr/>
          <p:nvPr/>
        </p:nvSpPr>
        <p:spPr>
          <a:xfrm>
            <a:off x="1627632" y="2702052"/>
            <a:ext cx="621792" cy="155448"/>
          </a:xfrm>
          <a:prstGeom prst="rect">
            <a:avLst/>
          </a:prstGeom>
          <a:solidFill>
            <a:srgbClr val="E8F0FE"/>
          </a:solidFill>
          <a:ln/>
        </p:spPr>
      </p:sp>
      <p:sp>
        <p:nvSpPr>
          <p:cNvPr id="24" name="Text 22"/>
          <p:cNvSpPr/>
          <p:nvPr/>
        </p:nvSpPr>
        <p:spPr>
          <a:xfrm>
            <a:off x="1627632" y="2683764"/>
            <a:ext cx="1389888" cy="192024"/>
          </a:xfrm>
          <a:prstGeom prst="rect">
            <a:avLst/>
          </a:prstGeom>
          <a:noFill/>
          <a:ln/>
        </p:spPr>
        <p:txBody>
          <a:bodyPr wrap="square" rtlCol="0" anchor="ctr"/>
          <a:lstStyle/>
          <a:p>
            <a:pPr marL="0" indent="0" algn="l">
              <a:buNone/>
            </a:pPr>
            <a:r>
              <a:rPr lang="en-US" sz="620" dirty="0">
                <a:solidFill>
                  <a:srgbClr val="1565C0"/>
                </a:solidFill>
                <a:latin typeface="Calibri" pitchFamily="34" charset="0"/>
                <a:ea typeface="Calibri" pitchFamily="34" charset="-122"/>
                <a:cs typeface="Calibri" pitchFamily="34" charset="-120"/>
              </a:rPr>
              <a:t>DATETIME</a:t>
            </a:r>
            <a:endParaRPr lang="en-US" sz="620" dirty="0"/>
          </a:p>
        </p:txBody>
      </p:sp>
      <p:sp>
        <p:nvSpPr>
          <p:cNvPr id="25" name="Text 23"/>
          <p:cNvSpPr/>
          <p:nvPr/>
        </p:nvSpPr>
        <p:spPr>
          <a:xfrm>
            <a:off x="402336" y="2898648"/>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WFD_CreatedBy</a:t>
            </a:r>
            <a:endParaRPr lang="en-US" sz="720" dirty="0"/>
          </a:p>
        </p:txBody>
      </p:sp>
      <p:sp>
        <p:nvSpPr>
          <p:cNvPr id="26" name="Shape 24"/>
          <p:cNvSpPr/>
          <p:nvPr/>
        </p:nvSpPr>
        <p:spPr>
          <a:xfrm>
            <a:off x="1627632" y="2916936"/>
            <a:ext cx="621792" cy="155448"/>
          </a:xfrm>
          <a:prstGeom prst="rect">
            <a:avLst/>
          </a:prstGeom>
          <a:solidFill>
            <a:srgbClr val="E8F0FE"/>
          </a:solidFill>
          <a:ln/>
        </p:spPr>
      </p:sp>
      <p:sp>
        <p:nvSpPr>
          <p:cNvPr id="27" name="Text 25"/>
          <p:cNvSpPr/>
          <p:nvPr/>
        </p:nvSpPr>
        <p:spPr>
          <a:xfrm>
            <a:off x="1627632" y="2898648"/>
            <a:ext cx="1389888" cy="192024"/>
          </a:xfrm>
          <a:prstGeom prst="rect">
            <a:avLst/>
          </a:prstGeom>
          <a:noFill/>
          <a:ln/>
        </p:spPr>
        <p:txBody>
          <a:bodyPr wrap="square" rtlCol="0" anchor="ctr"/>
          <a:lstStyle/>
          <a:p>
            <a:pPr marL="0" indent="0" algn="l">
              <a:buNone/>
            </a:pPr>
            <a:r>
              <a:rPr lang="en-US" sz="620" dirty="0">
                <a:solidFill>
                  <a:srgbClr val="1565C0"/>
                </a:solidFill>
                <a:latin typeface="Calibri" pitchFamily="34" charset="0"/>
                <a:ea typeface="Calibri" pitchFamily="34" charset="-122"/>
                <a:cs typeface="Calibri" pitchFamily="34" charset="-120"/>
              </a:rPr>
              <a:t>NVARCHAR(50)</a:t>
            </a:r>
            <a:endParaRPr lang="en-US" sz="620" dirty="0"/>
          </a:p>
        </p:txBody>
      </p:sp>
      <p:sp>
        <p:nvSpPr>
          <p:cNvPr id="28" name="Shape 26"/>
          <p:cNvSpPr/>
          <p:nvPr/>
        </p:nvSpPr>
        <p:spPr>
          <a:xfrm>
            <a:off x="3136392" y="1719072"/>
            <a:ext cx="2807208" cy="1444752"/>
          </a:xfrm>
          <a:prstGeom prst="rect">
            <a:avLst/>
          </a:prstGeom>
          <a:solidFill>
            <a:srgbClr val="FFFFFF"/>
          </a:solidFill>
          <a:ln/>
          <a:effectLst>
            <a:outerShdw blurRad="101600" dist="38100" dir="8100000" algn="bl" rotWithShape="0">
              <a:srgbClr val="000000">
                <a:alpha val="12000"/>
              </a:srgbClr>
            </a:outerShdw>
          </a:effectLst>
        </p:spPr>
      </p:sp>
      <p:sp>
        <p:nvSpPr>
          <p:cNvPr id="29" name="Shape 27"/>
          <p:cNvSpPr/>
          <p:nvPr/>
        </p:nvSpPr>
        <p:spPr>
          <a:xfrm>
            <a:off x="3136392" y="1719072"/>
            <a:ext cx="2807208" cy="274320"/>
          </a:xfrm>
          <a:prstGeom prst="rect">
            <a:avLst/>
          </a:prstGeom>
          <a:solidFill>
            <a:srgbClr val="FFEBEE"/>
          </a:solidFill>
          <a:ln/>
        </p:spPr>
      </p:sp>
      <p:sp>
        <p:nvSpPr>
          <p:cNvPr id="30" name="Shape 28"/>
          <p:cNvSpPr/>
          <p:nvPr/>
        </p:nvSpPr>
        <p:spPr>
          <a:xfrm>
            <a:off x="3136392" y="1719072"/>
            <a:ext cx="64008" cy="1444752"/>
          </a:xfrm>
          <a:prstGeom prst="rect">
            <a:avLst/>
          </a:prstGeom>
          <a:solidFill>
            <a:srgbClr val="B71C1C"/>
          </a:solidFill>
          <a:ln/>
        </p:spPr>
      </p:sp>
      <p:sp>
        <p:nvSpPr>
          <p:cNvPr id="31" name="Text 29"/>
          <p:cNvSpPr/>
          <p:nvPr/>
        </p:nvSpPr>
        <p:spPr>
          <a:xfrm>
            <a:off x="3264408" y="1719072"/>
            <a:ext cx="2642616" cy="274320"/>
          </a:xfrm>
          <a:prstGeom prst="rect">
            <a:avLst/>
          </a:prstGeom>
          <a:noFill/>
          <a:ln/>
        </p:spPr>
        <p:txBody>
          <a:bodyPr wrap="square" rtlCol="0" anchor="ctr"/>
          <a:lstStyle/>
          <a:p>
            <a:pPr marL="0" indent="0">
              <a:buNone/>
            </a:pPr>
            <a:r>
              <a:rPr lang="en-US" sz="850" b="1" dirty="0">
                <a:solidFill>
                  <a:srgbClr val="B71C1C"/>
                </a:solidFill>
                <a:latin typeface="Calibri" pitchFamily="34" charset="0"/>
                <a:ea typeface="Calibri" pitchFamily="34" charset="-122"/>
                <a:cs typeface="Calibri" pitchFamily="34" charset="-120"/>
              </a:rPr>
              <a:t>Text Pool  (WFD_AttText1–20)</a:t>
            </a:r>
            <a:endParaRPr lang="en-US" sz="850" dirty="0"/>
          </a:p>
        </p:txBody>
      </p:sp>
      <p:sp>
        <p:nvSpPr>
          <p:cNvPr id="32" name="Text 30"/>
          <p:cNvSpPr/>
          <p:nvPr/>
        </p:nvSpPr>
        <p:spPr>
          <a:xfrm>
            <a:off x="3264408" y="2039112"/>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WFD_AttText1</a:t>
            </a:r>
            <a:endParaRPr lang="en-US" sz="720" dirty="0"/>
          </a:p>
        </p:txBody>
      </p:sp>
      <p:sp>
        <p:nvSpPr>
          <p:cNvPr id="33" name="Shape 31"/>
          <p:cNvSpPr/>
          <p:nvPr/>
        </p:nvSpPr>
        <p:spPr>
          <a:xfrm>
            <a:off x="4489704" y="2057400"/>
            <a:ext cx="621792" cy="155448"/>
          </a:xfrm>
          <a:prstGeom prst="rect">
            <a:avLst/>
          </a:prstGeom>
          <a:solidFill>
            <a:srgbClr val="FFEBEE"/>
          </a:solidFill>
          <a:ln/>
        </p:spPr>
      </p:sp>
      <p:sp>
        <p:nvSpPr>
          <p:cNvPr id="34" name="Text 32"/>
          <p:cNvSpPr/>
          <p:nvPr/>
        </p:nvSpPr>
        <p:spPr>
          <a:xfrm>
            <a:off x="4489704" y="2039112"/>
            <a:ext cx="1389888" cy="192024"/>
          </a:xfrm>
          <a:prstGeom prst="rect">
            <a:avLst/>
          </a:prstGeom>
          <a:noFill/>
          <a:ln/>
        </p:spPr>
        <p:txBody>
          <a:bodyPr wrap="square" rtlCol="0" anchor="ctr"/>
          <a:lstStyle/>
          <a:p>
            <a:pPr marL="0" indent="0" algn="l">
              <a:buNone/>
            </a:pPr>
            <a:r>
              <a:rPr lang="en-US" sz="620" dirty="0">
                <a:solidFill>
                  <a:srgbClr val="B71C1C"/>
                </a:solidFill>
                <a:latin typeface="Calibri" pitchFamily="34" charset="0"/>
                <a:ea typeface="Calibri" pitchFamily="34" charset="-122"/>
                <a:cs typeface="Calibri" pitchFamily="34" charset="-120"/>
              </a:rPr>
              <a:t>NVARCHAR(255)</a:t>
            </a:r>
            <a:endParaRPr lang="en-US" sz="620" dirty="0"/>
          </a:p>
        </p:txBody>
      </p:sp>
      <p:sp>
        <p:nvSpPr>
          <p:cNvPr id="35" name="Text 33"/>
          <p:cNvSpPr/>
          <p:nvPr/>
        </p:nvSpPr>
        <p:spPr>
          <a:xfrm>
            <a:off x="3264408" y="2253996"/>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WFD_AttText2</a:t>
            </a:r>
            <a:endParaRPr lang="en-US" sz="720" dirty="0"/>
          </a:p>
        </p:txBody>
      </p:sp>
      <p:sp>
        <p:nvSpPr>
          <p:cNvPr id="36" name="Shape 34"/>
          <p:cNvSpPr/>
          <p:nvPr/>
        </p:nvSpPr>
        <p:spPr>
          <a:xfrm>
            <a:off x="4489704" y="2272284"/>
            <a:ext cx="621792" cy="155448"/>
          </a:xfrm>
          <a:prstGeom prst="rect">
            <a:avLst/>
          </a:prstGeom>
          <a:solidFill>
            <a:srgbClr val="FFEBEE"/>
          </a:solidFill>
          <a:ln/>
        </p:spPr>
      </p:sp>
      <p:sp>
        <p:nvSpPr>
          <p:cNvPr id="37" name="Text 35"/>
          <p:cNvSpPr/>
          <p:nvPr/>
        </p:nvSpPr>
        <p:spPr>
          <a:xfrm>
            <a:off x="4489704" y="2253996"/>
            <a:ext cx="1389888" cy="192024"/>
          </a:xfrm>
          <a:prstGeom prst="rect">
            <a:avLst/>
          </a:prstGeom>
          <a:noFill/>
          <a:ln/>
        </p:spPr>
        <p:txBody>
          <a:bodyPr wrap="square" rtlCol="0" anchor="ctr"/>
          <a:lstStyle/>
          <a:p>
            <a:pPr marL="0" indent="0" algn="l">
              <a:buNone/>
            </a:pPr>
            <a:r>
              <a:rPr lang="en-US" sz="620" dirty="0">
                <a:solidFill>
                  <a:srgbClr val="B71C1C"/>
                </a:solidFill>
                <a:latin typeface="Calibri" pitchFamily="34" charset="0"/>
                <a:ea typeface="Calibri" pitchFamily="34" charset="-122"/>
                <a:cs typeface="Calibri" pitchFamily="34" charset="-120"/>
              </a:rPr>
              <a:t>NVARCHAR(255)</a:t>
            </a:r>
            <a:endParaRPr lang="en-US" sz="620" dirty="0"/>
          </a:p>
        </p:txBody>
      </p:sp>
      <p:sp>
        <p:nvSpPr>
          <p:cNvPr id="38" name="Text 36"/>
          <p:cNvSpPr/>
          <p:nvPr/>
        </p:nvSpPr>
        <p:spPr>
          <a:xfrm>
            <a:off x="3264408" y="2468880"/>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WFD_AttText3</a:t>
            </a:r>
            <a:endParaRPr lang="en-US" sz="720" dirty="0"/>
          </a:p>
        </p:txBody>
      </p:sp>
      <p:sp>
        <p:nvSpPr>
          <p:cNvPr id="39" name="Shape 37"/>
          <p:cNvSpPr/>
          <p:nvPr/>
        </p:nvSpPr>
        <p:spPr>
          <a:xfrm>
            <a:off x="4489704" y="2487168"/>
            <a:ext cx="621792" cy="155448"/>
          </a:xfrm>
          <a:prstGeom prst="rect">
            <a:avLst/>
          </a:prstGeom>
          <a:solidFill>
            <a:srgbClr val="FFEBEE"/>
          </a:solidFill>
          <a:ln/>
        </p:spPr>
      </p:sp>
      <p:sp>
        <p:nvSpPr>
          <p:cNvPr id="40" name="Text 38"/>
          <p:cNvSpPr/>
          <p:nvPr/>
        </p:nvSpPr>
        <p:spPr>
          <a:xfrm>
            <a:off x="4489704" y="2468880"/>
            <a:ext cx="1389888" cy="192024"/>
          </a:xfrm>
          <a:prstGeom prst="rect">
            <a:avLst/>
          </a:prstGeom>
          <a:noFill/>
          <a:ln/>
        </p:spPr>
        <p:txBody>
          <a:bodyPr wrap="square" rtlCol="0" anchor="ctr"/>
          <a:lstStyle/>
          <a:p>
            <a:pPr marL="0" indent="0" algn="l">
              <a:buNone/>
            </a:pPr>
            <a:r>
              <a:rPr lang="en-US" sz="620" dirty="0">
                <a:solidFill>
                  <a:srgbClr val="B71C1C"/>
                </a:solidFill>
                <a:latin typeface="Calibri" pitchFamily="34" charset="0"/>
                <a:ea typeface="Calibri" pitchFamily="34" charset="-122"/>
                <a:cs typeface="Calibri" pitchFamily="34" charset="-120"/>
              </a:rPr>
              <a:t>NVARCHAR(255)</a:t>
            </a:r>
            <a:endParaRPr lang="en-US" sz="620" dirty="0"/>
          </a:p>
        </p:txBody>
      </p:sp>
      <p:sp>
        <p:nvSpPr>
          <p:cNvPr id="41" name="Text 39"/>
          <p:cNvSpPr/>
          <p:nvPr/>
        </p:nvSpPr>
        <p:spPr>
          <a:xfrm>
            <a:off x="3264408" y="2683764"/>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WFD_AttText4</a:t>
            </a:r>
            <a:endParaRPr lang="en-US" sz="720" dirty="0"/>
          </a:p>
        </p:txBody>
      </p:sp>
      <p:sp>
        <p:nvSpPr>
          <p:cNvPr id="42" name="Shape 40"/>
          <p:cNvSpPr/>
          <p:nvPr/>
        </p:nvSpPr>
        <p:spPr>
          <a:xfrm>
            <a:off x="4489704" y="2702052"/>
            <a:ext cx="621792" cy="155448"/>
          </a:xfrm>
          <a:prstGeom prst="rect">
            <a:avLst/>
          </a:prstGeom>
          <a:solidFill>
            <a:srgbClr val="FFEBEE"/>
          </a:solidFill>
          <a:ln/>
        </p:spPr>
      </p:sp>
      <p:sp>
        <p:nvSpPr>
          <p:cNvPr id="43" name="Text 41"/>
          <p:cNvSpPr/>
          <p:nvPr/>
        </p:nvSpPr>
        <p:spPr>
          <a:xfrm>
            <a:off x="4489704" y="2683764"/>
            <a:ext cx="1389888" cy="192024"/>
          </a:xfrm>
          <a:prstGeom prst="rect">
            <a:avLst/>
          </a:prstGeom>
          <a:noFill/>
          <a:ln/>
        </p:spPr>
        <p:txBody>
          <a:bodyPr wrap="square" rtlCol="0" anchor="ctr"/>
          <a:lstStyle/>
          <a:p>
            <a:pPr marL="0" indent="0" algn="l">
              <a:buNone/>
            </a:pPr>
            <a:r>
              <a:rPr lang="en-US" sz="620" dirty="0">
                <a:solidFill>
                  <a:srgbClr val="B71C1C"/>
                </a:solidFill>
                <a:latin typeface="Calibri" pitchFamily="34" charset="0"/>
                <a:ea typeface="Calibri" pitchFamily="34" charset="-122"/>
                <a:cs typeface="Calibri" pitchFamily="34" charset="-120"/>
              </a:rPr>
              <a:t>NVARCHAR(255)</a:t>
            </a:r>
            <a:endParaRPr lang="en-US" sz="620" dirty="0"/>
          </a:p>
        </p:txBody>
      </p:sp>
      <p:sp>
        <p:nvSpPr>
          <p:cNvPr id="44" name="Text 42"/>
          <p:cNvSpPr/>
          <p:nvPr/>
        </p:nvSpPr>
        <p:spPr>
          <a:xfrm>
            <a:off x="3264408" y="2898648"/>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WFD_AttText5..20</a:t>
            </a:r>
            <a:endParaRPr lang="en-US" sz="720" dirty="0"/>
          </a:p>
        </p:txBody>
      </p:sp>
      <p:sp>
        <p:nvSpPr>
          <p:cNvPr id="45" name="Shape 43"/>
          <p:cNvSpPr/>
          <p:nvPr/>
        </p:nvSpPr>
        <p:spPr>
          <a:xfrm>
            <a:off x="4489704" y="2916936"/>
            <a:ext cx="621792" cy="155448"/>
          </a:xfrm>
          <a:prstGeom prst="rect">
            <a:avLst/>
          </a:prstGeom>
          <a:solidFill>
            <a:srgbClr val="FFEBEE"/>
          </a:solidFill>
          <a:ln/>
        </p:spPr>
      </p:sp>
      <p:sp>
        <p:nvSpPr>
          <p:cNvPr id="46" name="Text 44"/>
          <p:cNvSpPr/>
          <p:nvPr/>
        </p:nvSpPr>
        <p:spPr>
          <a:xfrm>
            <a:off x="4489704" y="2898648"/>
            <a:ext cx="1389888" cy="192024"/>
          </a:xfrm>
          <a:prstGeom prst="rect">
            <a:avLst/>
          </a:prstGeom>
          <a:noFill/>
          <a:ln/>
        </p:spPr>
        <p:txBody>
          <a:bodyPr wrap="square" rtlCol="0" anchor="ctr"/>
          <a:lstStyle/>
          <a:p>
            <a:pPr marL="0" indent="0" algn="l">
              <a:buNone/>
            </a:pPr>
            <a:r>
              <a:rPr lang="en-US" sz="620" dirty="0">
                <a:solidFill>
                  <a:srgbClr val="B71C1C"/>
                </a:solidFill>
                <a:latin typeface="Calibri" pitchFamily="34" charset="0"/>
                <a:ea typeface="Calibri" pitchFamily="34" charset="-122"/>
                <a:cs typeface="Calibri" pitchFamily="34" charset="-120"/>
              </a:rPr>
              <a:t>NVARCHAR(255)</a:t>
            </a:r>
            <a:endParaRPr lang="en-US" sz="620" dirty="0"/>
          </a:p>
        </p:txBody>
      </p:sp>
      <p:sp>
        <p:nvSpPr>
          <p:cNvPr id="47" name="Shape 45"/>
          <p:cNvSpPr/>
          <p:nvPr/>
        </p:nvSpPr>
        <p:spPr>
          <a:xfrm>
            <a:off x="5998464" y="1719072"/>
            <a:ext cx="2807208" cy="1444752"/>
          </a:xfrm>
          <a:prstGeom prst="rect">
            <a:avLst/>
          </a:prstGeom>
          <a:solidFill>
            <a:srgbClr val="FFFFFF"/>
          </a:solidFill>
          <a:ln/>
          <a:effectLst>
            <a:outerShdw blurRad="101600" dist="38100" dir="8100000" algn="bl" rotWithShape="0">
              <a:srgbClr val="000000">
                <a:alpha val="12000"/>
              </a:srgbClr>
            </a:outerShdw>
          </a:effectLst>
        </p:spPr>
      </p:sp>
      <p:sp>
        <p:nvSpPr>
          <p:cNvPr id="48" name="Shape 46"/>
          <p:cNvSpPr/>
          <p:nvPr/>
        </p:nvSpPr>
        <p:spPr>
          <a:xfrm>
            <a:off x="5998464" y="1719072"/>
            <a:ext cx="2807208" cy="274320"/>
          </a:xfrm>
          <a:prstGeom prst="rect">
            <a:avLst/>
          </a:prstGeom>
          <a:solidFill>
            <a:srgbClr val="F3E5F5"/>
          </a:solidFill>
          <a:ln/>
        </p:spPr>
      </p:sp>
      <p:sp>
        <p:nvSpPr>
          <p:cNvPr id="49" name="Shape 47"/>
          <p:cNvSpPr/>
          <p:nvPr/>
        </p:nvSpPr>
        <p:spPr>
          <a:xfrm>
            <a:off x="5998464" y="1719072"/>
            <a:ext cx="64008" cy="1444752"/>
          </a:xfrm>
          <a:prstGeom prst="rect">
            <a:avLst/>
          </a:prstGeom>
          <a:solidFill>
            <a:srgbClr val="4A235A"/>
          </a:solidFill>
          <a:ln/>
        </p:spPr>
      </p:sp>
      <p:sp>
        <p:nvSpPr>
          <p:cNvPr id="50" name="Text 48"/>
          <p:cNvSpPr/>
          <p:nvPr/>
        </p:nvSpPr>
        <p:spPr>
          <a:xfrm>
            <a:off x="6126480" y="1719072"/>
            <a:ext cx="2642616" cy="274320"/>
          </a:xfrm>
          <a:prstGeom prst="rect">
            <a:avLst/>
          </a:prstGeom>
          <a:noFill/>
          <a:ln/>
        </p:spPr>
        <p:txBody>
          <a:bodyPr wrap="square" rtlCol="0" anchor="ctr"/>
          <a:lstStyle/>
          <a:p>
            <a:pPr marL="0" indent="0">
              <a:buNone/>
            </a:pPr>
            <a:r>
              <a:rPr lang="en-US" sz="850" b="1" dirty="0">
                <a:solidFill>
                  <a:srgbClr val="4A235A"/>
                </a:solidFill>
                <a:latin typeface="Calibri" pitchFamily="34" charset="0"/>
                <a:ea typeface="Calibri" pitchFamily="34" charset="-122"/>
                <a:cs typeface="Calibri" pitchFamily="34" charset="-120"/>
              </a:rPr>
              <a:t>Long Text Pool  (WFD_AttLong1–10)</a:t>
            </a:r>
            <a:endParaRPr lang="en-US" sz="850" dirty="0"/>
          </a:p>
        </p:txBody>
      </p:sp>
      <p:sp>
        <p:nvSpPr>
          <p:cNvPr id="51" name="Text 49"/>
          <p:cNvSpPr/>
          <p:nvPr/>
        </p:nvSpPr>
        <p:spPr>
          <a:xfrm>
            <a:off x="6126480" y="2039112"/>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WFD_AttLong1</a:t>
            </a:r>
            <a:endParaRPr lang="en-US" sz="720" dirty="0"/>
          </a:p>
        </p:txBody>
      </p:sp>
      <p:sp>
        <p:nvSpPr>
          <p:cNvPr id="52" name="Shape 50"/>
          <p:cNvSpPr/>
          <p:nvPr/>
        </p:nvSpPr>
        <p:spPr>
          <a:xfrm>
            <a:off x="7351776" y="2057400"/>
            <a:ext cx="621792" cy="155448"/>
          </a:xfrm>
          <a:prstGeom prst="rect">
            <a:avLst/>
          </a:prstGeom>
          <a:solidFill>
            <a:srgbClr val="F3E5F5"/>
          </a:solidFill>
          <a:ln/>
        </p:spPr>
      </p:sp>
      <p:sp>
        <p:nvSpPr>
          <p:cNvPr id="53" name="Text 51"/>
          <p:cNvSpPr/>
          <p:nvPr/>
        </p:nvSpPr>
        <p:spPr>
          <a:xfrm>
            <a:off x="7351776" y="2039112"/>
            <a:ext cx="1389888" cy="192024"/>
          </a:xfrm>
          <a:prstGeom prst="rect">
            <a:avLst/>
          </a:prstGeom>
          <a:noFill/>
          <a:ln/>
        </p:spPr>
        <p:txBody>
          <a:bodyPr wrap="square" rtlCol="0" anchor="ctr"/>
          <a:lstStyle/>
          <a:p>
            <a:pPr marL="0" indent="0" algn="l">
              <a:buNone/>
            </a:pPr>
            <a:r>
              <a:rPr lang="en-US" sz="620" dirty="0">
                <a:solidFill>
                  <a:srgbClr val="4A235A"/>
                </a:solidFill>
                <a:latin typeface="Calibri" pitchFamily="34" charset="0"/>
                <a:ea typeface="Calibri" pitchFamily="34" charset="-122"/>
                <a:cs typeface="Calibri" pitchFamily="34" charset="-120"/>
              </a:rPr>
              <a:t>NVARCHAR(MAX)</a:t>
            </a:r>
            <a:endParaRPr lang="en-US" sz="620" dirty="0"/>
          </a:p>
        </p:txBody>
      </p:sp>
      <p:sp>
        <p:nvSpPr>
          <p:cNvPr id="54" name="Text 52"/>
          <p:cNvSpPr/>
          <p:nvPr/>
        </p:nvSpPr>
        <p:spPr>
          <a:xfrm>
            <a:off x="6126480" y="2253996"/>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WFD_AttLong2</a:t>
            </a:r>
            <a:endParaRPr lang="en-US" sz="720" dirty="0"/>
          </a:p>
        </p:txBody>
      </p:sp>
      <p:sp>
        <p:nvSpPr>
          <p:cNvPr id="55" name="Shape 53"/>
          <p:cNvSpPr/>
          <p:nvPr/>
        </p:nvSpPr>
        <p:spPr>
          <a:xfrm>
            <a:off x="7351776" y="2272284"/>
            <a:ext cx="621792" cy="155448"/>
          </a:xfrm>
          <a:prstGeom prst="rect">
            <a:avLst/>
          </a:prstGeom>
          <a:solidFill>
            <a:srgbClr val="F3E5F5"/>
          </a:solidFill>
          <a:ln/>
        </p:spPr>
      </p:sp>
      <p:sp>
        <p:nvSpPr>
          <p:cNvPr id="56" name="Text 54"/>
          <p:cNvSpPr/>
          <p:nvPr/>
        </p:nvSpPr>
        <p:spPr>
          <a:xfrm>
            <a:off x="7351776" y="2253996"/>
            <a:ext cx="1389888" cy="192024"/>
          </a:xfrm>
          <a:prstGeom prst="rect">
            <a:avLst/>
          </a:prstGeom>
          <a:noFill/>
          <a:ln/>
        </p:spPr>
        <p:txBody>
          <a:bodyPr wrap="square" rtlCol="0" anchor="ctr"/>
          <a:lstStyle/>
          <a:p>
            <a:pPr marL="0" indent="0" algn="l">
              <a:buNone/>
            </a:pPr>
            <a:r>
              <a:rPr lang="en-US" sz="620" dirty="0">
                <a:solidFill>
                  <a:srgbClr val="4A235A"/>
                </a:solidFill>
                <a:latin typeface="Calibri" pitchFamily="34" charset="0"/>
                <a:ea typeface="Calibri" pitchFamily="34" charset="-122"/>
                <a:cs typeface="Calibri" pitchFamily="34" charset="-120"/>
              </a:rPr>
              <a:t>NVARCHAR(MAX)</a:t>
            </a:r>
            <a:endParaRPr lang="en-US" sz="620" dirty="0"/>
          </a:p>
        </p:txBody>
      </p:sp>
      <p:sp>
        <p:nvSpPr>
          <p:cNvPr id="57" name="Text 55"/>
          <p:cNvSpPr/>
          <p:nvPr/>
        </p:nvSpPr>
        <p:spPr>
          <a:xfrm>
            <a:off x="6126480" y="2468880"/>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WFD_AttLong3..10</a:t>
            </a:r>
            <a:endParaRPr lang="en-US" sz="720" dirty="0"/>
          </a:p>
        </p:txBody>
      </p:sp>
      <p:sp>
        <p:nvSpPr>
          <p:cNvPr id="58" name="Shape 56"/>
          <p:cNvSpPr/>
          <p:nvPr/>
        </p:nvSpPr>
        <p:spPr>
          <a:xfrm>
            <a:off x="7351776" y="2487168"/>
            <a:ext cx="621792" cy="155448"/>
          </a:xfrm>
          <a:prstGeom prst="rect">
            <a:avLst/>
          </a:prstGeom>
          <a:solidFill>
            <a:srgbClr val="F3E5F5"/>
          </a:solidFill>
          <a:ln/>
        </p:spPr>
      </p:sp>
      <p:sp>
        <p:nvSpPr>
          <p:cNvPr id="59" name="Text 57"/>
          <p:cNvSpPr/>
          <p:nvPr/>
        </p:nvSpPr>
        <p:spPr>
          <a:xfrm>
            <a:off x="7351776" y="2468880"/>
            <a:ext cx="1389888" cy="192024"/>
          </a:xfrm>
          <a:prstGeom prst="rect">
            <a:avLst/>
          </a:prstGeom>
          <a:noFill/>
          <a:ln/>
        </p:spPr>
        <p:txBody>
          <a:bodyPr wrap="square" rtlCol="0" anchor="ctr"/>
          <a:lstStyle/>
          <a:p>
            <a:pPr marL="0" indent="0" algn="l">
              <a:buNone/>
            </a:pPr>
            <a:r>
              <a:rPr lang="en-US" sz="620" dirty="0">
                <a:solidFill>
                  <a:srgbClr val="4A235A"/>
                </a:solidFill>
                <a:latin typeface="Calibri" pitchFamily="34" charset="0"/>
                <a:ea typeface="Calibri" pitchFamily="34" charset="-122"/>
                <a:cs typeface="Calibri" pitchFamily="34" charset="-120"/>
              </a:rPr>
              <a:t>NVARCHAR(MAX)</a:t>
            </a:r>
            <a:endParaRPr lang="en-US" sz="620" dirty="0"/>
          </a:p>
        </p:txBody>
      </p:sp>
      <p:sp>
        <p:nvSpPr>
          <p:cNvPr id="60" name="Shape 58"/>
          <p:cNvSpPr/>
          <p:nvPr/>
        </p:nvSpPr>
        <p:spPr>
          <a:xfrm>
            <a:off x="274320" y="3218688"/>
            <a:ext cx="2807208" cy="1444752"/>
          </a:xfrm>
          <a:prstGeom prst="rect">
            <a:avLst/>
          </a:prstGeom>
          <a:solidFill>
            <a:srgbClr val="FFFFFF"/>
          </a:solidFill>
          <a:ln/>
          <a:effectLst>
            <a:outerShdw blurRad="101600" dist="38100" dir="8100000" algn="bl" rotWithShape="0">
              <a:srgbClr val="000000">
                <a:alpha val="12000"/>
              </a:srgbClr>
            </a:outerShdw>
          </a:effectLst>
        </p:spPr>
      </p:sp>
      <p:sp>
        <p:nvSpPr>
          <p:cNvPr id="61" name="Shape 59"/>
          <p:cNvSpPr/>
          <p:nvPr/>
        </p:nvSpPr>
        <p:spPr>
          <a:xfrm>
            <a:off x="274320" y="3218688"/>
            <a:ext cx="2807208" cy="274320"/>
          </a:xfrm>
          <a:prstGeom prst="rect">
            <a:avLst/>
          </a:prstGeom>
          <a:solidFill>
            <a:srgbClr val="E8F5E9"/>
          </a:solidFill>
          <a:ln/>
        </p:spPr>
      </p:sp>
      <p:sp>
        <p:nvSpPr>
          <p:cNvPr id="62" name="Shape 60"/>
          <p:cNvSpPr/>
          <p:nvPr/>
        </p:nvSpPr>
        <p:spPr>
          <a:xfrm>
            <a:off x="274320" y="3218688"/>
            <a:ext cx="64008" cy="1444752"/>
          </a:xfrm>
          <a:prstGeom prst="rect">
            <a:avLst/>
          </a:prstGeom>
          <a:solidFill>
            <a:srgbClr val="1B6B3A"/>
          </a:solidFill>
          <a:ln/>
        </p:spPr>
      </p:sp>
      <p:sp>
        <p:nvSpPr>
          <p:cNvPr id="63" name="Text 61"/>
          <p:cNvSpPr/>
          <p:nvPr/>
        </p:nvSpPr>
        <p:spPr>
          <a:xfrm>
            <a:off x="402336" y="3218688"/>
            <a:ext cx="2642616" cy="274320"/>
          </a:xfrm>
          <a:prstGeom prst="rect">
            <a:avLst/>
          </a:prstGeom>
          <a:noFill/>
          <a:ln/>
        </p:spPr>
        <p:txBody>
          <a:bodyPr wrap="square" rtlCol="0" anchor="ctr"/>
          <a:lstStyle/>
          <a:p>
            <a:pPr marL="0" indent="0">
              <a:buNone/>
            </a:pPr>
            <a:r>
              <a:rPr lang="en-US" sz="850" b="1" dirty="0">
                <a:solidFill>
                  <a:srgbClr val="1B6B3A"/>
                </a:solidFill>
                <a:latin typeface="Calibri" pitchFamily="34" charset="0"/>
                <a:ea typeface="Calibri" pitchFamily="34" charset="-122"/>
                <a:cs typeface="Calibri" pitchFamily="34" charset="-120"/>
              </a:rPr>
              <a:t>Numeric Pool  (WFD_AttDecimal1–5)</a:t>
            </a:r>
            <a:endParaRPr lang="en-US" sz="850" dirty="0"/>
          </a:p>
        </p:txBody>
      </p:sp>
      <p:sp>
        <p:nvSpPr>
          <p:cNvPr id="64" name="Text 62"/>
          <p:cNvSpPr/>
          <p:nvPr/>
        </p:nvSpPr>
        <p:spPr>
          <a:xfrm>
            <a:off x="402336" y="3538728"/>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WFD_AttDecimal1</a:t>
            </a:r>
            <a:endParaRPr lang="en-US" sz="720" dirty="0"/>
          </a:p>
        </p:txBody>
      </p:sp>
      <p:sp>
        <p:nvSpPr>
          <p:cNvPr id="65" name="Shape 63"/>
          <p:cNvSpPr/>
          <p:nvPr/>
        </p:nvSpPr>
        <p:spPr>
          <a:xfrm>
            <a:off x="1627632" y="3557016"/>
            <a:ext cx="621792" cy="155448"/>
          </a:xfrm>
          <a:prstGeom prst="rect">
            <a:avLst/>
          </a:prstGeom>
          <a:solidFill>
            <a:srgbClr val="E8F5E9"/>
          </a:solidFill>
          <a:ln/>
        </p:spPr>
      </p:sp>
      <p:sp>
        <p:nvSpPr>
          <p:cNvPr id="66" name="Text 64"/>
          <p:cNvSpPr/>
          <p:nvPr/>
        </p:nvSpPr>
        <p:spPr>
          <a:xfrm>
            <a:off x="1627632" y="3538728"/>
            <a:ext cx="1389888" cy="192024"/>
          </a:xfrm>
          <a:prstGeom prst="rect">
            <a:avLst/>
          </a:prstGeom>
          <a:noFill/>
          <a:ln/>
        </p:spPr>
        <p:txBody>
          <a:bodyPr wrap="square" rtlCol="0" anchor="ctr"/>
          <a:lstStyle/>
          <a:p>
            <a:pPr marL="0" indent="0" algn="l">
              <a:buNone/>
            </a:pPr>
            <a:r>
              <a:rPr lang="en-US" sz="620" dirty="0">
                <a:solidFill>
                  <a:srgbClr val="1B6B3A"/>
                </a:solidFill>
                <a:latin typeface="Calibri" pitchFamily="34" charset="0"/>
                <a:ea typeface="Calibri" pitchFamily="34" charset="-122"/>
                <a:cs typeface="Calibri" pitchFamily="34" charset="-120"/>
              </a:rPr>
              <a:t>DECIMAL(18,2)</a:t>
            </a:r>
            <a:endParaRPr lang="en-US" sz="620" dirty="0"/>
          </a:p>
        </p:txBody>
      </p:sp>
      <p:sp>
        <p:nvSpPr>
          <p:cNvPr id="67" name="Text 65"/>
          <p:cNvSpPr/>
          <p:nvPr/>
        </p:nvSpPr>
        <p:spPr>
          <a:xfrm>
            <a:off x="402336" y="3753612"/>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WFD_AttDecimal2</a:t>
            </a:r>
            <a:endParaRPr lang="en-US" sz="720" dirty="0"/>
          </a:p>
        </p:txBody>
      </p:sp>
      <p:sp>
        <p:nvSpPr>
          <p:cNvPr id="68" name="Shape 66"/>
          <p:cNvSpPr/>
          <p:nvPr/>
        </p:nvSpPr>
        <p:spPr>
          <a:xfrm>
            <a:off x="1627632" y="3771900"/>
            <a:ext cx="621792" cy="155448"/>
          </a:xfrm>
          <a:prstGeom prst="rect">
            <a:avLst/>
          </a:prstGeom>
          <a:solidFill>
            <a:srgbClr val="E8F5E9"/>
          </a:solidFill>
          <a:ln/>
        </p:spPr>
      </p:sp>
      <p:sp>
        <p:nvSpPr>
          <p:cNvPr id="69" name="Text 67"/>
          <p:cNvSpPr/>
          <p:nvPr/>
        </p:nvSpPr>
        <p:spPr>
          <a:xfrm>
            <a:off x="1627632" y="3753612"/>
            <a:ext cx="1389888" cy="192024"/>
          </a:xfrm>
          <a:prstGeom prst="rect">
            <a:avLst/>
          </a:prstGeom>
          <a:noFill/>
          <a:ln/>
        </p:spPr>
        <p:txBody>
          <a:bodyPr wrap="square" rtlCol="0" anchor="ctr"/>
          <a:lstStyle/>
          <a:p>
            <a:pPr marL="0" indent="0" algn="l">
              <a:buNone/>
            </a:pPr>
            <a:r>
              <a:rPr lang="en-US" sz="620" dirty="0">
                <a:solidFill>
                  <a:srgbClr val="1B6B3A"/>
                </a:solidFill>
                <a:latin typeface="Calibri" pitchFamily="34" charset="0"/>
                <a:ea typeface="Calibri" pitchFamily="34" charset="-122"/>
                <a:cs typeface="Calibri" pitchFamily="34" charset="-120"/>
              </a:rPr>
              <a:t>DECIMAL(18,2)</a:t>
            </a:r>
            <a:endParaRPr lang="en-US" sz="620" dirty="0"/>
          </a:p>
        </p:txBody>
      </p:sp>
      <p:sp>
        <p:nvSpPr>
          <p:cNvPr id="70" name="Text 68"/>
          <p:cNvSpPr/>
          <p:nvPr/>
        </p:nvSpPr>
        <p:spPr>
          <a:xfrm>
            <a:off x="402336" y="3968496"/>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WFD_AttDecimal3..5</a:t>
            </a:r>
            <a:endParaRPr lang="en-US" sz="720" dirty="0"/>
          </a:p>
        </p:txBody>
      </p:sp>
      <p:sp>
        <p:nvSpPr>
          <p:cNvPr id="71" name="Shape 69"/>
          <p:cNvSpPr/>
          <p:nvPr/>
        </p:nvSpPr>
        <p:spPr>
          <a:xfrm>
            <a:off x="1627632" y="3986784"/>
            <a:ext cx="621792" cy="155448"/>
          </a:xfrm>
          <a:prstGeom prst="rect">
            <a:avLst/>
          </a:prstGeom>
          <a:solidFill>
            <a:srgbClr val="E8F5E9"/>
          </a:solidFill>
          <a:ln/>
        </p:spPr>
      </p:sp>
      <p:sp>
        <p:nvSpPr>
          <p:cNvPr id="72" name="Text 70"/>
          <p:cNvSpPr/>
          <p:nvPr/>
        </p:nvSpPr>
        <p:spPr>
          <a:xfrm>
            <a:off x="1627632" y="3968496"/>
            <a:ext cx="1389888" cy="192024"/>
          </a:xfrm>
          <a:prstGeom prst="rect">
            <a:avLst/>
          </a:prstGeom>
          <a:noFill/>
          <a:ln/>
        </p:spPr>
        <p:txBody>
          <a:bodyPr wrap="square" rtlCol="0" anchor="ctr"/>
          <a:lstStyle/>
          <a:p>
            <a:pPr marL="0" indent="0" algn="l">
              <a:buNone/>
            </a:pPr>
            <a:r>
              <a:rPr lang="en-US" sz="620" dirty="0">
                <a:solidFill>
                  <a:srgbClr val="1B6B3A"/>
                </a:solidFill>
                <a:latin typeface="Calibri" pitchFamily="34" charset="0"/>
                <a:ea typeface="Calibri" pitchFamily="34" charset="-122"/>
                <a:cs typeface="Calibri" pitchFamily="34" charset="-120"/>
              </a:rPr>
              <a:t>DECIMAL(18,2)</a:t>
            </a:r>
            <a:endParaRPr lang="en-US" sz="620" dirty="0"/>
          </a:p>
        </p:txBody>
      </p:sp>
      <p:sp>
        <p:nvSpPr>
          <p:cNvPr id="73" name="Shape 71"/>
          <p:cNvSpPr/>
          <p:nvPr/>
        </p:nvSpPr>
        <p:spPr>
          <a:xfrm>
            <a:off x="3136392" y="3218688"/>
            <a:ext cx="2807208" cy="1444752"/>
          </a:xfrm>
          <a:prstGeom prst="rect">
            <a:avLst/>
          </a:prstGeom>
          <a:solidFill>
            <a:srgbClr val="FFFFFF"/>
          </a:solidFill>
          <a:ln/>
          <a:effectLst>
            <a:outerShdw blurRad="101600" dist="38100" dir="8100000" algn="bl" rotWithShape="0">
              <a:srgbClr val="000000">
                <a:alpha val="12000"/>
              </a:srgbClr>
            </a:outerShdw>
          </a:effectLst>
        </p:spPr>
      </p:sp>
      <p:sp>
        <p:nvSpPr>
          <p:cNvPr id="74" name="Shape 72"/>
          <p:cNvSpPr/>
          <p:nvPr/>
        </p:nvSpPr>
        <p:spPr>
          <a:xfrm>
            <a:off x="3136392" y="3218688"/>
            <a:ext cx="2807208" cy="274320"/>
          </a:xfrm>
          <a:prstGeom prst="rect">
            <a:avLst/>
          </a:prstGeom>
          <a:solidFill>
            <a:srgbClr val="FFF3E0"/>
          </a:solidFill>
          <a:ln/>
        </p:spPr>
      </p:sp>
      <p:sp>
        <p:nvSpPr>
          <p:cNvPr id="75" name="Shape 73"/>
          <p:cNvSpPr/>
          <p:nvPr/>
        </p:nvSpPr>
        <p:spPr>
          <a:xfrm>
            <a:off x="3136392" y="3218688"/>
            <a:ext cx="64008" cy="1444752"/>
          </a:xfrm>
          <a:prstGeom prst="rect">
            <a:avLst/>
          </a:prstGeom>
          <a:solidFill>
            <a:srgbClr val="E67E22"/>
          </a:solidFill>
          <a:ln/>
        </p:spPr>
      </p:sp>
      <p:sp>
        <p:nvSpPr>
          <p:cNvPr id="76" name="Text 74"/>
          <p:cNvSpPr/>
          <p:nvPr/>
        </p:nvSpPr>
        <p:spPr>
          <a:xfrm>
            <a:off x="3264408" y="3218688"/>
            <a:ext cx="2642616" cy="274320"/>
          </a:xfrm>
          <a:prstGeom prst="rect">
            <a:avLst/>
          </a:prstGeom>
          <a:noFill/>
          <a:ln/>
        </p:spPr>
        <p:txBody>
          <a:bodyPr wrap="square" rtlCol="0" anchor="ctr"/>
          <a:lstStyle/>
          <a:p>
            <a:pPr marL="0" indent="0">
              <a:buNone/>
            </a:pPr>
            <a:r>
              <a:rPr lang="en-US" sz="850" b="1" dirty="0">
                <a:solidFill>
                  <a:srgbClr val="E67E22"/>
                </a:solidFill>
                <a:latin typeface="Calibri" pitchFamily="34" charset="0"/>
                <a:ea typeface="Calibri" pitchFamily="34" charset="-122"/>
                <a:cs typeface="Calibri" pitchFamily="34" charset="-120"/>
              </a:rPr>
              <a:t>Date Pool  (WFD_AttDate1–5)</a:t>
            </a:r>
            <a:endParaRPr lang="en-US" sz="850" dirty="0"/>
          </a:p>
        </p:txBody>
      </p:sp>
      <p:sp>
        <p:nvSpPr>
          <p:cNvPr id="77" name="Text 75"/>
          <p:cNvSpPr/>
          <p:nvPr/>
        </p:nvSpPr>
        <p:spPr>
          <a:xfrm>
            <a:off x="3264408" y="3538728"/>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WFD_AttDate1</a:t>
            </a:r>
            <a:endParaRPr lang="en-US" sz="720" dirty="0"/>
          </a:p>
        </p:txBody>
      </p:sp>
      <p:sp>
        <p:nvSpPr>
          <p:cNvPr id="78" name="Shape 76"/>
          <p:cNvSpPr/>
          <p:nvPr/>
        </p:nvSpPr>
        <p:spPr>
          <a:xfrm>
            <a:off x="4489704" y="3557016"/>
            <a:ext cx="621792" cy="155448"/>
          </a:xfrm>
          <a:prstGeom prst="rect">
            <a:avLst/>
          </a:prstGeom>
          <a:solidFill>
            <a:srgbClr val="FFF3E0"/>
          </a:solidFill>
          <a:ln/>
        </p:spPr>
      </p:sp>
      <p:sp>
        <p:nvSpPr>
          <p:cNvPr id="79" name="Text 77"/>
          <p:cNvSpPr/>
          <p:nvPr/>
        </p:nvSpPr>
        <p:spPr>
          <a:xfrm>
            <a:off x="4489704" y="3538728"/>
            <a:ext cx="1389888" cy="192024"/>
          </a:xfrm>
          <a:prstGeom prst="rect">
            <a:avLst/>
          </a:prstGeom>
          <a:noFill/>
          <a:ln/>
        </p:spPr>
        <p:txBody>
          <a:bodyPr wrap="square" rtlCol="0" anchor="ctr"/>
          <a:lstStyle/>
          <a:p>
            <a:pPr marL="0" indent="0" algn="l">
              <a:buNone/>
            </a:pPr>
            <a:r>
              <a:rPr lang="en-US" sz="620" dirty="0">
                <a:solidFill>
                  <a:srgbClr val="E67E22"/>
                </a:solidFill>
                <a:latin typeface="Calibri" pitchFamily="34" charset="0"/>
                <a:ea typeface="Calibri" pitchFamily="34" charset="-122"/>
                <a:cs typeface="Calibri" pitchFamily="34" charset="-120"/>
              </a:rPr>
              <a:t>DATETIME</a:t>
            </a:r>
            <a:endParaRPr lang="en-US" sz="620" dirty="0"/>
          </a:p>
        </p:txBody>
      </p:sp>
      <p:sp>
        <p:nvSpPr>
          <p:cNvPr id="80" name="Text 78"/>
          <p:cNvSpPr/>
          <p:nvPr/>
        </p:nvSpPr>
        <p:spPr>
          <a:xfrm>
            <a:off x="3264408" y="3753612"/>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WFD_AttDate2</a:t>
            </a:r>
            <a:endParaRPr lang="en-US" sz="720" dirty="0"/>
          </a:p>
        </p:txBody>
      </p:sp>
      <p:sp>
        <p:nvSpPr>
          <p:cNvPr id="81" name="Shape 79"/>
          <p:cNvSpPr/>
          <p:nvPr/>
        </p:nvSpPr>
        <p:spPr>
          <a:xfrm>
            <a:off x="4489704" y="3771900"/>
            <a:ext cx="621792" cy="155448"/>
          </a:xfrm>
          <a:prstGeom prst="rect">
            <a:avLst/>
          </a:prstGeom>
          <a:solidFill>
            <a:srgbClr val="FFF3E0"/>
          </a:solidFill>
          <a:ln/>
        </p:spPr>
      </p:sp>
      <p:sp>
        <p:nvSpPr>
          <p:cNvPr id="82" name="Text 80"/>
          <p:cNvSpPr/>
          <p:nvPr/>
        </p:nvSpPr>
        <p:spPr>
          <a:xfrm>
            <a:off x="4489704" y="3753612"/>
            <a:ext cx="1389888" cy="192024"/>
          </a:xfrm>
          <a:prstGeom prst="rect">
            <a:avLst/>
          </a:prstGeom>
          <a:noFill/>
          <a:ln/>
        </p:spPr>
        <p:txBody>
          <a:bodyPr wrap="square" rtlCol="0" anchor="ctr"/>
          <a:lstStyle/>
          <a:p>
            <a:pPr marL="0" indent="0" algn="l">
              <a:buNone/>
            </a:pPr>
            <a:r>
              <a:rPr lang="en-US" sz="620" dirty="0">
                <a:solidFill>
                  <a:srgbClr val="E67E22"/>
                </a:solidFill>
                <a:latin typeface="Calibri" pitchFamily="34" charset="0"/>
                <a:ea typeface="Calibri" pitchFamily="34" charset="-122"/>
                <a:cs typeface="Calibri" pitchFamily="34" charset="-120"/>
              </a:rPr>
              <a:t>DATETIME</a:t>
            </a:r>
            <a:endParaRPr lang="en-US" sz="620" dirty="0"/>
          </a:p>
        </p:txBody>
      </p:sp>
      <p:sp>
        <p:nvSpPr>
          <p:cNvPr id="83" name="Text 81"/>
          <p:cNvSpPr/>
          <p:nvPr/>
        </p:nvSpPr>
        <p:spPr>
          <a:xfrm>
            <a:off x="3264408" y="3968496"/>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WFD_AttDate3..5</a:t>
            </a:r>
            <a:endParaRPr lang="en-US" sz="720" dirty="0"/>
          </a:p>
        </p:txBody>
      </p:sp>
      <p:sp>
        <p:nvSpPr>
          <p:cNvPr id="84" name="Shape 82"/>
          <p:cNvSpPr/>
          <p:nvPr/>
        </p:nvSpPr>
        <p:spPr>
          <a:xfrm>
            <a:off x="4489704" y="3986784"/>
            <a:ext cx="621792" cy="155448"/>
          </a:xfrm>
          <a:prstGeom prst="rect">
            <a:avLst/>
          </a:prstGeom>
          <a:solidFill>
            <a:srgbClr val="FFF3E0"/>
          </a:solidFill>
          <a:ln/>
        </p:spPr>
      </p:sp>
      <p:sp>
        <p:nvSpPr>
          <p:cNvPr id="85" name="Text 83"/>
          <p:cNvSpPr/>
          <p:nvPr/>
        </p:nvSpPr>
        <p:spPr>
          <a:xfrm>
            <a:off x="4489704" y="3968496"/>
            <a:ext cx="1389888" cy="192024"/>
          </a:xfrm>
          <a:prstGeom prst="rect">
            <a:avLst/>
          </a:prstGeom>
          <a:noFill/>
          <a:ln/>
        </p:spPr>
        <p:txBody>
          <a:bodyPr wrap="square" rtlCol="0" anchor="ctr"/>
          <a:lstStyle/>
          <a:p>
            <a:pPr marL="0" indent="0" algn="l">
              <a:buNone/>
            </a:pPr>
            <a:r>
              <a:rPr lang="en-US" sz="620" dirty="0">
                <a:solidFill>
                  <a:srgbClr val="E67E22"/>
                </a:solidFill>
                <a:latin typeface="Calibri" pitchFamily="34" charset="0"/>
                <a:ea typeface="Calibri" pitchFamily="34" charset="-122"/>
                <a:cs typeface="Calibri" pitchFamily="34" charset="-120"/>
              </a:rPr>
              <a:t>DATETIME</a:t>
            </a:r>
            <a:endParaRPr lang="en-US" sz="620" dirty="0"/>
          </a:p>
        </p:txBody>
      </p:sp>
      <p:sp>
        <p:nvSpPr>
          <p:cNvPr id="86" name="Shape 84"/>
          <p:cNvSpPr/>
          <p:nvPr/>
        </p:nvSpPr>
        <p:spPr>
          <a:xfrm>
            <a:off x="5998464" y="3218688"/>
            <a:ext cx="2807208" cy="1444752"/>
          </a:xfrm>
          <a:prstGeom prst="rect">
            <a:avLst/>
          </a:prstGeom>
          <a:solidFill>
            <a:srgbClr val="FFFFFF"/>
          </a:solidFill>
          <a:ln/>
          <a:effectLst>
            <a:outerShdw blurRad="101600" dist="38100" dir="8100000" algn="bl" rotWithShape="0">
              <a:srgbClr val="000000">
                <a:alpha val="12000"/>
              </a:srgbClr>
            </a:outerShdw>
          </a:effectLst>
        </p:spPr>
      </p:sp>
      <p:sp>
        <p:nvSpPr>
          <p:cNvPr id="87" name="Shape 85"/>
          <p:cNvSpPr/>
          <p:nvPr/>
        </p:nvSpPr>
        <p:spPr>
          <a:xfrm>
            <a:off x="5998464" y="3218688"/>
            <a:ext cx="2807208" cy="274320"/>
          </a:xfrm>
          <a:prstGeom prst="rect">
            <a:avLst/>
          </a:prstGeom>
          <a:solidFill>
            <a:srgbClr val="E0F2F1"/>
          </a:solidFill>
          <a:ln/>
        </p:spPr>
      </p:sp>
      <p:sp>
        <p:nvSpPr>
          <p:cNvPr id="88" name="Shape 86"/>
          <p:cNvSpPr/>
          <p:nvPr/>
        </p:nvSpPr>
        <p:spPr>
          <a:xfrm>
            <a:off x="5998464" y="3218688"/>
            <a:ext cx="64008" cy="1444752"/>
          </a:xfrm>
          <a:prstGeom prst="rect">
            <a:avLst/>
          </a:prstGeom>
          <a:solidFill>
            <a:srgbClr val="006D77"/>
          </a:solidFill>
          <a:ln/>
        </p:spPr>
      </p:sp>
      <p:sp>
        <p:nvSpPr>
          <p:cNvPr id="89" name="Text 87"/>
          <p:cNvSpPr/>
          <p:nvPr/>
        </p:nvSpPr>
        <p:spPr>
          <a:xfrm>
            <a:off x="6126480" y="3218688"/>
            <a:ext cx="2642616" cy="274320"/>
          </a:xfrm>
          <a:prstGeom prst="rect">
            <a:avLst/>
          </a:prstGeom>
          <a:noFill/>
          <a:ln/>
        </p:spPr>
        <p:txBody>
          <a:bodyPr wrap="square" rtlCol="0" anchor="ctr"/>
          <a:lstStyle/>
          <a:p>
            <a:pPr marL="0" indent="0">
              <a:buNone/>
            </a:pPr>
            <a:r>
              <a:rPr lang="en-US" sz="850" b="1" dirty="0">
                <a:solidFill>
                  <a:srgbClr val="006D77"/>
                </a:solidFill>
                <a:latin typeface="Calibri" pitchFamily="34" charset="0"/>
                <a:ea typeface="Calibri" pitchFamily="34" charset="-122"/>
                <a:cs typeface="Calibri" pitchFamily="34" charset="-120"/>
              </a:rPr>
              <a:t>People Pool  (WFD_AttPeople1–5)</a:t>
            </a:r>
            <a:endParaRPr lang="en-US" sz="850" dirty="0"/>
          </a:p>
        </p:txBody>
      </p:sp>
      <p:sp>
        <p:nvSpPr>
          <p:cNvPr id="90" name="Text 88"/>
          <p:cNvSpPr/>
          <p:nvPr/>
        </p:nvSpPr>
        <p:spPr>
          <a:xfrm>
            <a:off x="6126480" y="3538728"/>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WFD_AttPeople1</a:t>
            </a:r>
            <a:endParaRPr lang="en-US" sz="720" dirty="0"/>
          </a:p>
        </p:txBody>
      </p:sp>
      <p:sp>
        <p:nvSpPr>
          <p:cNvPr id="91" name="Shape 89"/>
          <p:cNvSpPr/>
          <p:nvPr/>
        </p:nvSpPr>
        <p:spPr>
          <a:xfrm>
            <a:off x="7351776" y="3557016"/>
            <a:ext cx="621792" cy="155448"/>
          </a:xfrm>
          <a:prstGeom prst="rect">
            <a:avLst/>
          </a:prstGeom>
          <a:solidFill>
            <a:srgbClr val="E0F2F1"/>
          </a:solidFill>
          <a:ln/>
        </p:spPr>
      </p:sp>
      <p:sp>
        <p:nvSpPr>
          <p:cNvPr id="92" name="Text 90"/>
          <p:cNvSpPr/>
          <p:nvPr/>
        </p:nvSpPr>
        <p:spPr>
          <a:xfrm>
            <a:off x="7351776" y="3538728"/>
            <a:ext cx="1389888" cy="192024"/>
          </a:xfrm>
          <a:prstGeom prst="rect">
            <a:avLst/>
          </a:prstGeom>
          <a:noFill/>
          <a:ln/>
        </p:spPr>
        <p:txBody>
          <a:bodyPr wrap="square" rtlCol="0" anchor="ctr"/>
          <a:lstStyle/>
          <a:p>
            <a:pPr marL="0" indent="0" algn="l">
              <a:buNone/>
            </a:pPr>
            <a:r>
              <a:rPr lang="en-US" sz="620" dirty="0">
                <a:solidFill>
                  <a:srgbClr val="006D77"/>
                </a:solidFill>
                <a:latin typeface="Calibri" pitchFamily="34" charset="0"/>
                <a:ea typeface="Calibri" pitchFamily="34" charset="-122"/>
                <a:cs typeface="Calibri" pitchFamily="34" charset="-120"/>
              </a:rPr>
              <a:t>NVARCHAR(100)</a:t>
            </a:r>
            <a:endParaRPr lang="en-US" sz="620" dirty="0"/>
          </a:p>
        </p:txBody>
      </p:sp>
      <p:sp>
        <p:nvSpPr>
          <p:cNvPr id="93" name="Text 91"/>
          <p:cNvSpPr/>
          <p:nvPr/>
        </p:nvSpPr>
        <p:spPr>
          <a:xfrm>
            <a:off x="6126480" y="3753612"/>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WFD_AttPeople2</a:t>
            </a:r>
            <a:endParaRPr lang="en-US" sz="720" dirty="0"/>
          </a:p>
        </p:txBody>
      </p:sp>
      <p:sp>
        <p:nvSpPr>
          <p:cNvPr id="94" name="Shape 92"/>
          <p:cNvSpPr/>
          <p:nvPr/>
        </p:nvSpPr>
        <p:spPr>
          <a:xfrm>
            <a:off x="7351776" y="3771900"/>
            <a:ext cx="621792" cy="155448"/>
          </a:xfrm>
          <a:prstGeom prst="rect">
            <a:avLst/>
          </a:prstGeom>
          <a:solidFill>
            <a:srgbClr val="E0F2F1"/>
          </a:solidFill>
          <a:ln/>
        </p:spPr>
      </p:sp>
      <p:sp>
        <p:nvSpPr>
          <p:cNvPr id="95" name="Text 93"/>
          <p:cNvSpPr/>
          <p:nvPr/>
        </p:nvSpPr>
        <p:spPr>
          <a:xfrm>
            <a:off x="7351776" y="3753612"/>
            <a:ext cx="1389888" cy="192024"/>
          </a:xfrm>
          <a:prstGeom prst="rect">
            <a:avLst/>
          </a:prstGeom>
          <a:noFill/>
          <a:ln/>
        </p:spPr>
        <p:txBody>
          <a:bodyPr wrap="square" rtlCol="0" anchor="ctr"/>
          <a:lstStyle/>
          <a:p>
            <a:pPr marL="0" indent="0" algn="l">
              <a:buNone/>
            </a:pPr>
            <a:r>
              <a:rPr lang="en-US" sz="620" dirty="0">
                <a:solidFill>
                  <a:srgbClr val="006D77"/>
                </a:solidFill>
                <a:latin typeface="Calibri" pitchFamily="34" charset="0"/>
                <a:ea typeface="Calibri" pitchFamily="34" charset="-122"/>
                <a:cs typeface="Calibri" pitchFamily="34" charset="-120"/>
              </a:rPr>
              <a:t>NVARCHAR(100)</a:t>
            </a:r>
            <a:endParaRPr lang="en-US" sz="620" dirty="0"/>
          </a:p>
        </p:txBody>
      </p:sp>
      <p:sp>
        <p:nvSpPr>
          <p:cNvPr id="96" name="Text 94"/>
          <p:cNvSpPr/>
          <p:nvPr/>
        </p:nvSpPr>
        <p:spPr>
          <a:xfrm>
            <a:off x="6126480" y="3968496"/>
            <a:ext cx="1207008" cy="192024"/>
          </a:xfrm>
          <a:prstGeom prst="rect">
            <a:avLst/>
          </a:prstGeom>
          <a:noFill/>
          <a:ln/>
        </p:spPr>
        <p:txBody>
          <a:bodyPr wrap="square" rtlCol="0" anchor="ctr"/>
          <a:lstStyle/>
          <a:p>
            <a:pPr marL="0" indent="0">
              <a:buNone/>
            </a:pPr>
            <a:r>
              <a:rPr lang="en-US" sz="720" dirty="0">
                <a:solidFill>
                  <a:srgbClr val="1A3A5C"/>
                </a:solidFill>
                <a:latin typeface="Consolas" pitchFamily="34" charset="0"/>
                <a:ea typeface="Consolas" pitchFamily="34" charset="-122"/>
                <a:cs typeface="Consolas" pitchFamily="34" charset="-120"/>
              </a:rPr>
              <a:t>WFD_AttPeople3..5</a:t>
            </a:r>
            <a:endParaRPr lang="en-US" sz="720" dirty="0"/>
          </a:p>
        </p:txBody>
      </p:sp>
      <p:sp>
        <p:nvSpPr>
          <p:cNvPr id="97" name="Shape 95"/>
          <p:cNvSpPr/>
          <p:nvPr/>
        </p:nvSpPr>
        <p:spPr>
          <a:xfrm>
            <a:off x="7351776" y="3986784"/>
            <a:ext cx="621792" cy="155448"/>
          </a:xfrm>
          <a:prstGeom prst="rect">
            <a:avLst/>
          </a:prstGeom>
          <a:solidFill>
            <a:srgbClr val="E0F2F1"/>
          </a:solidFill>
          <a:ln/>
        </p:spPr>
      </p:sp>
      <p:sp>
        <p:nvSpPr>
          <p:cNvPr id="98" name="Text 96"/>
          <p:cNvSpPr/>
          <p:nvPr/>
        </p:nvSpPr>
        <p:spPr>
          <a:xfrm>
            <a:off x="7351776" y="3968496"/>
            <a:ext cx="1389888" cy="192024"/>
          </a:xfrm>
          <a:prstGeom prst="rect">
            <a:avLst/>
          </a:prstGeom>
          <a:noFill/>
          <a:ln/>
        </p:spPr>
        <p:txBody>
          <a:bodyPr wrap="square" rtlCol="0" anchor="ctr"/>
          <a:lstStyle/>
          <a:p>
            <a:pPr marL="0" indent="0" algn="l">
              <a:buNone/>
            </a:pPr>
            <a:r>
              <a:rPr lang="en-US" sz="620" dirty="0">
                <a:solidFill>
                  <a:srgbClr val="006D77"/>
                </a:solidFill>
                <a:latin typeface="Calibri" pitchFamily="34" charset="0"/>
                <a:ea typeface="Calibri" pitchFamily="34" charset="-122"/>
                <a:cs typeface="Calibri" pitchFamily="34" charset="-120"/>
              </a:rPr>
              <a:t>NVARCHAR(100)</a:t>
            </a:r>
            <a:endParaRPr lang="en-US" sz="620" dirty="0"/>
          </a:p>
        </p:txBody>
      </p:sp>
      <p:sp>
        <p:nvSpPr>
          <p:cNvPr id="99" name="Text 97"/>
          <p:cNvSpPr/>
          <p:nvPr/>
        </p:nvSpPr>
        <p:spPr>
          <a:xfrm>
            <a:off x="274320" y="4754880"/>
            <a:ext cx="8595360" cy="256032"/>
          </a:xfrm>
          <a:prstGeom prst="rect">
            <a:avLst/>
          </a:prstGeom>
          <a:noFill/>
          <a:ln/>
        </p:spPr>
        <p:txBody>
          <a:bodyPr wrap="square" rtlCol="0" anchor="ctr"/>
          <a:lstStyle/>
          <a:p>
            <a:pPr marL="0" indent="0">
              <a:buNone/>
            </a:pPr>
            <a:r>
              <a:rPr lang="en-US" sz="900" i="1" dirty="0">
                <a:solidFill>
                  <a:srgbClr val="C0392B"/>
                </a:solidFill>
                <a:latin typeface="Calibri" pitchFamily="34" charset="0"/>
                <a:ea typeface="Calibri" pitchFamily="34" charset="-122"/>
                <a:cs typeface="Calibri" pitchFamily="34" charset="-120"/>
              </a:rPr>
              <a:t>🔴  Columns marked red are shared pool slots that carry PII in HR/Payroll but harmless data in IT/Procurement — this shared-column design is the core Schrems II challenge.</a:t>
            </a:r>
            <a:endParaRPr lang="en-US" sz="900" dirty="0"/>
          </a:p>
        </p:txBody>
      </p:sp>
      <p:sp>
        <p:nvSpPr>
          <p:cNvPr id="100" name="Shape 98"/>
          <p:cNvSpPr/>
          <p:nvPr/>
        </p:nvSpPr>
        <p:spPr>
          <a:xfrm>
            <a:off x="0" y="4828032"/>
            <a:ext cx="9144000" cy="315468"/>
          </a:xfrm>
          <a:prstGeom prst="rect">
            <a:avLst/>
          </a:prstGeom>
          <a:solidFill>
            <a:srgbClr val="009B9E"/>
          </a:solidFill>
          <a:ln/>
        </p:spPr>
      </p:sp>
      <p:sp>
        <p:nvSpPr>
          <p:cNvPr id="101" name="Text 99"/>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102" name="Shape 100"/>
          <p:cNvSpPr/>
          <p:nvPr/>
        </p:nvSpPr>
        <p:spPr>
          <a:xfrm>
            <a:off x="502920" y="4919472"/>
            <a:ext cx="18288" cy="128016"/>
          </a:xfrm>
          <a:prstGeom prst="rect">
            <a:avLst/>
          </a:prstGeom>
          <a:solidFill>
            <a:srgbClr val="FFFFFF"/>
          </a:solidFill>
          <a:ln/>
        </p:spPr>
      </p:sp>
      <p:sp>
        <p:nvSpPr>
          <p:cNvPr id="103" name="Text 101"/>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104" name="Text 102"/>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1976D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WFElements  —  COLUMN POOL MAPPING ACROSS PROCESSES</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Same Physical Column — Four Different Meanings Across Four Applications</a:t>
            </a:r>
            <a:endParaRPr lang="en-US" sz="1500" dirty="0"/>
          </a:p>
        </p:txBody>
      </p:sp>
      <p:sp>
        <p:nvSpPr>
          <p:cNvPr id="6" name="Shape 4"/>
          <p:cNvSpPr/>
          <p:nvPr/>
        </p:nvSpPr>
        <p:spPr>
          <a:xfrm>
            <a:off x="274320" y="1188720"/>
            <a:ext cx="2103120" cy="475488"/>
          </a:xfrm>
          <a:prstGeom prst="rect">
            <a:avLst/>
          </a:prstGeom>
          <a:solidFill>
            <a:srgbClr val="B71C1C"/>
          </a:solidFill>
          <a:ln/>
        </p:spPr>
      </p:sp>
      <p:sp>
        <p:nvSpPr>
          <p:cNvPr id="7" name="Text 5"/>
          <p:cNvSpPr/>
          <p:nvPr/>
        </p:nvSpPr>
        <p:spPr>
          <a:xfrm>
            <a:off x="329184" y="1188720"/>
            <a:ext cx="2011680" cy="256032"/>
          </a:xfrm>
          <a:prstGeom prst="rect">
            <a:avLst/>
          </a:prstGeom>
          <a:noFill/>
          <a:ln/>
        </p:spPr>
        <p:txBody>
          <a:bodyPr wrap="square"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HR Suite</a:t>
            </a:r>
            <a:endParaRPr lang="en-US" sz="1050" dirty="0"/>
          </a:p>
        </p:txBody>
      </p:sp>
      <p:sp>
        <p:nvSpPr>
          <p:cNvPr id="8" name="Text 6"/>
          <p:cNvSpPr/>
          <p:nvPr/>
        </p:nvSpPr>
        <p:spPr>
          <a:xfrm>
            <a:off x="329184" y="1417320"/>
            <a:ext cx="2011680" cy="201168"/>
          </a:xfrm>
          <a:prstGeom prst="rect">
            <a:avLst/>
          </a:prstGeom>
          <a:noFill/>
          <a:ln/>
        </p:spPr>
        <p:txBody>
          <a:bodyPr wrap="square" rtlCol="0" anchor="ctr"/>
          <a:lstStyle/>
          <a:p>
            <a:pPr marL="0" indent="0">
              <a:buNone/>
            </a:pPr>
            <a:r>
              <a:rPr lang="en-US" sz="850" dirty="0">
                <a:solidFill>
                  <a:srgbClr val="007A7D"/>
                </a:solidFill>
                <a:latin typeface="Calibri" pitchFamily="34" charset="0"/>
                <a:ea typeface="Calibri" pitchFamily="34" charset="-122"/>
                <a:cs typeface="Calibri" pitchFamily="34" charset="-120"/>
              </a:rPr>
              <a:t>FormType 101</a:t>
            </a:r>
            <a:endParaRPr lang="en-US" sz="850" dirty="0"/>
          </a:p>
        </p:txBody>
      </p:sp>
      <p:sp>
        <p:nvSpPr>
          <p:cNvPr id="9" name="Shape 7"/>
          <p:cNvSpPr/>
          <p:nvPr/>
        </p:nvSpPr>
        <p:spPr>
          <a:xfrm>
            <a:off x="274320" y="1700784"/>
            <a:ext cx="2103120" cy="301752"/>
          </a:xfrm>
          <a:prstGeom prst="rect">
            <a:avLst/>
          </a:prstGeom>
          <a:solidFill>
            <a:srgbClr val="FFFFFF"/>
          </a:solidFill>
          <a:ln w="3810">
            <a:solidFill>
              <a:srgbClr val="E8E8E8"/>
            </a:solidFill>
            <a:prstDash val="solid"/>
          </a:ln>
        </p:spPr>
      </p:sp>
      <p:sp>
        <p:nvSpPr>
          <p:cNvPr id="10" name="Text 8"/>
          <p:cNvSpPr/>
          <p:nvPr/>
        </p:nvSpPr>
        <p:spPr>
          <a:xfrm>
            <a:off x="329184" y="170992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11" name="Text 9"/>
          <p:cNvSpPr/>
          <p:nvPr/>
        </p:nvSpPr>
        <p:spPr>
          <a:xfrm>
            <a:off x="329184" y="1856232"/>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RequestType</a:t>
            </a:r>
            <a:endParaRPr lang="en-US" sz="720" dirty="0"/>
          </a:p>
        </p:txBody>
      </p:sp>
      <p:sp>
        <p:nvSpPr>
          <p:cNvPr id="12" name="Shape 10"/>
          <p:cNvSpPr/>
          <p:nvPr/>
        </p:nvSpPr>
        <p:spPr>
          <a:xfrm>
            <a:off x="274320" y="2029968"/>
            <a:ext cx="2103120" cy="301752"/>
          </a:xfrm>
          <a:prstGeom prst="rect">
            <a:avLst/>
          </a:prstGeom>
          <a:solidFill>
            <a:srgbClr val="FFF0F0"/>
          </a:solidFill>
          <a:ln w="3810">
            <a:solidFill>
              <a:srgbClr val="E8E8E8"/>
            </a:solidFill>
            <a:prstDash val="solid"/>
          </a:ln>
        </p:spPr>
      </p:sp>
      <p:sp>
        <p:nvSpPr>
          <p:cNvPr id="13" name="Text 11"/>
          <p:cNvSpPr/>
          <p:nvPr/>
        </p:nvSpPr>
        <p:spPr>
          <a:xfrm>
            <a:off x="329184" y="203911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14" name="Text 12"/>
          <p:cNvSpPr/>
          <p:nvPr/>
        </p:nvSpPr>
        <p:spPr>
          <a:xfrm>
            <a:off x="329184" y="2185416"/>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Full Name 🔴</a:t>
            </a:r>
            <a:endParaRPr lang="en-US" sz="720" dirty="0"/>
          </a:p>
        </p:txBody>
      </p:sp>
      <p:sp>
        <p:nvSpPr>
          <p:cNvPr id="15" name="Shape 13"/>
          <p:cNvSpPr/>
          <p:nvPr/>
        </p:nvSpPr>
        <p:spPr>
          <a:xfrm>
            <a:off x="274320" y="2359152"/>
            <a:ext cx="2103120" cy="301752"/>
          </a:xfrm>
          <a:prstGeom prst="rect">
            <a:avLst/>
          </a:prstGeom>
          <a:solidFill>
            <a:srgbClr val="FFF0F0"/>
          </a:solidFill>
          <a:ln w="3810">
            <a:solidFill>
              <a:srgbClr val="E8E8E8"/>
            </a:solidFill>
            <a:prstDash val="solid"/>
          </a:ln>
        </p:spPr>
      </p:sp>
      <p:sp>
        <p:nvSpPr>
          <p:cNvPr id="16" name="Text 14"/>
          <p:cNvSpPr/>
          <p:nvPr/>
        </p:nvSpPr>
        <p:spPr>
          <a:xfrm>
            <a:off x="329184" y="236829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17" name="Text 15"/>
          <p:cNvSpPr/>
          <p:nvPr/>
        </p:nvSpPr>
        <p:spPr>
          <a:xfrm>
            <a:off x="329184" y="2514600"/>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Medical Reason 🔴</a:t>
            </a:r>
            <a:endParaRPr lang="en-US" sz="720" dirty="0"/>
          </a:p>
        </p:txBody>
      </p:sp>
      <p:sp>
        <p:nvSpPr>
          <p:cNvPr id="18" name="Shape 16"/>
          <p:cNvSpPr/>
          <p:nvPr/>
        </p:nvSpPr>
        <p:spPr>
          <a:xfrm>
            <a:off x="274320" y="2688336"/>
            <a:ext cx="2103120" cy="301752"/>
          </a:xfrm>
          <a:prstGeom prst="rect">
            <a:avLst/>
          </a:prstGeom>
          <a:solidFill>
            <a:srgbClr val="FFF0F0"/>
          </a:solidFill>
          <a:ln w="3810">
            <a:solidFill>
              <a:srgbClr val="E8E8E8"/>
            </a:solidFill>
            <a:prstDash val="solid"/>
          </a:ln>
        </p:spPr>
      </p:sp>
      <p:sp>
        <p:nvSpPr>
          <p:cNvPr id="19" name="Text 17"/>
          <p:cNvSpPr/>
          <p:nvPr/>
        </p:nvSpPr>
        <p:spPr>
          <a:xfrm>
            <a:off x="329184" y="2697480"/>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WFD_AttText4</a:t>
            </a:r>
            <a:endParaRPr lang="en-US" sz="680" dirty="0"/>
          </a:p>
        </p:txBody>
      </p:sp>
      <p:sp>
        <p:nvSpPr>
          <p:cNvPr id="20" name="Text 18"/>
          <p:cNvSpPr/>
          <p:nvPr/>
        </p:nvSpPr>
        <p:spPr>
          <a:xfrm>
            <a:off x="329184" y="2843784"/>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Email 🔴</a:t>
            </a:r>
            <a:endParaRPr lang="en-US" sz="720" dirty="0"/>
          </a:p>
        </p:txBody>
      </p:sp>
      <p:sp>
        <p:nvSpPr>
          <p:cNvPr id="21" name="Shape 19"/>
          <p:cNvSpPr/>
          <p:nvPr/>
        </p:nvSpPr>
        <p:spPr>
          <a:xfrm>
            <a:off x="274320" y="3017520"/>
            <a:ext cx="2103120" cy="301752"/>
          </a:xfrm>
          <a:prstGeom prst="rect">
            <a:avLst/>
          </a:prstGeom>
          <a:solidFill>
            <a:srgbClr val="FFF0F0"/>
          </a:solidFill>
          <a:ln w="3810">
            <a:solidFill>
              <a:srgbClr val="E8E8E8"/>
            </a:solidFill>
            <a:prstDash val="solid"/>
          </a:ln>
        </p:spPr>
      </p:sp>
      <p:sp>
        <p:nvSpPr>
          <p:cNvPr id="22" name="Text 20"/>
          <p:cNvSpPr/>
          <p:nvPr/>
        </p:nvSpPr>
        <p:spPr>
          <a:xfrm>
            <a:off x="329184" y="3026664"/>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23" name="Text 21"/>
          <p:cNvSpPr/>
          <p:nvPr/>
        </p:nvSpPr>
        <p:spPr>
          <a:xfrm>
            <a:off x="329184" y="3172968"/>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Salary 🔴</a:t>
            </a:r>
            <a:endParaRPr lang="en-US" sz="720" dirty="0"/>
          </a:p>
        </p:txBody>
      </p:sp>
      <p:sp>
        <p:nvSpPr>
          <p:cNvPr id="24" name="Shape 22"/>
          <p:cNvSpPr/>
          <p:nvPr/>
        </p:nvSpPr>
        <p:spPr>
          <a:xfrm>
            <a:off x="274320" y="3346704"/>
            <a:ext cx="2103120" cy="301752"/>
          </a:xfrm>
          <a:prstGeom prst="rect">
            <a:avLst/>
          </a:prstGeom>
          <a:solidFill>
            <a:srgbClr val="FFF0F0"/>
          </a:solidFill>
          <a:ln w="3810">
            <a:solidFill>
              <a:srgbClr val="E8E8E8"/>
            </a:solidFill>
            <a:prstDash val="solid"/>
          </a:ln>
        </p:spPr>
      </p:sp>
      <p:sp>
        <p:nvSpPr>
          <p:cNvPr id="25" name="Text 23"/>
          <p:cNvSpPr/>
          <p:nvPr/>
        </p:nvSpPr>
        <p:spPr>
          <a:xfrm>
            <a:off x="329184" y="335584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WFD_AttLong1</a:t>
            </a:r>
            <a:endParaRPr lang="en-US" sz="680" dirty="0"/>
          </a:p>
        </p:txBody>
      </p:sp>
      <p:sp>
        <p:nvSpPr>
          <p:cNvPr id="26" name="Text 24"/>
          <p:cNvSpPr/>
          <p:nvPr/>
        </p:nvSpPr>
        <p:spPr>
          <a:xfrm>
            <a:off x="329184" y="3502152"/>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Medical Notes 🔴</a:t>
            </a:r>
            <a:endParaRPr lang="en-US" sz="720" dirty="0"/>
          </a:p>
        </p:txBody>
      </p:sp>
      <p:sp>
        <p:nvSpPr>
          <p:cNvPr id="27" name="Shape 25"/>
          <p:cNvSpPr/>
          <p:nvPr/>
        </p:nvSpPr>
        <p:spPr>
          <a:xfrm>
            <a:off x="274320" y="3675888"/>
            <a:ext cx="2103120" cy="301752"/>
          </a:xfrm>
          <a:prstGeom prst="rect">
            <a:avLst/>
          </a:prstGeom>
          <a:solidFill>
            <a:srgbClr val="FFFFFF"/>
          </a:solidFill>
          <a:ln w="3810">
            <a:solidFill>
              <a:srgbClr val="E8E8E8"/>
            </a:solidFill>
            <a:prstDash val="solid"/>
          </a:ln>
        </p:spPr>
      </p:sp>
      <p:sp>
        <p:nvSpPr>
          <p:cNvPr id="28" name="Text 26"/>
          <p:cNvSpPr/>
          <p:nvPr/>
        </p:nvSpPr>
        <p:spPr>
          <a:xfrm>
            <a:off x="329184" y="368503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WFD_AttDate1</a:t>
            </a:r>
            <a:endParaRPr lang="en-US" sz="680" dirty="0"/>
          </a:p>
        </p:txBody>
      </p:sp>
      <p:sp>
        <p:nvSpPr>
          <p:cNvPr id="29" name="Text 27"/>
          <p:cNvSpPr/>
          <p:nvPr/>
        </p:nvSpPr>
        <p:spPr>
          <a:xfrm>
            <a:off x="329184" y="3831336"/>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Leave Start</a:t>
            </a:r>
            <a:endParaRPr lang="en-US" sz="720" dirty="0"/>
          </a:p>
        </p:txBody>
      </p:sp>
      <p:sp>
        <p:nvSpPr>
          <p:cNvPr id="30" name="Shape 28"/>
          <p:cNvSpPr/>
          <p:nvPr/>
        </p:nvSpPr>
        <p:spPr>
          <a:xfrm>
            <a:off x="274320" y="4005072"/>
            <a:ext cx="2103120" cy="301752"/>
          </a:xfrm>
          <a:prstGeom prst="rect">
            <a:avLst/>
          </a:prstGeom>
          <a:solidFill>
            <a:srgbClr val="F7F9FC"/>
          </a:solidFill>
          <a:ln w="3810">
            <a:solidFill>
              <a:srgbClr val="E8E8E8"/>
            </a:solidFill>
            <a:prstDash val="solid"/>
          </a:ln>
        </p:spPr>
      </p:sp>
      <p:sp>
        <p:nvSpPr>
          <p:cNvPr id="31" name="Text 29"/>
          <p:cNvSpPr/>
          <p:nvPr/>
        </p:nvSpPr>
        <p:spPr>
          <a:xfrm>
            <a:off x="329184" y="401421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WFD_AttPeople1</a:t>
            </a:r>
            <a:endParaRPr lang="en-US" sz="680" dirty="0"/>
          </a:p>
        </p:txBody>
      </p:sp>
      <p:sp>
        <p:nvSpPr>
          <p:cNvPr id="32" name="Text 30"/>
          <p:cNvSpPr/>
          <p:nvPr/>
        </p:nvSpPr>
        <p:spPr>
          <a:xfrm>
            <a:off x="329184" y="4160520"/>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Manager Login</a:t>
            </a:r>
            <a:endParaRPr lang="en-US" sz="720" dirty="0"/>
          </a:p>
        </p:txBody>
      </p:sp>
      <p:sp>
        <p:nvSpPr>
          <p:cNvPr id="33" name="Shape 31"/>
          <p:cNvSpPr/>
          <p:nvPr/>
        </p:nvSpPr>
        <p:spPr>
          <a:xfrm>
            <a:off x="2432304" y="1188720"/>
            <a:ext cx="2103120" cy="475488"/>
          </a:xfrm>
          <a:prstGeom prst="rect">
            <a:avLst/>
          </a:prstGeom>
          <a:solidFill>
            <a:srgbClr val="1565C0"/>
          </a:solidFill>
          <a:ln/>
        </p:spPr>
      </p:sp>
      <p:sp>
        <p:nvSpPr>
          <p:cNvPr id="34" name="Text 32"/>
          <p:cNvSpPr/>
          <p:nvPr/>
        </p:nvSpPr>
        <p:spPr>
          <a:xfrm>
            <a:off x="2487168" y="1188720"/>
            <a:ext cx="2011680" cy="256032"/>
          </a:xfrm>
          <a:prstGeom prst="rect">
            <a:avLst/>
          </a:prstGeom>
          <a:noFill/>
          <a:ln/>
        </p:spPr>
        <p:txBody>
          <a:bodyPr wrap="square"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IT Helpdesk</a:t>
            </a:r>
            <a:endParaRPr lang="en-US" sz="1050" dirty="0"/>
          </a:p>
        </p:txBody>
      </p:sp>
      <p:sp>
        <p:nvSpPr>
          <p:cNvPr id="35" name="Text 33"/>
          <p:cNvSpPr/>
          <p:nvPr/>
        </p:nvSpPr>
        <p:spPr>
          <a:xfrm>
            <a:off x="2487168" y="1417320"/>
            <a:ext cx="2011680" cy="201168"/>
          </a:xfrm>
          <a:prstGeom prst="rect">
            <a:avLst/>
          </a:prstGeom>
          <a:noFill/>
          <a:ln/>
        </p:spPr>
        <p:txBody>
          <a:bodyPr wrap="square" rtlCol="0" anchor="ctr"/>
          <a:lstStyle/>
          <a:p>
            <a:pPr marL="0" indent="0">
              <a:buNone/>
            </a:pPr>
            <a:r>
              <a:rPr lang="en-US" sz="850" dirty="0">
                <a:solidFill>
                  <a:srgbClr val="007A7D"/>
                </a:solidFill>
                <a:latin typeface="Calibri" pitchFamily="34" charset="0"/>
                <a:ea typeface="Calibri" pitchFamily="34" charset="-122"/>
                <a:cs typeface="Calibri" pitchFamily="34" charset="-120"/>
              </a:rPr>
              <a:t>FormType 201</a:t>
            </a:r>
            <a:endParaRPr lang="en-US" sz="850" dirty="0"/>
          </a:p>
        </p:txBody>
      </p:sp>
      <p:sp>
        <p:nvSpPr>
          <p:cNvPr id="36" name="Shape 34"/>
          <p:cNvSpPr/>
          <p:nvPr/>
        </p:nvSpPr>
        <p:spPr>
          <a:xfrm>
            <a:off x="2432304" y="1700784"/>
            <a:ext cx="2103120" cy="301752"/>
          </a:xfrm>
          <a:prstGeom prst="rect">
            <a:avLst/>
          </a:prstGeom>
          <a:solidFill>
            <a:srgbClr val="FFFFFF"/>
          </a:solidFill>
          <a:ln w="3810">
            <a:solidFill>
              <a:srgbClr val="E8E8E8"/>
            </a:solidFill>
            <a:prstDash val="solid"/>
          </a:ln>
        </p:spPr>
      </p:sp>
      <p:sp>
        <p:nvSpPr>
          <p:cNvPr id="37" name="Text 35"/>
          <p:cNvSpPr/>
          <p:nvPr/>
        </p:nvSpPr>
        <p:spPr>
          <a:xfrm>
            <a:off x="2487168" y="170992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38" name="Text 36"/>
          <p:cNvSpPr/>
          <p:nvPr/>
        </p:nvSpPr>
        <p:spPr>
          <a:xfrm>
            <a:off x="2487168" y="1856232"/>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Ticket Title</a:t>
            </a:r>
            <a:endParaRPr lang="en-US" sz="720" dirty="0"/>
          </a:p>
        </p:txBody>
      </p:sp>
      <p:sp>
        <p:nvSpPr>
          <p:cNvPr id="39" name="Shape 37"/>
          <p:cNvSpPr/>
          <p:nvPr/>
        </p:nvSpPr>
        <p:spPr>
          <a:xfrm>
            <a:off x="2432304" y="2029968"/>
            <a:ext cx="2103120" cy="301752"/>
          </a:xfrm>
          <a:prstGeom prst="rect">
            <a:avLst/>
          </a:prstGeom>
          <a:solidFill>
            <a:srgbClr val="F7F9FC"/>
          </a:solidFill>
          <a:ln w="3810">
            <a:solidFill>
              <a:srgbClr val="E8E8E8"/>
            </a:solidFill>
            <a:prstDash val="solid"/>
          </a:ln>
        </p:spPr>
      </p:sp>
      <p:sp>
        <p:nvSpPr>
          <p:cNvPr id="40" name="Text 38"/>
          <p:cNvSpPr/>
          <p:nvPr/>
        </p:nvSpPr>
        <p:spPr>
          <a:xfrm>
            <a:off x="2487168" y="203911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41" name="Text 39"/>
          <p:cNvSpPr/>
          <p:nvPr/>
        </p:nvSpPr>
        <p:spPr>
          <a:xfrm>
            <a:off x="2487168" y="2185416"/>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Reporter Name</a:t>
            </a:r>
            <a:endParaRPr lang="en-US" sz="720" dirty="0"/>
          </a:p>
        </p:txBody>
      </p:sp>
      <p:sp>
        <p:nvSpPr>
          <p:cNvPr id="42" name="Shape 40"/>
          <p:cNvSpPr/>
          <p:nvPr/>
        </p:nvSpPr>
        <p:spPr>
          <a:xfrm>
            <a:off x="2432304" y="2359152"/>
            <a:ext cx="2103120" cy="301752"/>
          </a:xfrm>
          <a:prstGeom prst="rect">
            <a:avLst/>
          </a:prstGeom>
          <a:solidFill>
            <a:srgbClr val="FFFFFF"/>
          </a:solidFill>
          <a:ln w="3810">
            <a:solidFill>
              <a:srgbClr val="E8E8E8"/>
            </a:solidFill>
            <a:prstDash val="solid"/>
          </a:ln>
        </p:spPr>
      </p:sp>
      <p:sp>
        <p:nvSpPr>
          <p:cNvPr id="43" name="Text 41"/>
          <p:cNvSpPr/>
          <p:nvPr/>
        </p:nvSpPr>
        <p:spPr>
          <a:xfrm>
            <a:off x="2487168" y="236829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44" name="Text 42"/>
          <p:cNvSpPr/>
          <p:nvPr/>
        </p:nvSpPr>
        <p:spPr>
          <a:xfrm>
            <a:off x="2487168" y="2514600"/>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Category 🟢</a:t>
            </a:r>
            <a:endParaRPr lang="en-US" sz="720" dirty="0"/>
          </a:p>
        </p:txBody>
      </p:sp>
      <p:sp>
        <p:nvSpPr>
          <p:cNvPr id="45" name="Shape 43"/>
          <p:cNvSpPr/>
          <p:nvPr/>
        </p:nvSpPr>
        <p:spPr>
          <a:xfrm>
            <a:off x="2432304" y="2688336"/>
            <a:ext cx="2103120" cy="301752"/>
          </a:xfrm>
          <a:prstGeom prst="rect">
            <a:avLst/>
          </a:prstGeom>
          <a:solidFill>
            <a:srgbClr val="F7F9FC"/>
          </a:solidFill>
          <a:ln w="3810">
            <a:solidFill>
              <a:srgbClr val="E8E8E8"/>
            </a:solidFill>
            <a:prstDash val="solid"/>
          </a:ln>
        </p:spPr>
      </p:sp>
      <p:sp>
        <p:nvSpPr>
          <p:cNvPr id="46" name="Text 44"/>
          <p:cNvSpPr/>
          <p:nvPr/>
        </p:nvSpPr>
        <p:spPr>
          <a:xfrm>
            <a:off x="2487168" y="2697480"/>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WFD_AttText4</a:t>
            </a:r>
            <a:endParaRPr lang="en-US" sz="680" dirty="0"/>
          </a:p>
        </p:txBody>
      </p:sp>
      <p:sp>
        <p:nvSpPr>
          <p:cNvPr id="47" name="Text 45"/>
          <p:cNvSpPr/>
          <p:nvPr/>
        </p:nvSpPr>
        <p:spPr>
          <a:xfrm>
            <a:off x="2487168" y="2843784"/>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Assigned Agent</a:t>
            </a:r>
            <a:endParaRPr lang="en-US" sz="720" dirty="0"/>
          </a:p>
        </p:txBody>
      </p:sp>
      <p:sp>
        <p:nvSpPr>
          <p:cNvPr id="48" name="Shape 46"/>
          <p:cNvSpPr/>
          <p:nvPr/>
        </p:nvSpPr>
        <p:spPr>
          <a:xfrm>
            <a:off x="2432304" y="3017520"/>
            <a:ext cx="2103120" cy="301752"/>
          </a:xfrm>
          <a:prstGeom prst="rect">
            <a:avLst/>
          </a:prstGeom>
          <a:solidFill>
            <a:srgbClr val="FFFFFF"/>
          </a:solidFill>
          <a:ln w="3810">
            <a:solidFill>
              <a:srgbClr val="E8E8E8"/>
            </a:solidFill>
            <a:prstDash val="solid"/>
          </a:ln>
        </p:spPr>
      </p:sp>
      <p:sp>
        <p:nvSpPr>
          <p:cNvPr id="49" name="Text 47"/>
          <p:cNvSpPr/>
          <p:nvPr/>
        </p:nvSpPr>
        <p:spPr>
          <a:xfrm>
            <a:off x="2487168" y="3026664"/>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50" name="Text 48"/>
          <p:cNvSpPr/>
          <p:nvPr/>
        </p:nvSpPr>
        <p:spPr>
          <a:xfrm>
            <a:off x="2487168" y="3172968"/>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Priority Score</a:t>
            </a:r>
            <a:endParaRPr lang="en-US" sz="720" dirty="0"/>
          </a:p>
        </p:txBody>
      </p:sp>
      <p:sp>
        <p:nvSpPr>
          <p:cNvPr id="51" name="Shape 49"/>
          <p:cNvSpPr/>
          <p:nvPr/>
        </p:nvSpPr>
        <p:spPr>
          <a:xfrm>
            <a:off x="2432304" y="3346704"/>
            <a:ext cx="2103120" cy="301752"/>
          </a:xfrm>
          <a:prstGeom prst="rect">
            <a:avLst/>
          </a:prstGeom>
          <a:solidFill>
            <a:srgbClr val="F7F9FC"/>
          </a:solidFill>
          <a:ln w="3810">
            <a:solidFill>
              <a:srgbClr val="E8E8E8"/>
            </a:solidFill>
            <a:prstDash val="solid"/>
          </a:ln>
        </p:spPr>
      </p:sp>
      <p:sp>
        <p:nvSpPr>
          <p:cNvPr id="52" name="Text 50"/>
          <p:cNvSpPr/>
          <p:nvPr/>
        </p:nvSpPr>
        <p:spPr>
          <a:xfrm>
            <a:off x="2487168" y="335584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WFD_AttLong1</a:t>
            </a:r>
            <a:endParaRPr lang="en-US" sz="680" dirty="0"/>
          </a:p>
        </p:txBody>
      </p:sp>
      <p:sp>
        <p:nvSpPr>
          <p:cNvPr id="53" name="Text 51"/>
          <p:cNvSpPr/>
          <p:nvPr/>
        </p:nvSpPr>
        <p:spPr>
          <a:xfrm>
            <a:off x="2487168" y="3502152"/>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Description 🟢</a:t>
            </a:r>
            <a:endParaRPr lang="en-US" sz="720" dirty="0"/>
          </a:p>
        </p:txBody>
      </p:sp>
      <p:sp>
        <p:nvSpPr>
          <p:cNvPr id="54" name="Shape 52"/>
          <p:cNvSpPr/>
          <p:nvPr/>
        </p:nvSpPr>
        <p:spPr>
          <a:xfrm>
            <a:off x="2432304" y="3675888"/>
            <a:ext cx="2103120" cy="301752"/>
          </a:xfrm>
          <a:prstGeom prst="rect">
            <a:avLst/>
          </a:prstGeom>
          <a:solidFill>
            <a:srgbClr val="FFFFFF"/>
          </a:solidFill>
          <a:ln w="3810">
            <a:solidFill>
              <a:srgbClr val="E8E8E8"/>
            </a:solidFill>
            <a:prstDash val="solid"/>
          </a:ln>
        </p:spPr>
      </p:sp>
      <p:sp>
        <p:nvSpPr>
          <p:cNvPr id="55" name="Text 53"/>
          <p:cNvSpPr/>
          <p:nvPr/>
        </p:nvSpPr>
        <p:spPr>
          <a:xfrm>
            <a:off x="2487168" y="368503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WFD_AttDate1</a:t>
            </a:r>
            <a:endParaRPr lang="en-US" sz="680" dirty="0"/>
          </a:p>
        </p:txBody>
      </p:sp>
      <p:sp>
        <p:nvSpPr>
          <p:cNvPr id="56" name="Text 54"/>
          <p:cNvSpPr/>
          <p:nvPr/>
        </p:nvSpPr>
        <p:spPr>
          <a:xfrm>
            <a:off x="2487168" y="3831336"/>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SLA Deadline</a:t>
            </a:r>
            <a:endParaRPr lang="en-US" sz="720" dirty="0"/>
          </a:p>
        </p:txBody>
      </p:sp>
      <p:sp>
        <p:nvSpPr>
          <p:cNvPr id="57" name="Shape 55"/>
          <p:cNvSpPr/>
          <p:nvPr/>
        </p:nvSpPr>
        <p:spPr>
          <a:xfrm>
            <a:off x="2432304" y="4005072"/>
            <a:ext cx="2103120" cy="301752"/>
          </a:xfrm>
          <a:prstGeom prst="rect">
            <a:avLst/>
          </a:prstGeom>
          <a:solidFill>
            <a:srgbClr val="F7F9FC"/>
          </a:solidFill>
          <a:ln w="3810">
            <a:solidFill>
              <a:srgbClr val="E8E8E8"/>
            </a:solidFill>
            <a:prstDash val="solid"/>
          </a:ln>
        </p:spPr>
      </p:sp>
      <p:sp>
        <p:nvSpPr>
          <p:cNvPr id="58" name="Text 56"/>
          <p:cNvSpPr/>
          <p:nvPr/>
        </p:nvSpPr>
        <p:spPr>
          <a:xfrm>
            <a:off x="2487168" y="401421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WFD_AttPeople1</a:t>
            </a:r>
            <a:endParaRPr lang="en-US" sz="680" dirty="0"/>
          </a:p>
        </p:txBody>
      </p:sp>
      <p:sp>
        <p:nvSpPr>
          <p:cNvPr id="59" name="Text 57"/>
          <p:cNvSpPr/>
          <p:nvPr/>
        </p:nvSpPr>
        <p:spPr>
          <a:xfrm>
            <a:off x="2487168" y="4160520"/>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Assignee Login</a:t>
            </a:r>
            <a:endParaRPr lang="en-US" sz="720" dirty="0"/>
          </a:p>
        </p:txBody>
      </p:sp>
      <p:sp>
        <p:nvSpPr>
          <p:cNvPr id="60" name="Shape 58"/>
          <p:cNvSpPr/>
          <p:nvPr/>
        </p:nvSpPr>
        <p:spPr>
          <a:xfrm>
            <a:off x="4590288" y="1188720"/>
            <a:ext cx="2103120" cy="475488"/>
          </a:xfrm>
          <a:prstGeom prst="rect">
            <a:avLst/>
          </a:prstGeom>
          <a:solidFill>
            <a:srgbClr val="1B6B3A"/>
          </a:solidFill>
          <a:ln/>
        </p:spPr>
      </p:sp>
      <p:sp>
        <p:nvSpPr>
          <p:cNvPr id="61" name="Text 59"/>
          <p:cNvSpPr/>
          <p:nvPr/>
        </p:nvSpPr>
        <p:spPr>
          <a:xfrm>
            <a:off x="4645152" y="1188720"/>
            <a:ext cx="2011680" cy="256032"/>
          </a:xfrm>
          <a:prstGeom prst="rect">
            <a:avLst/>
          </a:prstGeom>
          <a:noFill/>
          <a:ln/>
        </p:spPr>
        <p:txBody>
          <a:bodyPr wrap="square"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Procurement</a:t>
            </a:r>
            <a:endParaRPr lang="en-US" sz="1050" dirty="0"/>
          </a:p>
        </p:txBody>
      </p:sp>
      <p:sp>
        <p:nvSpPr>
          <p:cNvPr id="62" name="Text 60"/>
          <p:cNvSpPr/>
          <p:nvPr/>
        </p:nvSpPr>
        <p:spPr>
          <a:xfrm>
            <a:off x="4645152" y="1417320"/>
            <a:ext cx="2011680" cy="201168"/>
          </a:xfrm>
          <a:prstGeom prst="rect">
            <a:avLst/>
          </a:prstGeom>
          <a:noFill/>
          <a:ln/>
        </p:spPr>
        <p:txBody>
          <a:bodyPr wrap="square" rtlCol="0" anchor="ctr"/>
          <a:lstStyle/>
          <a:p>
            <a:pPr marL="0" indent="0">
              <a:buNone/>
            </a:pPr>
            <a:r>
              <a:rPr lang="en-US" sz="850" dirty="0">
                <a:solidFill>
                  <a:srgbClr val="007A7D"/>
                </a:solidFill>
                <a:latin typeface="Calibri" pitchFamily="34" charset="0"/>
                <a:ea typeface="Calibri" pitchFamily="34" charset="-122"/>
                <a:cs typeface="Calibri" pitchFamily="34" charset="-120"/>
              </a:rPr>
              <a:t>FormType 301</a:t>
            </a:r>
            <a:endParaRPr lang="en-US" sz="850" dirty="0"/>
          </a:p>
        </p:txBody>
      </p:sp>
      <p:sp>
        <p:nvSpPr>
          <p:cNvPr id="63" name="Shape 61"/>
          <p:cNvSpPr/>
          <p:nvPr/>
        </p:nvSpPr>
        <p:spPr>
          <a:xfrm>
            <a:off x="4590288" y="1700784"/>
            <a:ext cx="2103120" cy="301752"/>
          </a:xfrm>
          <a:prstGeom prst="rect">
            <a:avLst/>
          </a:prstGeom>
          <a:solidFill>
            <a:srgbClr val="FFFFFF"/>
          </a:solidFill>
          <a:ln w="3810">
            <a:solidFill>
              <a:srgbClr val="E8E8E8"/>
            </a:solidFill>
            <a:prstDash val="solid"/>
          </a:ln>
        </p:spPr>
      </p:sp>
      <p:sp>
        <p:nvSpPr>
          <p:cNvPr id="64" name="Text 62"/>
          <p:cNvSpPr/>
          <p:nvPr/>
        </p:nvSpPr>
        <p:spPr>
          <a:xfrm>
            <a:off x="4645152" y="170992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65" name="Text 63"/>
          <p:cNvSpPr/>
          <p:nvPr/>
        </p:nvSpPr>
        <p:spPr>
          <a:xfrm>
            <a:off x="4645152" y="1856232"/>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PO Number</a:t>
            </a:r>
            <a:endParaRPr lang="en-US" sz="720" dirty="0"/>
          </a:p>
        </p:txBody>
      </p:sp>
      <p:sp>
        <p:nvSpPr>
          <p:cNvPr id="66" name="Shape 64"/>
          <p:cNvSpPr/>
          <p:nvPr/>
        </p:nvSpPr>
        <p:spPr>
          <a:xfrm>
            <a:off x="4590288" y="2029968"/>
            <a:ext cx="2103120" cy="301752"/>
          </a:xfrm>
          <a:prstGeom prst="rect">
            <a:avLst/>
          </a:prstGeom>
          <a:solidFill>
            <a:srgbClr val="F7F9FC"/>
          </a:solidFill>
          <a:ln w="3810">
            <a:solidFill>
              <a:srgbClr val="E8E8E8"/>
            </a:solidFill>
            <a:prstDash val="solid"/>
          </a:ln>
        </p:spPr>
      </p:sp>
      <p:sp>
        <p:nvSpPr>
          <p:cNvPr id="67" name="Text 65"/>
          <p:cNvSpPr/>
          <p:nvPr/>
        </p:nvSpPr>
        <p:spPr>
          <a:xfrm>
            <a:off x="4645152" y="203911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68" name="Text 66"/>
          <p:cNvSpPr/>
          <p:nvPr/>
        </p:nvSpPr>
        <p:spPr>
          <a:xfrm>
            <a:off x="4645152" y="2185416"/>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Vendor Name</a:t>
            </a:r>
            <a:endParaRPr lang="en-US" sz="720" dirty="0"/>
          </a:p>
        </p:txBody>
      </p:sp>
      <p:sp>
        <p:nvSpPr>
          <p:cNvPr id="69" name="Shape 67"/>
          <p:cNvSpPr/>
          <p:nvPr/>
        </p:nvSpPr>
        <p:spPr>
          <a:xfrm>
            <a:off x="4590288" y="2359152"/>
            <a:ext cx="2103120" cy="301752"/>
          </a:xfrm>
          <a:prstGeom prst="rect">
            <a:avLst/>
          </a:prstGeom>
          <a:solidFill>
            <a:srgbClr val="FFFFFF"/>
          </a:solidFill>
          <a:ln w="3810">
            <a:solidFill>
              <a:srgbClr val="E8E8E8"/>
            </a:solidFill>
            <a:prstDash val="solid"/>
          </a:ln>
        </p:spPr>
      </p:sp>
      <p:sp>
        <p:nvSpPr>
          <p:cNvPr id="70" name="Text 68"/>
          <p:cNvSpPr/>
          <p:nvPr/>
        </p:nvSpPr>
        <p:spPr>
          <a:xfrm>
            <a:off x="4645152" y="236829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71" name="Text 69"/>
          <p:cNvSpPr/>
          <p:nvPr/>
        </p:nvSpPr>
        <p:spPr>
          <a:xfrm>
            <a:off x="4645152" y="2514600"/>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PO Quarter 🟢</a:t>
            </a:r>
            <a:endParaRPr lang="en-US" sz="720" dirty="0"/>
          </a:p>
        </p:txBody>
      </p:sp>
      <p:sp>
        <p:nvSpPr>
          <p:cNvPr id="72" name="Shape 70"/>
          <p:cNvSpPr/>
          <p:nvPr/>
        </p:nvSpPr>
        <p:spPr>
          <a:xfrm>
            <a:off x="4590288" y="2688336"/>
            <a:ext cx="2103120" cy="301752"/>
          </a:xfrm>
          <a:prstGeom prst="rect">
            <a:avLst/>
          </a:prstGeom>
          <a:solidFill>
            <a:srgbClr val="F7F9FC"/>
          </a:solidFill>
          <a:ln w="3810">
            <a:solidFill>
              <a:srgbClr val="E8E8E8"/>
            </a:solidFill>
            <a:prstDash val="solid"/>
          </a:ln>
        </p:spPr>
      </p:sp>
      <p:sp>
        <p:nvSpPr>
          <p:cNvPr id="73" name="Text 71"/>
          <p:cNvSpPr/>
          <p:nvPr/>
        </p:nvSpPr>
        <p:spPr>
          <a:xfrm>
            <a:off x="4645152" y="2697480"/>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WFD_AttText4</a:t>
            </a:r>
            <a:endParaRPr lang="en-US" sz="680" dirty="0"/>
          </a:p>
        </p:txBody>
      </p:sp>
      <p:sp>
        <p:nvSpPr>
          <p:cNvPr id="74" name="Text 72"/>
          <p:cNvSpPr/>
          <p:nvPr/>
        </p:nvSpPr>
        <p:spPr>
          <a:xfrm>
            <a:off x="4645152" y="2843784"/>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Cost Centre</a:t>
            </a:r>
            <a:endParaRPr lang="en-US" sz="720" dirty="0"/>
          </a:p>
        </p:txBody>
      </p:sp>
      <p:sp>
        <p:nvSpPr>
          <p:cNvPr id="75" name="Shape 73"/>
          <p:cNvSpPr/>
          <p:nvPr/>
        </p:nvSpPr>
        <p:spPr>
          <a:xfrm>
            <a:off x="4590288" y="3017520"/>
            <a:ext cx="2103120" cy="301752"/>
          </a:xfrm>
          <a:prstGeom prst="rect">
            <a:avLst/>
          </a:prstGeom>
          <a:solidFill>
            <a:srgbClr val="FFFFFF"/>
          </a:solidFill>
          <a:ln w="3810">
            <a:solidFill>
              <a:srgbClr val="E8E8E8"/>
            </a:solidFill>
            <a:prstDash val="solid"/>
          </a:ln>
        </p:spPr>
      </p:sp>
      <p:sp>
        <p:nvSpPr>
          <p:cNvPr id="76" name="Text 74"/>
          <p:cNvSpPr/>
          <p:nvPr/>
        </p:nvSpPr>
        <p:spPr>
          <a:xfrm>
            <a:off x="4645152" y="3026664"/>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77" name="Text 75"/>
          <p:cNvSpPr/>
          <p:nvPr/>
        </p:nvSpPr>
        <p:spPr>
          <a:xfrm>
            <a:off x="4645152" y="3172968"/>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PO Amount</a:t>
            </a:r>
            <a:endParaRPr lang="en-US" sz="720" dirty="0"/>
          </a:p>
        </p:txBody>
      </p:sp>
      <p:sp>
        <p:nvSpPr>
          <p:cNvPr id="78" name="Shape 76"/>
          <p:cNvSpPr/>
          <p:nvPr/>
        </p:nvSpPr>
        <p:spPr>
          <a:xfrm>
            <a:off x="4590288" y="3346704"/>
            <a:ext cx="2103120" cy="301752"/>
          </a:xfrm>
          <a:prstGeom prst="rect">
            <a:avLst/>
          </a:prstGeom>
          <a:solidFill>
            <a:srgbClr val="F7F9FC"/>
          </a:solidFill>
          <a:ln w="3810">
            <a:solidFill>
              <a:srgbClr val="E8E8E8"/>
            </a:solidFill>
            <a:prstDash val="solid"/>
          </a:ln>
        </p:spPr>
      </p:sp>
      <p:sp>
        <p:nvSpPr>
          <p:cNvPr id="79" name="Text 77"/>
          <p:cNvSpPr/>
          <p:nvPr/>
        </p:nvSpPr>
        <p:spPr>
          <a:xfrm>
            <a:off x="4645152" y="335584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WFD_AttLong1</a:t>
            </a:r>
            <a:endParaRPr lang="en-US" sz="680" dirty="0"/>
          </a:p>
        </p:txBody>
      </p:sp>
      <p:sp>
        <p:nvSpPr>
          <p:cNvPr id="80" name="Text 78"/>
          <p:cNvSpPr/>
          <p:nvPr/>
        </p:nvSpPr>
        <p:spPr>
          <a:xfrm>
            <a:off x="4645152" y="3502152"/>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Scope of Work</a:t>
            </a:r>
            <a:endParaRPr lang="en-US" sz="720" dirty="0"/>
          </a:p>
        </p:txBody>
      </p:sp>
      <p:sp>
        <p:nvSpPr>
          <p:cNvPr id="81" name="Shape 79"/>
          <p:cNvSpPr/>
          <p:nvPr/>
        </p:nvSpPr>
        <p:spPr>
          <a:xfrm>
            <a:off x="4590288" y="3675888"/>
            <a:ext cx="2103120" cy="301752"/>
          </a:xfrm>
          <a:prstGeom prst="rect">
            <a:avLst/>
          </a:prstGeom>
          <a:solidFill>
            <a:srgbClr val="FFFFFF"/>
          </a:solidFill>
          <a:ln w="3810">
            <a:solidFill>
              <a:srgbClr val="E8E8E8"/>
            </a:solidFill>
            <a:prstDash val="solid"/>
          </a:ln>
        </p:spPr>
      </p:sp>
      <p:sp>
        <p:nvSpPr>
          <p:cNvPr id="82" name="Text 80"/>
          <p:cNvSpPr/>
          <p:nvPr/>
        </p:nvSpPr>
        <p:spPr>
          <a:xfrm>
            <a:off x="4645152" y="368503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WFD_AttDate1</a:t>
            </a:r>
            <a:endParaRPr lang="en-US" sz="680" dirty="0"/>
          </a:p>
        </p:txBody>
      </p:sp>
      <p:sp>
        <p:nvSpPr>
          <p:cNvPr id="83" name="Text 81"/>
          <p:cNvSpPr/>
          <p:nvPr/>
        </p:nvSpPr>
        <p:spPr>
          <a:xfrm>
            <a:off x="4645152" y="3831336"/>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PO Date</a:t>
            </a:r>
            <a:endParaRPr lang="en-US" sz="720" dirty="0"/>
          </a:p>
        </p:txBody>
      </p:sp>
      <p:sp>
        <p:nvSpPr>
          <p:cNvPr id="84" name="Shape 82"/>
          <p:cNvSpPr/>
          <p:nvPr/>
        </p:nvSpPr>
        <p:spPr>
          <a:xfrm>
            <a:off x="4590288" y="4005072"/>
            <a:ext cx="2103120" cy="301752"/>
          </a:xfrm>
          <a:prstGeom prst="rect">
            <a:avLst/>
          </a:prstGeom>
          <a:solidFill>
            <a:srgbClr val="F7F9FC"/>
          </a:solidFill>
          <a:ln w="3810">
            <a:solidFill>
              <a:srgbClr val="E8E8E8"/>
            </a:solidFill>
            <a:prstDash val="solid"/>
          </a:ln>
        </p:spPr>
      </p:sp>
      <p:sp>
        <p:nvSpPr>
          <p:cNvPr id="85" name="Text 83"/>
          <p:cNvSpPr/>
          <p:nvPr/>
        </p:nvSpPr>
        <p:spPr>
          <a:xfrm>
            <a:off x="4645152" y="401421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WFD_AttPeople1</a:t>
            </a:r>
            <a:endParaRPr lang="en-US" sz="680" dirty="0"/>
          </a:p>
        </p:txBody>
      </p:sp>
      <p:sp>
        <p:nvSpPr>
          <p:cNvPr id="86" name="Text 84"/>
          <p:cNvSpPr/>
          <p:nvPr/>
        </p:nvSpPr>
        <p:spPr>
          <a:xfrm>
            <a:off x="4645152" y="4160520"/>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Approver Login</a:t>
            </a:r>
            <a:endParaRPr lang="en-US" sz="720" dirty="0"/>
          </a:p>
        </p:txBody>
      </p:sp>
      <p:sp>
        <p:nvSpPr>
          <p:cNvPr id="87" name="Shape 85"/>
          <p:cNvSpPr/>
          <p:nvPr/>
        </p:nvSpPr>
        <p:spPr>
          <a:xfrm>
            <a:off x="6748272" y="1188720"/>
            <a:ext cx="2103120" cy="475488"/>
          </a:xfrm>
          <a:prstGeom prst="rect">
            <a:avLst/>
          </a:prstGeom>
          <a:solidFill>
            <a:srgbClr val="4A235A"/>
          </a:solidFill>
          <a:ln/>
        </p:spPr>
      </p:sp>
      <p:sp>
        <p:nvSpPr>
          <p:cNvPr id="88" name="Text 86"/>
          <p:cNvSpPr/>
          <p:nvPr/>
        </p:nvSpPr>
        <p:spPr>
          <a:xfrm>
            <a:off x="6803136" y="1188720"/>
            <a:ext cx="2011680" cy="256032"/>
          </a:xfrm>
          <a:prstGeom prst="rect">
            <a:avLst/>
          </a:prstGeom>
          <a:noFill/>
          <a:ln/>
        </p:spPr>
        <p:txBody>
          <a:bodyPr wrap="square" rtlCol="0" anchor="b"/>
          <a:lstStyle/>
          <a:p>
            <a:pPr marL="0" indent="0">
              <a:buNone/>
            </a:pPr>
            <a:r>
              <a:rPr lang="en-US" sz="1050" b="1" dirty="0">
                <a:solidFill>
                  <a:srgbClr val="FFFFFF"/>
                </a:solidFill>
                <a:latin typeface="Calibri" pitchFamily="34" charset="0"/>
                <a:ea typeface="Calibri" pitchFamily="34" charset="-122"/>
                <a:cs typeface="Calibri" pitchFamily="34" charset="-120"/>
              </a:rPr>
              <a:t>Payroll Approval</a:t>
            </a:r>
            <a:endParaRPr lang="en-US" sz="1050" dirty="0"/>
          </a:p>
        </p:txBody>
      </p:sp>
      <p:sp>
        <p:nvSpPr>
          <p:cNvPr id="89" name="Text 87"/>
          <p:cNvSpPr/>
          <p:nvPr/>
        </p:nvSpPr>
        <p:spPr>
          <a:xfrm>
            <a:off x="6803136" y="1417320"/>
            <a:ext cx="2011680" cy="201168"/>
          </a:xfrm>
          <a:prstGeom prst="rect">
            <a:avLst/>
          </a:prstGeom>
          <a:noFill/>
          <a:ln/>
        </p:spPr>
        <p:txBody>
          <a:bodyPr wrap="square" rtlCol="0" anchor="ctr"/>
          <a:lstStyle/>
          <a:p>
            <a:pPr marL="0" indent="0">
              <a:buNone/>
            </a:pPr>
            <a:r>
              <a:rPr lang="en-US" sz="850" dirty="0">
                <a:solidFill>
                  <a:srgbClr val="007A7D"/>
                </a:solidFill>
                <a:latin typeface="Calibri" pitchFamily="34" charset="0"/>
                <a:ea typeface="Calibri" pitchFamily="34" charset="-122"/>
                <a:cs typeface="Calibri" pitchFamily="34" charset="-120"/>
              </a:rPr>
              <a:t>FormType 302</a:t>
            </a:r>
            <a:endParaRPr lang="en-US" sz="850" dirty="0"/>
          </a:p>
        </p:txBody>
      </p:sp>
      <p:sp>
        <p:nvSpPr>
          <p:cNvPr id="90" name="Shape 88"/>
          <p:cNvSpPr/>
          <p:nvPr/>
        </p:nvSpPr>
        <p:spPr>
          <a:xfrm>
            <a:off x="6748272" y="1700784"/>
            <a:ext cx="2103120" cy="301752"/>
          </a:xfrm>
          <a:prstGeom prst="rect">
            <a:avLst/>
          </a:prstGeom>
          <a:solidFill>
            <a:srgbClr val="FFFFFF"/>
          </a:solidFill>
          <a:ln w="3810">
            <a:solidFill>
              <a:srgbClr val="E8E8E8"/>
            </a:solidFill>
            <a:prstDash val="solid"/>
          </a:ln>
        </p:spPr>
      </p:sp>
      <p:sp>
        <p:nvSpPr>
          <p:cNvPr id="91" name="Text 89"/>
          <p:cNvSpPr/>
          <p:nvPr/>
        </p:nvSpPr>
        <p:spPr>
          <a:xfrm>
            <a:off x="6803136" y="170992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92" name="Text 90"/>
          <p:cNvSpPr/>
          <p:nvPr/>
        </p:nvSpPr>
        <p:spPr>
          <a:xfrm>
            <a:off x="6803136" y="1856232"/>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Pay Period</a:t>
            </a:r>
            <a:endParaRPr lang="en-US" sz="720" dirty="0"/>
          </a:p>
        </p:txBody>
      </p:sp>
      <p:sp>
        <p:nvSpPr>
          <p:cNvPr id="93" name="Shape 91"/>
          <p:cNvSpPr/>
          <p:nvPr/>
        </p:nvSpPr>
        <p:spPr>
          <a:xfrm>
            <a:off x="6748272" y="2029968"/>
            <a:ext cx="2103120" cy="301752"/>
          </a:xfrm>
          <a:prstGeom prst="rect">
            <a:avLst/>
          </a:prstGeom>
          <a:solidFill>
            <a:srgbClr val="FFF0F0"/>
          </a:solidFill>
          <a:ln w="3810">
            <a:solidFill>
              <a:srgbClr val="E8E8E8"/>
            </a:solidFill>
            <a:prstDash val="solid"/>
          </a:ln>
        </p:spPr>
      </p:sp>
      <p:sp>
        <p:nvSpPr>
          <p:cNvPr id="94" name="Text 92"/>
          <p:cNvSpPr/>
          <p:nvPr/>
        </p:nvSpPr>
        <p:spPr>
          <a:xfrm>
            <a:off x="6803136" y="203911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95" name="Text 93"/>
          <p:cNvSpPr/>
          <p:nvPr/>
        </p:nvSpPr>
        <p:spPr>
          <a:xfrm>
            <a:off x="6803136" y="2185416"/>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Employee Name 🔴</a:t>
            </a:r>
            <a:endParaRPr lang="en-US" sz="720" dirty="0"/>
          </a:p>
        </p:txBody>
      </p:sp>
      <p:sp>
        <p:nvSpPr>
          <p:cNvPr id="96" name="Shape 94"/>
          <p:cNvSpPr/>
          <p:nvPr/>
        </p:nvSpPr>
        <p:spPr>
          <a:xfrm>
            <a:off x="6748272" y="2359152"/>
            <a:ext cx="2103120" cy="301752"/>
          </a:xfrm>
          <a:prstGeom prst="rect">
            <a:avLst/>
          </a:prstGeom>
          <a:solidFill>
            <a:srgbClr val="FFF0F0"/>
          </a:solidFill>
          <a:ln w="3810">
            <a:solidFill>
              <a:srgbClr val="E8E8E8"/>
            </a:solidFill>
            <a:prstDash val="solid"/>
          </a:ln>
        </p:spPr>
      </p:sp>
      <p:sp>
        <p:nvSpPr>
          <p:cNvPr id="97" name="Text 95"/>
          <p:cNvSpPr/>
          <p:nvPr/>
        </p:nvSpPr>
        <p:spPr>
          <a:xfrm>
            <a:off x="6803136" y="236829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98" name="Text 96"/>
          <p:cNvSpPr/>
          <p:nvPr/>
        </p:nvSpPr>
        <p:spPr>
          <a:xfrm>
            <a:off x="6803136" y="2514600"/>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Bank Account 🔴</a:t>
            </a:r>
            <a:endParaRPr lang="en-US" sz="720" dirty="0"/>
          </a:p>
        </p:txBody>
      </p:sp>
      <p:sp>
        <p:nvSpPr>
          <p:cNvPr id="99" name="Shape 97"/>
          <p:cNvSpPr/>
          <p:nvPr/>
        </p:nvSpPr>
        <p:spPr>
          <a:xfrm>
            <a:off x="6748272" y="2688336"/>
            <a:ext cx="2103120" cy="301752"/>
          </a:xfrm>
          <a:prstGeom prst="rect">
            <a:avLst/>
          </a:prstGeom>
          <a:solidFill>
            <a:srgbClr val="FFF0F0"/>
          </a:solidFill>
          <a:ln w="3810">
            <a:solidFill>
              <a:srgbClr val="E8E8E8"/>
            </a:solidFill>
            <a:prstDash val="solid"/>
          </a:ln>
        </p:spPr>
      </p:sp>
      <p:sp>
        <p:nvSpPr>
          <p:cNvPr id="100" name="Text 98"/>
          <p:cNvSpPr/>
          <p:nvPr/>
        </p:nvSpPr>
        <p:spPr>
          <a:xfrm>
            <a:off x="6803136" y="2697480"/>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WFD_AttText4</a:t>
            </a:r>
            <a:endParaRPr lang="en-US" sz="680" dirty="0"/>
          </a:p>
        </p:txBody>
      </p:sp>
      <p:sp>
        <p:nvSpPr>
          <p:cNvPr id="101" name="Text 99"/>
          <p:cNvSpPr/>
          <p:nvPr/>
        </p:nvSpPr>
        <p:spPr>
          <a:xfrm>
            <a:off x="6803136" y="2843784"/>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Tax Code 🔴</a:t>
            </a:r>
            <a:endParaRPr lang="en-US" sz="720" dirty="0"/>
          </a:p>
        </p:txBody>
      </p:sp>
      <p:sp>
        <p:nvSpPr>
          <p:cNvPr id="102" name="Shape 100"/>
          <p:cNvSpPr/>
          <p:nvPr/>
        </p:nvSpPr>
        <p:spPr>
          <a:xfrm>
            <a:off x="6748272" y="3017520"/>
            <a:ext cx="2103120" cy="301752"/>
          </a:xfrm>
          <a:prstGeom prst="rect">
            <a:avLst/>
          </a:prstGeom>
          <a:solidFill>
            <a:srgbClr val="FFF0F0"/>
          </a:solidFill>
          <a:ln w="3810">
            <a:solidFill>
              <a:srgbClr val="E8E8E8"/>
            </a:solidFill>
            <a:prstDash val="solid"/>
          </a:ln>
        </p:spPr>
      </p:sp>
      <p:sp>
        <p:nvSpPr>
          <p:cNvPr id="103" name="Text 101"/>
          <p:cNvSpPr/>
          <p:nvPr/>
        </p:nvSpPr>
        <p:spPr>
          <a:xfrm>
            <a:off x="6803136" y="3026664"/>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104" name="Text 102"/>
          <p:cNvSpPr/>
          <p:nvPr/>
        </p:nvSpPr>
        <p:spPr>
          <a:xfrm>
            <a:off x="6803136" y="3172968"/>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Net Salary 🔴</a:t>
            </a:r>
            <a:endParaRPr lang="en-US" sz="720" dirty="0"/>
          </a:p>
        </p:txBody>
      </p:sp>
      <p:sp>
        <p:nvSpPr>
          <p:cNvPr id="105" name="Shape 103"/>
          <p:cNvSpPr/>
          <p:nvPr/>
        </p:nvSpPr>
        <p:spPr>
          <a:xfrm>
            <a:off x="6748272" y="3346704"/>
            <a:ext cx="2103120" cy="301752"/>
          </a:xfrm>
          <a:prstGeom prst="rect">
            <a:avLst/>
          </a:prstGeom>
          <a:solidFill>
            <a:srgbClr val="FFF0F0"/>
          </a:solidFill>
          <a:ln w="3810">
            <a:solidFill>
              <a:srgbClr val="E8E8E8"/>
            </a:solidFill>
            <a:prstDash val="solid"/>
          </a:ln>
        </p:spPr>
      </p:sp>
      <p:sp>
        <p:nvSpPr>
          <p:cNvPr id="106" name="Text 104"/>
          <p:cNvSpPr/>
          <p:nvPr/>
        </p:nvSpPr>
        <p:spPr>
          <a:xfrm>
            <a:off x="6803136" y="3355848"/>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WFD_AttLong1</a:t>
            </a:r>
            <a:endParaRPr lang="en-US" sz="680" dirty="0"/>
          </a:p>
        </p:txBody>
      </p:sp>
      <p:sp>
        <p:nvSpPr>
          <p:cNvPr id="107" name="Text 105"/>
          <p:cNvSpPr/>
          <p:nvPr/>
        </p:nvSpPr>
        <p:spPr>
          <a:xfrm>
            <a:off x="6803136" y="3502152"/>
            <a:ext cx="2011680" cy="128016"/>
          </a:xfrm>
          <a:prstGeom prst="rect">
            <a:avLst/>
          </a:prstGeom>
          <a:noFill/>
          <a:ln/>
        </p:spPr>
        <p:txBody>
          <a:bodyPr wrap="square" rtlCol="0" anchor="ctr"/>
          <a:lstStyle/>
          <a:p>
            <a:pPr marL="0" indent="0">
              <a:buNone/>
            </a:pPr>
            <a:r>
              <a:rPr lang="en-US" sz="720" b="1" dirty="0">
                <a:solidFill>
                  <a:srgbClr val="C0392B"/>
                </a:solidFill>
                <a:latin typeface="Calibri" pitchFamily="34" charset="0"/>
                <a:ea typeface="Calibri" pitchFamily="34" charset="-122"/>
                <a:cs typeface="Calibri" pitchFamily="34" charset="-120"/>
              </a:rPr>
              <a:t>→ Payslip Notes 🔴</a:t>
            </a:r>
            <a:endParaRPr lang="en-US" sz="720" dirty="0"/>
          </a:p>
        </p:txBody>
      </p:sp>
      <p:sp>
        <p:nvSpPr>
          <p:cNvPr id="108" name="Shape 106"/>
          <p:cNvSpPr/>
          <p:nvPr/>
        </p:nvSpPr>
        <p:spPr>
          <a:xfrm>
            <a:off x="6748272" y="3675888"/>
            <a:ext cx="2103120" cy="301752"/>
          </a:xfrm>
          <a:prstGeom prst="rect">
            <a:avLst/>
          </a:prstGeom>
          <a:solidFill>
            <a:srgbClr val="FFFFFF"/>
          </a:solidFill>
          <a:ln w="3810">
            <a:solidFill>
              <a:srgbClr val="E8E8E8"/>
            </a:solidFill>
            <a:prstDash val="solid"/>
          </a:ln>
        </p:spPr>
      </p:sp>
      <p:sp>
        <p:nvSpPr>
          <p:cNvPr id="109" name="Text 107"/>
          <p:cNvSpPr/>
          <p:nvPr/>
        </p:nvSpPr>
        <p:spPr>
          <a:xfrm>
            <a:off x="6803136" y="3685032"/>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WFD_AttDate1</a:t>
            </a:r>
            <a:endParaRPr lang="en-US" sz="680" dirty="0"/>
          </a:p>
        </p:txBody>
      </p:sp>
      <p:sp>
        <p:nvSpPr>
          <p:cNvPr id="110" name="Text 108"/>
          <p:cNvSpPr/>
          <p:nvPr/>
        </p:nvSpPr>
        <p:spPr>
          <a:xfrm>
            <a:off x="6803136" y="3831336"/>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Pay Date</a:t>
            </a:r>
            <a:endParaRPr lang="en-US" sz="720" dirty="0"/>
          </a:p>
        </p:txBody>
      </p:sp>
      <p:sp>
        <p:nvSpPr>
          <p:cNvPr id="111" name="Shape 109"/>
          <p:cNvSpPr/>
          <p:nvPr/>
        </p:nvSpPr>
        <p:spPr>
          <a:xfrm>
            <a:off x="6748272" y="4005072"/>
            <a:ext cx="2103120" cy="301752"/>
          </a:xfrm>
          <a:prstGeom prst="rect">
            <a:avLst/>
          </a:prstGeom>
          <a:solidFill>
            <a:srgbClr val="F7F9FC"/>
          </a:solidFill>
          <a:ln w="3810">
            <a:solidFill>
              <a:srgbClr val="E8E8E8"/>
            </a:solidFill>
            <a:prstDash val="solid"/>
          </a:ln>
        </p:spPr>
      </p:sp>
      <p:sp>
        <p:nvSpPr>
          <p:cNvPr id="112" name="Text 110"/>
          <p:cNvSpPr/>
          <p:nvPr/>
        </p:nvSpPr>
        <p:spPr>
          <a:xfrm>
            <a:off x="6803136" y="4014216"/>
            <a:ext cx="914400" cy="155448"/>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WFD_AttPeople1</a:t>
            </a:r>
            <a:endParaRPr lang="en-US" sz="680" dirty="0"/>
          </a:p>
        </p:txBody>
      </p:sp>
      <p:sp>
        <p:nvSpPr>
          <p:cNvPr id="113" name="Text 111"/>
          <p:cNvSpPr/>
          <p:nvPr/>
        </p:nvSpPr>
        <p:spPr>
          <a:xfrm>
            <a:off x="6803136" y="4160520"/>
            <a:ext cx="2011680" cy="128016"/>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 HR Authoriser</a:t>
            </a:r>
            <a:endParaRPr lang="en-US" sz="720" dirty="0"/>
          </a:p>
        </p:txBody>
      </p:sp>
      <p:sp>
        <p:nvSpPr>
          <p:cNvPr id="114" name="Shape 112"/>
          <p:cNvSpPr/>
          <p:nvPr/>
        </p:nvSpPr>
        <p:spPr>
          <a:xfrm>
            <a:off x="274320" y="4407408"/>
            <a:ext cx="8595360" cy="594360"/>
          </a:xfrm>
          <a:prstGeom prst="rect">
            <a:avLst/>
          </a:prstGeom>
          <a:solidFill>
            <a:srgbClr val="1A1A2E"/>
          </a:solidFill>
          <a:ln/>
        </p:spPr>
      </p:sp>
      <p:sp>
        <p:nvSpPr>
          <p:cNvPr id="115" name="Text 113"/>
          <p:cNvSpPr/>
          <p:nvPr/>
        </p:nvSpPr>
        <p:spPr>
          <a:xfrm>
            <a:off x="457200" y="4434840"/>
            <a:ext cx="8321040" cy="265176"/>
          </a:xfrm>
          <a:prstGeom prst="rect">
            <a:avLst/>
          </a:prstGeom>
          <a:noFill/>
          <a:ln/>
        </p:spPr>
        <p:txBody>
          <a:bodyPr wrap="square" rtlCol="0" anchor="ctr"/>
          <a:lstStyle/>
          <a:p>
            <a:pPr marL="0" indent="0">
              <a:buNone/>
            </a:pPr>
            <a:r>
              <a:rPr lang="en-US" sz="880" dirty="0">
                <a:solidFill>
                  <a:srgbClr val="C0392B"/>
                </a:solidFill>
                <a:latin typeface="Calibri" pitchFamily="34" charset="0"/>
                <a:ea typeface="Calibri" pitchFamily="34" charset="-122"/>
                <a:cs typeface="Calibri" pitchFamily="34" charset="-120"/>
              </a:rPr>
              <a:t>⚠  WFD_AttText3 is a single SQL column. It holds 'Hypertension' for an HR row and 'Hardware' for an IT row on adjacent rows. SQL Server cannot distinguish which rows are sensitive without an RLS policy — it only sees column names, not Designer Studio field labels.</a:t>
            </a:r>
            <a:endParaRPr lang="en-US" sz="880" dirty="0"/>
          </a:p>
        </p:txBody>
      </p:sp>
      <p:sp>
        <p:nvSpPr>
          <p:cNvPr id="116" name="Text 114"/>
          <p:cNvSpPr/>
          <p:nvPr/>
        </p:nvSpPr>
        <p:spPr>
          <a:xfrm>
            <a:off x="457200" y="4700016"/>
            <a:ext cx="8321040" cy="246888"/>
          </a:xfrm>
          <a:prstGeom prst="rect">
            <a:avLst/>
          </a:prstGeom>
          <a:noFill/>
          <a:ln/>
        </p:spPr>
        <p:txBody>
          <a:bodyPr wrap="square" rtlCol="0" anchor="ctr"/>
          <a:lstStyle/>
          <a:p>
            <a:pPr marL="0" indent="0">
              <a:buNone/>
            </a:pPr>
            <a:r>
              <a:rPr lang="en-US" sz="880" dirty="0">
                <a:solidFill>
                  <a:srgbClr val="1A1A2E"/>
                </a:solidFill>
                <a:latin typeface="Calibri" pitchFamily="34" charset="0"/>
                <a:ea typeface="Calibri" pitchFamily="34" charset="-122"/>
                <a:cs typeface="Calibri" pitchFamily="34" charset="-120"/>
              </a:rPr>
              <a:t>→  Designer Studio stores the column↔field mapping in its own metadata tables, invisible to SQL Server. This is why RLS, DDM, and Views must be configured at the database layer — not in WEBCON.</a:t>
            </a:r>
            <a:endParaRPr lang="en-US" sz="880" dirty="0"/>
          </a:p>
        </p:txBody>
      </p:sp>
      <p:sp>
        <p:nvSpPr>
          <p:cNvPr id="117" name="Shape 115"/>
          <p:cNvSpPr/>
          <p:nvPr/>
        </p:nvSpPr>
        <p:spPr>
          <a:xfrm>
            <a:off x="0" y="4828032"/>
            <a:ext cx="9144000" cy="315468"/>
          </a:xfrm>
          <a:prstGeom prst="rect">
            <a:avLst/>
          </a:prstGeom>
          <a:solidFill>
            <a:srgbClr val="009B9E"/>
          </a:solidFill>
          <a:ln/>
        </p:spPr>
      </p:sp>
      <p:sp>
        <p:nvSpPr>
          <p:cNvPr id="118" name="Text 116"/>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119" name="Shape 117"/>
          <p:cNvSpPr/>
          <p:nvPr/>
        </p:nvSpPr>
        <p:spPr>
          <a:xfrm>
            <a:off x="502920" y="4919472"/>
            <a:ext cx="18288" cy="128016"/>
          </a:xfrm>
          <a:prstGeom prst="rect">
            <a:avLst/>
          </a:prstGeom>
          <a:solidFill>
            <a:srgbClr val="FFFFFF"/>
          </a:solidFill>
          <a:ln/>
        </p:spPr>
      </p:sp>
      <p:sp>
        <p:nvSpPr>
          <p:cNvPr id="120" name="Text 118"/>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121" name="Text 119"/>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1976D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WFElements  —  ROW ANATOMY &amp; WHAT QUERIES RETURN</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One Row, 80+ Columns — What Each User Type Sees</a:t>
            </a:r>
            <a:endParaRPr lang="en-US" sz="1500" dirty="0"/>
          </a:p>
        </p:txBody>
      </p:sp>
      <p:sp>
        <p:nvSpPr>
          <p:cNvPr id="6" name="Shape 4"/>
          <p:cNvSpPr/>
          <p:nvPr/>
        </p:nvSpPr>
        <p:spPr>
          <a:xfrm>
            <a:off x="274320" y="1188720"/>
            <a:ext cx="4023360" cy="374904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274320" y="1188720"/>
            <a:ext cx="4023360" cy="310896"/>
          </a:xfrm>
          <a:prstGeom prst="rect">
            <a:avLst/>
          </a:prstGeom>
          <a:solidFill>
            <a:srgbClr val="E8F0FE"/>
          </a:solidFill>
          <a:ln/>
        </p:spPr>
      </p:sp>
      <p:sp>
        <p:nvSpPr>
          <p:cNvPr id="8" name="Text 6"/>
          <p:cNvSpPr/>
          <p:nvPr/>
        </p:nvSpPr>
        <p:spPr>
          <a:xfrm>
            <a:off x="365760" y="1188720"/>
            <a:ext cx="3886200" cy="310896"/>
          </a:xfrm>
          <a:prstGeom prst="rect">
            <a:avLst/>
          </a:prstGeom>
          <a:noFill/>
          <a:ln/>
        </p:spPr>
        <p:txBody>
          <a:bodyPr wrap="square" rtlCol="0" anchor="ctr"/>
          <a:lstStyle/>
          <a:p>
            <a:pPr marL="0" indent="0">
              <a:buNone/>
            </a:pPr>
            <a:r>
              <a:rPr lang="en-US" sz="900" b="1" dirty="0">
                <a:solidFill>
                  <a:srgbClr val="1565C0"/>
                </a:solidFill>
                <a:latin typeface="Calibri" pitchFamily="34" charset="0"/>
                <a:ea typeface="Calibri" pitchFamily="34" charset="-122"/>
                <a:cs typeface="Calibri" pitchFamily="34" charset="-120"/>
              </a:rPr>
              <a:t>Anatomy of ONE Row — Anna's Leave Request (WFD_ID = 50821)</a:t>
            </a:r>
            <a:endParaRPr lang="en-US" sz="900" dirty="0"/>
          </a:p>
        </p:txBody>
      </p:sp>
      <p:sp>
        <p:nvSpPr>
          <p:cNvPr id="9" name="Shape 7"/>
          <p:cNvSpPr/>
          <p:nvPr/>
        </p:nvSpPr>
        <p:spPr>
          <a:xfrm>
            <a:off x="320040" y="1554480"/>
            <a:ext cx="3913632" cy="246888"/>
          </a:xfrm>
          <a:prstGeom prst="rect">
            <a:avLst/>
          </a:prstGeom>
          <a:solidFill>
            <a:srgbClr val="FFFFFF"/>
          </a:solidFill>
          <a:ln/>
        </p:spPr>
      </p:sp>
      <p:sp>
        <p:nvSpPr>
          <p:cNvPr id="10" name="Shape 8"/>
          <p:cNvSpPr/>
          <p:nvPr/>
        </p:nvSpPr>
        <p:spPr>
          <a:xfrm>
            <a:off x="320040" y="1554480"/>
            <a:ext cx="512064" cy="246888"/>
          </a:xfrm>
          <a:prstGeom prst="rect">
            <a:avLst/>
          </a:prstGeom>
          <a:solidFill>
            <a:srgbClr val="F0F4FF"/>
          </a:solidFill>
          <a:ln/>
        </p:spPr>
      </p:sp>
      <p:sp>
        <p:nvSpPr>
          <p:cNvPr id="11" name="Text 9"/>
          <p:cNvSpPr/>
          <p:nvPr/>
        </p:nvSpPr>
        <p:spPr>
          <a:xfrm>
            <a:off x="320040" y="155448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PK</a:t>
            </a:r>
            <a:endParaRPr lang="en-US" sz="600" dirty="0"/>
          </a:p>
        </p:txBody>
      </p:sp>
      <p:sp>
        <p:nvSpPr>
          <p:cNvPr id="12" name="Text 10"/>
          <p:cNvSpPr/>
          <p:nvPr/>
        </p:nvSpPr>
        <p:spPr>
          <a:xfrm>
            <a:off x="850392" y="155448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WFD_ID</a:t>
            </a:r>
            <a:endParaRPr lang="en-US" sz="720" dirty="0"/>
          </a:p>
        </p:txBody>
      </p:sp>
      <p:sp>
        <p:nvSpPr>
          <p:cNvPr id="13" name="Text 11"/>
          <p:cNvSpPr/>
          <p:nvPr/>
        </p:nvSpPr>
        <p:spPr>
          <a:xfrm>
            <a:off x="2057400" y="155448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50821</a:t>
            </a:r>
            <a:endParaRPr lang="en-US" sz="750" dirty="0"/>
          </a:p>
        </p:txBody>
      </p:sp>
      <p:sp>
        <p:nvSpPr>
          <p:cNvPr id="14" name="Shape 12"/>
          <p:cNvSpPr/>
          <p:nvPr/>
        </p:nvSpPr>
        <p:spPr>
          <a:xfrm>
            <a:off x="320040" y="1828800"/>
            <a:ext cx="3913632" cy="246888"/>
          </a:xfrm>
          <a:prstGeom prst="rect">
            <a:avLst/>
          </a:prstGeom>
          <a:solidFill>
            <a:srgbClr val="F8FAFC"/>
          </a:solidFill>
          <a:ln/>
        </p:spPr>
      </p:sp>
      <p:sp>
        <p:nvSpPr>
          <p:cNvPr id="15" name="Shape 13"/>
          <p:cNvSpPr/>
          <p:nvPr/>
        </p:nvSpPr>
        <p:spPr>
          <a:xfrm>
            <a:off x="320040" y="1828800"/>
            <a:ext cx="512064" cy="246888"/>
          </a:xfrm>
          <a:prstGeom prst="rect">
            <a:avLst/>
          </a:prstGeom>
          <a:solidFill>
            <a:srgbClr val="F0F4FF"/>
          </a:solidFill>
          <a:ln/>
        </p:spPr>
      </p:sp>
      <p:sp>
        <p:nvSpPr>
          <p:cNvPr id="16" name="Text 14"/>
          <p:cNvSpPr/>
          <p:nvPr/>
        </p:nvSpPr>
        <p:spPr>
          <a:xfrm>
            <a:off x="320040" y="182880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Process</a:t>
            </a:r>
            <a:endParaRPr lang="en-US" sz="600" dirty="0"/>
          </a:p>
        </p:txBody>
      </p:sp>
      <p:sp>
        <p:nvSpPr>
          <p:cNvPr id="17" name="Text 15"/>
          <p:cNvSpPr/>
          <p:nvPr/>
        </p:nvSpPr>
        <p:spPr>
          <a:xfrm>
            <a:off x="850392" y="182880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WFD_FormType_ID</a:t>
            </a:r>
            <a:endParaRPr lang="en-US" sz="720" dirty="0"/>
          </a:p>
        </p:txBody>
      </p:sp>
      <p:sp>
        <p:nvSpPr>
          <p:cNvPr id="18" name="Text 16"/>
          <p:cNvSpPr/>
          <p:nvPr/>
        </p:nvSpPr>
        <p:spPr>
          <a:xfrm>
            <a:off x="2057400" y="182880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101  (HR Leave Request)</a:t>
            </a:r>
            <a:endParaRPr lang="en-US" sz="750" dirty="0"/>
          </a:p>
        </p:txBody>
      </p:sp>
      <p:sp>
        <p:nvSpPr>
          <p:cNvPr id="19" name="Shape 17"/>
          <p:cNvSpPr/>
          <p:nvPr/>
        </p:nvSpPr>
        <p:spPr>
          <a:xfrm>
            <a:off x="320040" y="2103120"/>
            <a:ext cx="3913632" cy="246888"/>
          </a:xfrm>
          <a:prstGeom prst="rect">
            <a:avLst/>
          </a:prstGeom>
          <a:solidFill>
            <a:srgbClr val="FFFFFF"/>
          </a:solidFill>
          <a:ln/>
        </p:spPr>
      </p:sp>
      <p:sp>
        <p:nvSpPr>
          <p:cNvPr id="20" name="Shape 18"/>
          <p:cNvSpPr/>
          <p:nvPr/>
        </p:nvSpPr>
        <p:spPr>
          <a:xfrm>
            <a:off x="320040" y="2103120"/>
            <a:ext cx="512064" cy="246888"/>
          </a:xfrm>
          <a:prstGeom prst="rect">
            <a:avLst/>
          </a:prstGeom>
          <a:solidFill>
            <a:srgbClr val="F0F4FF"/>
          </a:solidFill>
          <a:ln/>
        </p:spPr>
      </p:sp>
      <p:sp>
        <p:nvSpPr>
          <p:cNvPr id="21" name="Text 19"/>
          <p:cNvSpPr/>
          <p:nvPr/>
        </p:nvSpPr>
        <p:spPr>
          <a:xfrm>
            <a:off x="320040" y="210312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State</a:t>
            </a:r>
            <a:endParaRPr lang="en-US" sz="600" dirty="0"/>
          </a:p>
        </p:txBody>
      </p:sp>
      <p:sp>
        <p:nvSpPr>
          <p:cNvPr id="22" name="Text 20"/>
          <p:cNvSpPr/>
          <p:nvPr/>
        </p:nvSpPr>
        <p:spPr>
          <a:xfrm>
            <a:off x="850392" y="210312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WFD_Status</a:t>
            </a:r>
            <a:endParaRPr lang="en-US" sz="720" dirty="0"/>
          </a:p>
        </p:txBody>
      </p:sp>
      <p:sp>
        <p:nvSpPr>
          <p:cNvPr id="23" name="Text 21"/>
          <p:cNvSpPr/>
          <p:nvPr/>
        </p:nvSpPr>
        <p:spPr>
          <a:xfrm>
            <a:off x="2057400" y="210312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2  (In Approval)</a:t>
            </a:r>
            <a:endParaRPr lang="en-US" sz="750" dirty="0"/>
          </a:p>
        </p:txBody>
      </p:sp>
      <p:sp>
        <p:nvSpPr>
          <p:cNvPr id="24" name="Shape 22"/>
          <p:cNvSpPr/>
          <p:nvPr/>
        </p:nvSpPr>
        <p:spPr>
          <a:xfrm>
            <a:off x="320040" y="2377440"/>
            <a:ext cx="3913632" cy="246888"/>
          </a:xfrm>
          <a:prstGeom prst="rect">
            <a:avLst/>
          </a:prstGeom>
          <a:solidFill>
            <a:srgbClr val="F8FAFC"/>
          </a:solidFill>
          <a:ln/>
        </p:spPr>
      </p:sp>
      <p:sp>
        <p:nvSpPr>
          <p:cNvPr id="25" name="Shape 23"/>
          <p:cNvSpPr/>
          <p:nvPr/>
        </p:nvSpPr>
        <p:spPr>
          <a:xfrm>
            <a:off x="320040" y="2377440"/>
            <a:ext cx="512064" cy="246888"/>
          </a:xfrm>
          <a:prstGeom prst="rect">
            <a:avLst/>
          </a:prstGeom>
          <a:solidFill>
            <a:srgbClr val="F0F4FF"/>
          </a:solidFill>
          <a:ln/>
        </p:spPr>
      </p:sp>
      <p:sp>
        <p:nvSpPr>
          <p:cNvPr id="26" name="Text 24"/>
          <p:cNvSpPr/>
          <p:nvPr/>
        </p:nvSpPr>
        <p:spPr>
          <a:xfrm>
            <a:off x="320040" y="237744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Text</a:t>
            </a:r>
            <a:endParaRPr lang="en-US" sz="600" dirty="0"/>
          </a:p>
        </p:txBody>
      </p:sp>
      <p:sp>
        <p:nvSpPr>
          <p:cNvPr id="27" name="Text 25"/>
          <p:cNvSpPr/>
          <p:nvPr/>
        </p:nvSpPr>
        <p:spPr>
          <a:xfrm>
            <a:off x="850392" y="237744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WFD_AttText1</a:t>
            </a:r>
            <a:endParaRPr lang="en-US" sz="720" dirty="0"/>
          </a:p>
        </p:txBody>
      </p:sp>
      <p:sp>
        <p:nvSpPr>
          <p:cNvPr id="28" name="Text 26"/>
          <p:cNvSpPr/>
          <p:nvPr/>
        </p:nvSpPr>
        <p:spPr>
          <a:xfrm>
            <a:off x="2057400" y="237744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Annual Leave</a:t>
            </a:r>
            <a:endParaRPr lang="en-US" sz="750" dirty="0"/>
          </a:p>
        </p:txBody>
      </p:sp>
      <p:sp>
        <p:nvSpPr>
          <p:cNvPr id="29" name="Shape 27"/>
          <p:cNvSpPr/>
          <p:nvPr/>
        </p:nvSpPr>
        <p:spPr>
          <a:xfrm>
            <a:off x="320040" y="2651760"/>
            <a:ext cx="3913632" cy="246888"/>
          </a:xfrm>
          <a:prstGeom prst="rect">
            <a:avLst/>
          </a:prstGeom>
          <a:solidFill>
            <a:srgbClr val="FFF0F0"/>
          </a:solidFill>
          <a:ln/>
        </p:spPr>
      </p:sp>
      <p:sp>
        <p:nvSpPr>
          <p:cNvPr id="30" name="Shape 28"/>
          <p:cNvSpPr/>
          <p:nvPr/>
        </p:nvSpPr>
        <p:spPr>
          <a:xfrm>
            <a:off x="320040" y="2651760"/>
            <a:ext cx="512064" cy="246888"/>
          </a:xfrm>
          <a:prstGeom prst="rect">
            <a:avLst/>
          </a:prstGeom>
          <a:solidFill>
            <a:srgbClr val="FFEBEE"/>
          </a:solidFill>
          <a:ln/>
        </p:spPr>
      </p:sp>
      <p:sp>
        <p:nvSpPr>
          <p:cNvPr id="31" name="Text 29"/>
          <p:cNvSpPr/>
          <p:nvPr/>
        </p:nvSpPr>
        <p:spPr>
          <a:xfrm>
            <a:off x="320040" y="2651760"/>
            <a:ext cx="512064" cy="246888"/>
          </a:xfrm>
          <a:prstGeom prst="rect">
            <a:avLst/>
          </a:prstGeom>
          <a:noFill/>
          <a:ln/>
        </p:spPr>
        <p:txBody>
          <a:bodyPr wrap="square" rtlCol="0" anchor="ctr"/>
          <a:lstStyle/>
          <a:p>
            <a:pPr marL="0" indent="0" algn="ctr">
              <a:buNone/>
            </a:pPr>
            <a:r>
              <a:rPr lang="en-US" sz="600" b="1" dirty="0">
                <a:solidFill>
                  <a:srgbClr val="C0392B"/>
                </a:solidFill>
                <a:latin typeface="Calibri" pitchFamily="34" charset="0"/>
                <a:ea typeface="Calibri" pitchFamily="34" charset="-122"/>
                <a:cs typeface="Calibri" pitchFamily="34" charset="-120"/>
              </a:rPr>
              <a:t>Text</a:t>
            </a:r>
            <a:endParaRPr lang="en-US" sz="600" dirty="0"/>
          </a:p>
        </p:txBody>
      </p:sp>
      <p:sp>
        <p:nvSpPr>
          <p:cNvPr id="32" name="Text 30"/>
          <p:cNvSpPr/>
          <p:nvPr/>
        </p:nvSpPr>
        <p:spPr>
          <a:xfrm>
            <a:off x="850392" y="265176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WFD_AttText2</a:t>
            </a:r>
            <a:endParaRPr lang="en-US" sz="720" dirty="0"/>
          </a:p>
        </p:txBody>
      </p:sp>
      <p:sp>
        <p:nvSpPr>
          <p:cNvPr id="33" name="Text 31"/>
          <p:cNvSpPr/>
          <p:nvPr/>
        </p:nvSpPr>
        <p:spPr>
          <a:xfrm>
            <a:off x="2057400" y="2651760"/>
            <a:ext cx="2103120" cy="24688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Anna Schmidt</a:t>
            </a:r>
            <a:endParaRPr lang="en-US" sz="750" dirty="0"/>
          </a:p>
        </p:txBody>
      </p:sp>
      <p:sp>
        <p:nvSpPr>
          <p:cNvPr id="34" name="Text 32"/>
          <p:cNvSpPr/>
          <p:nvPr/>
        </p:nvSpPr>
        <p:spPr>
          <a:xfrm>
            <a:off x="3886200" y="2651760"/>
            <a:ext cx="274320" cy="246888"/>
          </a:xfrm>
          <a:prstGeom prst="rect">
            <a:avLst/>
          </a:prstGeom>
          <a:noFill/>
          <a:ln/>
        </p:spPr>
        <p:txBody>
          <a:bodyPr wrap="square" rtlCol="0" anchor="ctr"/>
          <a:lstStyle/>
          <a:p>
            <a:pPr marL="0" indent="0" algn="ctr">
              <a:buNone/>
            </a:pPr>
            <a:r>
              <a:rPr lang="en-US" sz="800" dirty="0">
                <a:solidFill>
                  <a:srgbClr val="000000"/>
                </a:solidFill>
              </a:rPr>
              <a:t>🔴</a:t>
            </a:r>
            <a:endParaRPr lang="en-US" sz="800" dirty="0"/>
          </a:p>
        </p:txBody>
      </p:sp>
      <p:sp>
        <p:nvSpPr>
          <p:cNvPr id="35" name="Shape 33"/>
          <p:cNvSpPr/>
          <p:nvPr/>
        </p:nvSpPr>
        <p:spPr>
          <a:xfrm>
            <a:off x="320040" y="2926080"/>
            <a:ext cx="3913632" cy="246888"/>
          </a:xfrm>
          <a:prstGeom prst="rect">
            <a:avLst/>
          </a:prstGeom>
          <a:solidFill>
            <a:srgbClr val="FFF0F0"/>
          </a:solidFill>
          <a:ln/>
        </p:spPr>
      </p:sp>
      <p:sp>
        <p:nvSpPr>
          <p:cNvPr id="36" name="Shape 34"/>
          <p:cNvSpPr/>
          <p:nvPr/>
        </p:nvSpPr>
        <p:spPr>
          <a:xfrm>
            <a:off x="320040" y="2926080"/>
            <a:ext cx="512064" cy="246888"/>
          </a:xfrm>
          <a:prstGeom prst="rect">
            <a:avLst/>
          </a:prstGeom>
          <a:solidFill>
            <a:srgbClr val="FFEBEE"/>
          </a:solidFill>
          <a:ln/>
        </p:spPr>
      </p:sp>
      <p:sp>
        <p:nvSpPr>
          <p:cNvPr id="37" name="Text 35"/>
          <p:cNvSpPr/>
          <p:nvPr/>
        </p:nvSpPr>
        <p:spPr>
          <a:xfrm>
            <a:off x="320040" y="2926080"/>
            <a:ext cx="512064" cy="246888"/>
          </a:xfrm>
          <a:prstGeom prst="rect">
            <a:avLst/>
          </a:prstGeom>
          <a:noFill/>
          <a:ln/>
        </p:spPr>
        <p:txBody>
          <a:bodyPr wrap="square" rtlCol="0" anchor="ctr"/>
          <a:lstStyle/>
          <a:p>
            <a:pPr marL="0" indent="0" algn="ctr">
              <a:buNone/>
            </a:pPr>
            <a:r>
              <a:rPr lang="en-US" sz="600" b="1" dirty="0">
                <a:solidFill>
                  <a:srgbClr val="C0392B"/>
                </a:solidFill>
                <a:latin typeface="Calibri" pitchFamily="34" charset="0"/>
                <a:ea typeface="Calibri" pitchFamily="34" charset="-122"/>
                <a:cs typeface="Calibri" pitchFamily="34" charset="-120"/>
              </a:rPr>
              <a:t>Text</a:t>
            </a:r>
            <a:endParaRPr lang="en-US" sz="600" dirty="0"/>
          </a:p>
        </p:txBody>
      </p:sp>
      <p:sp>
        <p:nvSpPr>
          <p:cNvPr id="38" name="Text 36"/>
          <p:cNvSpPr/>
          <p:nvPr/>
        </p:nvSpPr>
        <p:spPr>
          <a:xfrm>
            <a:off x="850392" y="292608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WFD_AttText3</a:t>
            </a:r>
            <a:endParaRPr lang="en-US" sz="720" dirty="0"/>
          </a:p>
        </p:txBody>
      </p:sp>
      <p:sp>
        <p:nvSpPr>
          <p:cNvPr id="39" name="Text 37"/>
          <p:cNvSpPr/>
          <p:nvPr/>
        </p:nvSpPr>
        <p:spPr>
          <a:xfrm>
            <a:off x="2057400" y="2926080"/>
            <a:ext cx="2103120" cy="24688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Hypertension</a:t>
            </a:r>
            <a:endParaRPr lang="en-US" sz="750" dirty="0"/>
          </a:p>
        </p:txBody>
      </p:sp>
      <p:sp>
        <p:nvSpPr>
          <p:cNvPr id="40" name="Text 38"/>
          <p:cNvSpPr/>
          <p:nvPr/>
        </p:nvSpPr>
        <p:spPr>
          <a:xfrm>
            <a:off x="3886200" y="2926080"/>
            <a:ext cx="274320" cy="246888"/>
          </a:xfrm>
          <a:prstGeom prst="rect">
            <a:avLst/>
          </a:prstGeom>
          <a:noFill/>
          <a:ln/>
        </p:spPr>
        <p:txBody>
          <a:bodyPr wrap="square" rtlCol="0" anchor="ctr"/>
          <a:lstStyle/>
          <a:p>
            <a:pPr marL="0" indent="0" algn="ctr">
              <a:buNone/>
            </a:pPr>
            <a:r>
              <a:rPr lang="en-US" sz="800" dirty="0">
                <a:solidFill>
                  <a:srgbClr val="000000"/>
                </a:solidFill>
              </a:rPr>
              <a:t>🔴</a:t>
            </a:r>
            <a:endParaRPr lang="en-US" sz="800" dirty="0"/>
          </a:p>
        </p:txBody>
      </p:sp>
      <p:sp>
        <p:nvSpPr>
          <p:cNvPr id="41" name="Shape 39"/>
          <p:cNvSpPr/>
          <p:nvPr/>
        </p:nvSpPr>
        <p:spPr>
          <a:xfrm>
            <a:off x="320040" y="3200400"/>
            <a:ext cx="3913632" cy="246888"/>
          </a:xfrm>
          <a:prstGeom prst="rect">
            <a:avLst/>
          </a:prstGeom>
          <a:solidFill>
            <a:srgbClr val="FFF0F0"/>
          </a:solidFill>
          <a:ln/>
        </p:spPr>
      </p:sp>
      <p:sp>
        <p:nvSpPr>
          <p:cNvPr id="42" name="Shape 40"/>
          <p:cNvSpPr/>
          <p:nvPr/>
        </p:nvSpPr>
        <p:spPr>
          <a:xfrm>
            <a:off x="320040" y="3200400"/>
            <a:ext cx="512064" cy="246888"/>
          </a:xfrm>
          <a:prstGeom prst="rect">
            <a:avLst/>
          </a:prstGeom>
          <a:solidFill>
            <a:srgbClr val="FFEBEE"/>
          </a:solidFill>
          <a:ln/>
        </p:spPr>
      </p:sp>
      <p:sp>
        <p:nvSpPr>
          <p:cNvPr id="43" name="Text 41"/>
          <p:cNvSpPr/>
          <p:nvPr/>
        </p:nvSpPr>
        <p:spPr>
          <a:xfrm>
            <a:off x="320040" y="3200400"/>
            <a:ext cx="512064" cy="246888"/>
          </a:xfrm>
          <a:prstGeom prst="rect">
            <a:avLst/>
          </a:prstGeom>
          <a:noFill/>
          <a:ln/>
        </p:spPr>
        <p:txBody>
          <a:bodyPr wrap="square" rtlCol="0" anchor="ctr"/>
          <a:lstStyle/>
          <a:p>
            <a:pPr marL="0" indent="0" algn="ctr">
              <a:buNone/>
            </a:pPr>
            <a:r>
              <a:rPr lang="en-US" sz="600" b="1" dirty="0">
                <a:solidFill>
                  <a:srgbClr val="C0392B"/>
                </a:solidFill>
                <a:latin typeface="Calibri" pitchFamily="34" charset="0"/>
                <a:ea typeface="Calibri" pitchFamily="34" charset="-122"/>
                <a:cs typeface="Calibri" pitchFamily="34" charset="-120"/>
              </a:rPr>
              <a:t>Text</a:t>
            </a:r>
            <a:endParaRPr lang="en-US" sz="600" dirty="0"/>
          </a:p>
        </p:txBody>
      </p:sp>
      <p:sp>
        <p:nvSpPr>
          <p:cNvPr id="44" name="Text 42"/>
          <p:cNvSpPr/>
          <p:nvPr/>
        </p:nvSpPr>
        <p:spPr>
          <a:xfrm>
            <a:off x="850392" y="320040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WFD_AttText4</a:t>
            </a:r>
            <a:endParaRPr lang="en-US" sz="720" dirty="0"/>
          </a:p>
        </p:txBody>
      </p:sp>
      <p:sp>
        <p:nvSpPr>
          <p:cNvPr id="45" name="Text 43"/>
          <p:cNvSpPr/>
          <p:nvPr/>
        </p:nvSpPr>
        <p:spPr>
          <a:xfrm>
            <a:off x="2057400" y="3200400"/>
            <a:ext cx="2103120" cy="246888"/>
          </a:xfrm>
          <a:prstGeom prst="rect">
            <a:avLst/>
          </a:prstGeom>
          <a:noFill/>
          <a:ln/>
        </p:spPr>
        <p:txBody>
          <a:bodyPr wrap="square" rtlCol="0" anchor="ctr"/>
          <a:lstStyle/>
          <a:p>
            <a:pPr marL="0" indent="0">
              <a:buNone/>
            </a:pPr>
            <a:r>
              <a:rPr lang="en-US" sz="750" b="1" dirty="0" err="1">
                <a:solidFill>
                  <a:srgbClr val="C0392B"/>
                </a:solidFill>
                <a:latin typeface="Calibri" pitchFamily="34" charset="0"/>
                <a:ea typeface="Calibri" pitchFamily="34" charset="-122"/>
                <a:cs typeface="Calibri" pitchFamily="34" charset="-120"/>
              </a:rPr>
              <a:t>a.schmidt@COMPANY</a:t>
            </a:r>
            <a:r>
              <a:rPr lang="en-US" sz="750" b="1" dirty="0">
                <a:solidFill>
                  <a:srgbClr val="C0392B"/>
                </a:solidFill>
                <a:latin typeface="Calibri" pitchFamily="34" charset="0"/>
                <a:ea typeface="Calibri" pitchFamily="34" charset="-122"/>
                <a:cs typeface="Calibri" pitchFamily="34" charset="-120"/>
              </a:rPr>
              <a:t> NAME.com</a:t>
            </a:r>
            <a:endParaRPr lang="en-US" sz="750" dirty="0"/>
          </a:p>
        </p:txBody>
      </p:sp>
      <p:sp>
        <p:nvSpPr>
          <p:cNvPr id="46" name="Text 44"/>
          <p:cNvSpPr/>
          <p:nvPr/>
        </p:nvSpPr>
        <p:spPr>
          <a:xfrm>
            <a:off x="3886200" y="3200400"/>
            <a:ext cx="274320" cy="246888"/>
          </a:xfrm>
          <a:prstGeom prst="rect">
            <a:avLst/>
          </a:prstGeom>
          <a:noFill/>
          <a:ln/>
        </p:spPr>
        <p:txBody>
          <a:bodyPr wrap="square" rtlCol="0" anchor="ctr"/>
          <a:lstStyle/>
          <a:p>
            <a:pPr marL="0" indent="0" algn="ctr">
              <a:buNone/>
            </a:pPr>
            <a:r>
              <a:rPr lang="en-US" sz="800" dirty="0">
                <a:solidFill>
                  <a:srgbClr val="000000"/>
                </a:solidFill>
              </a:rPr>
              <a:t>🔴</a:t>
            </a:r>
            <a:endParaRPr lang="en-US" sz="800" dirty="0"/>
          </a:p>
        </p:txBody>
      </p:sp>
      <p:sp>
        <p:nvSpPr>
          <p:cNvPr id="47" name="Shape 45"/>
          <p:cNvSpPr/>
          <p:nvPr/>
        </p:nvSpPr>
        <p:spPr>
          <a:xfrm>
            <a:off x="320040" y="3474720"/>
            <a:ext cx="3913632" cy="246888"/>
          </a:xfrm>
          <a:prstGeom prst="rect">
            <a:avLst/>
          </a:prstGeom>
          <a:solidFill>
            <a:srgbClr val="FFF0F0"/>
          </a:solidFill>
          <a:ln/>
        </p:spPr>
      </p:sp>
      <p:sp>
        <p:nvSpPr>
          <p:cNvPr id="48" name="Shape 46"/>
          <p:cNvSpPr/>
          <p:nvPr/>
        </p:nvSpPr>
        <p:spPr>
          <a:xfrm>
            <a:off x="320040" y="3474720"/>
            <a:ext cx="512064" cy="246888"/>
          </a:xfrm>
          <a:prstGeom prst="rect">
            <a:avLst/>
          </a:prstGeom>
          <a:solidFill>
            <a:srgbClr val="FFEBEE"/>
          </a:solidFill>
          <a:ln/>
        </p:spPr>
      </p:sp>
      <p:sp>
        <p:nvSpPr>
          <p:cNvPr id="49" name="Text 47"/>
          <p:cNvSpPr/>
          <p:nvPr/>
        </p:nvSpPr>
        <p:spPr>
          <a:xfrm>
            <a:off x="320040" y="3474720"/>
            <a:ext cx="512064" cy="246888"/>
          </a:xfrm>
          <a:prstGeom prst="rect">
            <a:avLst/>
          </a:prstGeom>
          <a:noFill/>
          <a:ln/>
        </p:spPr>
        <p:txBody>
          <a:bodyPr wrap="square" rtlCol="0" anchor="ctr"/>
          <a:lstStyle/>
          <a:p>
            <a:pPr marL="0" indent="0" algn="ctr">
              <a:buNone/>
            </a:pPr>
            <a:r>
              <a:rPr lang="en-US" sz="600" b="1" dirty="0">
                <a:solidFill>
                  <a:srgbClr val="C0392B"/>
                </a:solidFill>
                <a:latin typeface="Calibri" pitchFamily="34" charset="0"/>
                <a:ea typeface="Calibri" pitchFamily="34" charset="-122"/>
                <a:cs typeface="Calibri" pitchFamily="34" charset="-120"/>
              </a:rPr>
              <a:t>Decimal</a:t>
            </a:r>
            <a:endParaRPr lang="en-US" sz="600" dirty="0"/>
          </a:p>
        </p:txBody>
      </p:sp>
      <p:sp>
        <p:nvSpPr>
          <p:cNvPr id="50" name="Text 48"/>
          <p:cNvSpPr/>
          <p:nvPr/>
        </p:nvSpPr>
        <p:spPr>
          <a:xfrm>
            <a:off x="850392" y="347472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WFD_AttDecimal1</a:t>
            </a:r>
            <a:endParaRPr lang="en-US" sz="720" dirty="0"/>
          </a:p>
        </p:txBody>
      </p:sp>
      <p:sp>
        <p:nvSpPr>
          <p:cNvPr id="51" name="Text 49"/>
          <p:cNvSpPr/>
          <p:nvPr/>
        </p:nvSpPr>
        <p:spPr>
          <a:xfrm>
            <a:off x="2057400" y="3474720"/>
            <a:ext cx="2103120" cy="24688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85,000.00 EUR</a:t>
            </a:r>
            <a:endParaRPr lang="en-US" sz="750" dirty="0"/>
          </a:p>
        </p:txBody>
      </p:sp>
      <p:sp>
        <p:nvSpPr>
          <p:cNvPr id="52" name="Text 50"/>
          <p:cNvSpPr/>
          <p:nvPr/>
        </p:nvSpPr>
        <p:spPr>
          <a:xfrm>
            <a:off x="3886200" y="3474720"/>
            <a:ext cx="274320" cy="246888"/>
          </a:xfrm>
          <a:prstGeom prst="rect">
            <a:avLst/>
          </a:prstGeom>
          <a:noFill/>
          <a:ln/>
        </p:spPr>
        <p:txBody>
          <a:bodyPr wrap="square" rtlCol="0" anchor="ctr"/>
          <a:lstStyle/>
          <a:p>
            <a:pPr marL="0" indent="0" algn="ctr">
              <a:buNone/>
            </a:pPr>
            <a:r>
              <a:rPr lang="en-US" sz="800" dirty="0">
                <a:solidFill>
                  <a:srgbClr val="000000"/>
                </a:solidFill>
              </a:rPr>
              <a:t>🔴</a:t>
            </a:r>
            <a:endParaRPr lang="en-US" sz="800" dirty="0"/>
          </a:p>
        </p:txBody>
      </p:sp>
      <p:sp>
        <p:nvSpPr>
          <p:cNvPr id="53" name="Shape 51"/>
          <p:cNvSpPr/>
          <p:nvPr/>
        </p:nvSpPr>
        <p:spPr>
          <a:xfrm>
            <a:off x="320040" y="3749040"/>
            <a:ext cx="3913632" cy="246888"/>
          </a:xfrm>
          <a:prstGeom prst="rect">
            <a:avLst/>
          </a:prstGeom>
          <a:solidFill>
            <a:srgbClr val="FFF0F0"/>
          </a:solidFill>
          <a:ln/>
        </p:spPr>
      </p:sp>
      <p:sp>
        <p:nvSpPr>
          <p:cNvPr id="54" name="Shape 52"/>
          <p:cNvSpPr/>
          <p:nvPr/>
        </p:nvSpPr>
        <p:spPr>
          <a:xfrm>
            <a:off x="320040" y="3749040"/>
            <a:ext cx="512064" cy="246888"/>
          </a:xfrm>
          <a:prstGeom prst="rect">
            <a:avLst/>
          </a:prstGeom>
          <a:solidFill>
            <a:srgbClr val="FFEBEE"/>
          </a:solidFill>
          <a:ln/>
        </p:spPr>
      </p:sp>
      <p:sp>
        <p:nvSpPr>
          <p:cNvPr id="55" name="Text 53"/>
          <p:cNvSpPr/>
          <p:nvPr/>
        </p:nvSpPr>
        <p:spPr>
          <a:xfrm>
            <a:off x="320040" y="3749040"/>
            <a:ext cx="512064" cy="246888"/>
          </a:xfrm>
          <a:prstGeom prst="rect">
            <a:avLst/>
          </a:prstGeom>
          <a:noFill/>
          <a:ln/>
        </p:spPr>
        <p:txBody>
          <a:bodyPr wrap="square" rtlCol="0" anchor="ctr"/>
          <a:lstStyle/>
          <a:p>
            <a:pPr marL="0" indent="0" algn="ctr">
              <a:buNone/>
            </a:pPr>
            <a:r>
              <a:rPr lang="en-US" sz="600" b="1" dirty="0">
                <a:solidFill>
                  <a:srgbClr val="C0392B"/>
                </a:solidFill>
                <a:latin typeface="Calibri" pitchFamily="34" charset="0"/>
                <a:ea typeface="Calibri" pitchFamily="34" charset="-122"/>
                <a:cs typeface="Calibri" pitchFamily="34" charset="-120"/>
              </a:rPr>
              <a:t>Long</a:t>
            </a:r>
            <a:endParaRPr lang="en-US" sz="600" dirty="0"/>
          </a:p>
        </p:txBody>
      </p:sp>
      <p:sp>
        <p:nvSpPr>
          <p:cNvPr id="56" name="Text 54"/>
          <p:cNvSpPr/>
          <p:nvPr/>
        </p:nvSpPr>
        <p:spPr>
          <a:xfrm>
            <a:off x="850392" y="374904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WFD_AttLong1</a:t>
            </a:r>
            <a:endParaRPr lang="en-US" sz="720" dirty="0"/>
          </a:p>
        </p:txBody>
      </p:sp>
      <p:sp>
        <p:nvSpPr>
          <p:cNvPr id="57" name="Text 55"/>
          <p:cNvSpPr/>
          <p:nvPr/>
        </p:nvSpPr>
        <p:spPr>
          <a:xfrm>
            <a:off x="2057400" y="3749040"/>
            <a:ext cx="2103120" cy="24688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Medical certificate...</a:t>
            </a:r>
            <a:endParaRPr lang="en-US" sz="750" dirty="0"/>
          </a:p>
        </p:txBody>
      </p:sp>
      <p:sp>
        <p:nvSpPr>
          <p:cNvPr id="58" name="Text 56"/>
          <p:cNvSpPr/>
          <p:nvPr/>
        </p:nvSpPr>
        <p:spPr>
          <a:xfrm>
            <a:off x="3886200" y="3749040"/>
            <a:ext cx="274320" cy="246888"/>
          </a:xfrm>
          <a:prstGeom prst="rect">
            <a:avLst/>
          </a:prstGeom>
          <a:noFill/>
          <a:ln/>
        </p:spPr>
        <p:txBody>
          <a:bodyPr wrap="square" rtlCol="0" anchor="ctr"/>
          <a:lstStyle/>
          <a:p>
            <a:pPr marL="0" indent="0" algn="ctr">
              <a:buNone/>
            </a:pPr>
            <a:r>
              <a:rPr lang="en-US" sz="800" dirty="0">
                <a:solidFill>
                  <a:srgbClr val="000000"/>
                </a:solidFill>
              </a:rPr>
              <a:t>🔴</a:t>
            </a:r>
            <a:endParaRPr lang="en-US" sz="800" dirty="0"/>
          </a:p>
        </p:txBody>
      </p:sp>
      <p:sp>
        <p:nvSpPr>
          <p:cNvPr id="59" name="Shape 57"/>
          <p:cNvSpPr/>
          <p:nvPr/>
        </p:nvSpPr>
        <p:spPr>
          <a:xfrm>
            <a:off x="320040" y="4023360"/>
            <a:ext cx="3913632" cy="246888"/>
          </a:xfrm>
          <a:prstGeom prst="rect">
            <a:avLst/>
          </a:prstGeom>
          <a:solidFill>
            <a:srgbClr val="F8FAFC"/>
          </a:solidFill>
          <a:ln/>
        </p:spPr>
      </p:sp>
      <p:sp>
        <p:nvSpPr>
          <p:cNvPr id="60" name="Shape 58"/>
          <p:cNvSpPr/>
          <p:nvPr/>
        </p:nvSpPr>
        <p:spPr>
          <a:xfrm>
            <a:off x="320040" y="4023360"/>
            <a:ext cx="512064" cy="246888"/>
          </a:xfrm>
          <a:prstGeom prst="rect">
            <a:avLst/>
          </a:prstGeom>
          <a:solidFill>
            <a:srgbClr val="F0F4FF"/>
          </a:solidFill>
          <a:ln/>
        </p:spPr>
      </p:sp>
      <p:sp>
        <p:nvSpPr>
          <p:cNvPr id="61" name="Text 59"/>
          <p:cNvSpPr/>
          <p:nvPr/>
        </p:nvSpPr>
        <p:spPr>
          <a:xfrm>
            <a:off x="320040" y="402336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Date</a:t>
            </a:r>
            <a:endParaRPr lang="en-US" sz="600" dirty="0"/>
          </a:p>
        </p:txBody>
      </p:sp>
      <p:sp>
        <p:nvSpPr>
          <p:cNvPr id="62" name="Text 60"/>
          <p:cNvSpPr/>
          <p:nvPr/>
        </p:nvSpPr>
        <p:spPr>
          <a:xfrm>
            <a:off x="850392" y="402336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WFD_AttDate1</a:t>
            </a:r>
            <a:endParaRPr lang="en-US" sz="720" dirty="0"/>
          </a:p>
        </p:txBody>
      </p:sp>
      <p:sp>
        <p:nvSpPr>
          <p:cNvPr id="63" name="Text 61"/>
          <p:cNvSpPr/>
          <p:nvPr/>
        </p:nvSpPr>
        <p:spPr>
          <a:xfrm>
            <a:off x="2057400" y="402336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2026-04-14</a:t>
            </a:r>
            <a:endParaRPr lang="en-US" sz="750" dirty="0"/>
          </a:p>
        </p:txBody>
      </p:sp>
      <p:sp>
        <p:nvSpPr>
          <p:cNvPr id="64" name="Shape 62"/>
          <p:cNvSpPr/>
          <p:nvPr/>
        </p:nvSpPr>
        <p:spPr>
          <a:xfrm>
            <a:off x="320040" y="4297680"/>
            <a:ext cx="3913632" cy="246888"/>
          </a:xfrm>
          <a:prstGeom prst="rect">
            <a:avLst/>
          </a:prstGeom>
          <a:solidFill>
            <a:srgbClr val="FFFFFF"/>
          </a:solidFill>
          <a:ln/>
        </p:spPr>
      </p:sp>
      <p:sp>
        <p:nvSpPr>
          <p:cNvPr id="65" name="Shape 63"/>
          <p:cNvSpPr/>
          <p:nvPr/>
        </p:nvSpPr>
        <p:spPr>
          <a:xfrm>
            <a:off x="320040" y="4297680"/>
            <a:ext cx="512064" cy="246888"/>
          </a:xfrm>
          <a:prstGeom prst="rect">
            <a:avLst/>
          </a:prstGeom>
          <a:solidFill>
            <a:srgbClr val="F0F4FF"/>
          </a:solidFill>
          <a:ln/>
        </p:spPr>
      </p:sp>
      <p:sp>
        <p:nvSpPr>
          <p:cNvPr id="66" name="Text 64"/>
          <p:cNvSpPr/>
          <p:nvPr/>
        </p:nvSpPr>
        <p:spPr>
          <a:xfrm>
            <a:off x="320040" y="429768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Date</a:t>
            </a:r>
            <a:endParaRPr lang="en-US" sz="600" dirty="0"/>
          </a:p>
        </p:txBody>
      </p:sp>
      <p:sp>
        <p:nvSpPr>
          <p:cNvPr id="67" name="Text 65"/>
          <p:cNvSpPr/>
          <p:nvPr/>
        </p:nvSpPr>
        <p:spPr>
          <a:xfrm>
            <a:off x="850392" y="429768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WFD_AttDate2</a:t>
            </a:r>
            <a:endParaRPr lang="en-US" sz="720" dirty="0"/>
          </a:p>
        </p:txBody>
      </p:sp>
      <p:sp>
        <p:nvSpPr>
          <p:cNvPr id="68" name="Text 66"/>
          <p:cNvSpPr/>
          <p:nvPr/>
        </p:nvSpPr>
        <p:spPr>
          <a:xfrm>
            <a:off x="2057400" y="429768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2026-04-25</a:t>
            </a:r>
            <a:endParaRPr lang="en-US" sz="750" dirty="0"/>
          </a:p>
        </p:txBody>
      </p:sp>
      <p:sp>
        <p:nvSpPr>
          <p:cNvPr id="69" name="Shape 67"/>
          <p:cNvSpPr/>
          <p:nvPr/>
        </p:nvSpPr>
        <p:spPr>
          <a:xfrm>
            <a:off x="320040" y="4572000"/>
            <a:ext cx="3913632" cy="246888"/>
          </a:xfrm>
          <a:prstGeom prst="rect">
            <a:avLst/>
          </a:prstGeom>
          <a:solidFill>
            <a:srgbClr val="F8FAFC"/>
          </a:solidFill>
          <a:ln/>
        </p:spPr>
      </p:sp>
      <p:sp>
        <p:nvSpPr>
          <p:cNvPr id="70" name="Shape 68"/>
          <p:cNvSpPr/>
          <p:nvPr/>
        </p:nvSpPr>
        <p:spPr>
          <a:xfrm>
            <a:off x="320040" y="4572000"/>
            <a:ext cx="512064" cy="246888"/>
          </a:xfrm>
          <a:prstGeom prst="rect">
            <a:avLst/>
          </a:prstGeom>
          <a:solidFill>
            <a:srgbClr val="F0F4FF"/>
          </a:solidFill>
          <a:ln/>
        </p:spPr>
      </p:sp>
      <p:sp>
        <p:nvSpPr>
          <p:cNvPr id="71" name="Text 69"/>
          <p:cNvSpPr/>
          <p:nvPr/>
        </p:nvSpPr>
        <p:spPr>
          <a:xfrm>
            <a:off x="320040" y="4572000"/>
            <a:ext cx="512064" cy="246888"/>
          </a:xfrm>
          <a:prstGeom prst="rect">
            <a:avLst/>
          </a:prstGeom>
          <a:noFill/>
          <a:ln/>
        </p:spPr>
        <p:txBody>
          <a:bodyPr wrap="square" rtlCol="0" anchor="ctr"/>
          <a:lstStyle/>
          <a:p>
            <a:pPr marL="0" indent="0" algn="ctr">
              <a:buNone/>
            </a:pPr>
            <a:r>
              <a:rPr lang="en-US" sz="600" b="1" dirty="0">
                <a:solidFill>
                  <a:srgbClr val="5577AA"/>
                </a:solidFill>
                <a:latin typeface="Calibri" pitchFamily="34" charset="0"/>
                <a:ea typeface="Calibri" pitchFamily="34" charset="-122"/>
                <a:cs typeface="Calibri" pitchFamily="34" charset="-120"/>
              </a:rPr>
              <a:t>People</a:t>
            </a:r>
            <a:endParaRPr lang="en-US" sz="600" dirty="0"/>
          </a:p>
        </p:txBody>
      </p:sp>
      <p:sp>
        <p:nvSpPr>
          <p:cNvPr id="72" name="Text 70"/>
          <p:cNvSpPr/>
          <p:nvPr/>
        </p:nvSpPr>
        <p:spPr>
          <a:xfrm>
            <a:off x="850392" y="4572000"/>
            <a:ext cx="1188720" cy="246888"/>
          </a:xfrm>
          <a:prstGeom prst="rect">
            <a:avLst/>
          </a:prstGeom>
          <a:noFill/>
          <a:ln/>
        </p:spPr>
        <p:txBody>
          <a:bodyPr wrap="square" rtlCol="0" anchor="ctr"/>
          <a:lstStyle/>
          <a:p>
            <a:pPr marL="0" indent="0">
              <a:buNone/>
            </a:pPr>
            <a:r>
              <a:rPr lang="en-US" sz="720" dirty="0">
                <a:solidFill>
                  <a:srgbClr val="334466"/>
                </a:solidFill>
                <a:latin typeface="Consolas" pitchFamily="34" charset="0"/>
                <a:ea typeface="Consolas" pitchFamily="34" charset="-122"/>
                <a:cs typeface="Consolas" pitchFamily="34" charset="-120"/>
              </a:rPr>
              <a:t>WFD_AttPeople1</a:t>
            </a:r>
            <a:endParaRPr lang="en-US" sz="720" dirty="0"/>
          </a:p>
        </p:txBody>
      </p:sp>
      <p:sp>
        <p:nvSpPr>
          <p:cNvPr id="73" name="Text 71"/>
          <p:cNvSpPr/>
          <p:nvPr/>
        </p:nvSpPr>
        <p:spPr>
          <a:xfrm>
            <a:off x="2057400" y="4572000"/>
            <a:ext cx="2103120" cy="24688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m.janssen (Manager)</a:t>
            </a:r>
            <a:endParaRPr lang="en-US" sz="750" dirty="0"/>
          </a:p>
        </p:txBody>
      </p:sp>
      <p:sp>
        <p:nvSpPr>
          <p:cNvPr id="74" name="Shape 72"/>
          <p:cNvSpPr/>
          <p:nvPr/>
        </p:nvSpPr>
        <p:spPr>
          <a:xfrm>
            <a:off x="4572000" y="1188720"/>
            <a:ext cx="4315968" cy="1389888"/>
          </a:xfrm>
          <a:prstGeom prst="rect">
            <a:avLst/>
          </a:prstGeom>
          <a:solidFill>
            <a:srgbClr val="FFFFFF"/>
          </a:solidFill>
          <a:ln/>
          <a:effectLst>
            <a:outerShdw blurRad="101600" dist="38100" dir="8100000" algn="bl" rotWithShape="0">
              <a:srgbClr val="000000">
                <a:alpha val="12000"/>
              </a:srgbClr>
            </a:outerShdw>
          </a:effectLst>
        </p:spPr>
      </p:sp>
      <p:sp>
        <p:nvSpPr>
          <p:cNvPr id="75" name="Shape 73"/>
          <p:cNvSpPr/>
          <p:nvPr/>
        </p:nvSpPr>
        <p:spPr>
          <a:xfrm>
            <a:off x="4572000" y="1188720"/>
            <a:ext cx="4315968" cy="310896"/>
          </a:xfrm>
          <a:prstGeom prst="rect">
            <a:avLst/>
          </a:prstGeom>
          <a:solidFill>
            <a:srgbClr val="FFEBEE"/>
          </a:solidFill>
          <a:ln/>
        </p:spPr>
      </p:sp>
      <p:sp>
        <p:nvSpPr>
          <p:cNvPr id="76" name="Text 74"/>
          <p:cNvSpPr/>
          <p:nvPr/>
        </p:nvSpPr>
        <p:spPr>
          <a:xfrm>
            <a:off x="4663440" y="1188720"/>
            <a:ext cx="4160520" cy="310896"/>
          </a:xfrm>
          <a:prstGeom prst="rect">
            <a:avLst/>
          </a:prstGeom>
          <a:noFill/>
          <a:ln/>
        </p:spPr>
        <p:txBody>
          <a:bodyPr wrap="square"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Scale — What an Unprotected SELECT * Returns</a:t>
            </a:r>
            <a:endParaRPr lang="en-US" sz="950" dirty="0"/>
          </a:p>
        </p:txBody>
      </p:sp>
      <p:sp>
        <p:nvSpPr>
          <p:cNvPr id="77" name="Text 75"/>
          <p:cNvSpPr/>
          <p:nvPr/>
        </p:nvSpPr>
        <p:spPr>
          <a:xfrm>
            <a:off x="4663440" y="1554480"/>
            <a:ext cx="242316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Total WFElements rows:</a:t>
            </a:r>
            <a:endParaRPr lang="en-US" sz="900" dirty="0"/>
          </a:p>
        </p:txBody>
      </p:sp>
      <p:sp>
        <p:nvSpPr>
          <p:cNvPr id="78" name="Text 76"/>
          <p:cNvSpPr/>
          <p:nvPr/>
        </p:nvSpPr>
        <p:spPr>
          <a:xfrm>
            <a:off x="7114032" y="1554480"/>
            <a:ext cx="804672" cy="22860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~12,000+</a:t>
            </a:r>
            <a:endParaRPr lang="en-US" sz="1100" dirty="0"/>
          </a:p>
        </p:txBody>
      </p:sp>
      <p:sp>
        <p:nvSpPr>
          <p:cNvPr id="79" name="Text 77"/>
          <p:cNvSpPr/>
          <p:nvPr/>
        </p:nvSpPr>
        <p:spPr>
          <a:xfrm>
            <a:off x="7936992" y="1554480"/>
            <a:ext cx="886968" cy="228600"/>
          </a:xfrm>
          <a:prstGeom prst="rect">
            <a:avLst/>
          </a:prstGeom>
          <a:noFill/>
          <a:ln/>
        </p:spPr>
        <p:txBody>
          <a:bodyPr wrap="square" rtlCol="0" anchor="ctr"/>
          <a:lstStyle/>
          <a:p>
            <a:pPr marL="0" indent="0">
              <a:buNone/>
            </a:pPr>
            <a:r>
              <a:rPr lang="en-US" sz="700" dirty="0">
                <a:solidFill>
                  <a:srgbClr val="6B7C93"/>
                </a:solidFill>
                <a:latin typeface="Calibri" pitchFamily="34" charset="0"/>
                <a:ea typeface="Calibri" pitchFamily="34" charset="-122"/>
                <a:cs typeface="Calibri" pitchFamily="34" charset="-120"/>
              </a:rPr>
              <a:t>All processes combined</a:t>
            </a:r>
            <a:endParaRPr lang="en-US" sz="700" dirty="0"/>
          </a:p>
        </p:txBody>
      </p:sp>
      <p:sp>
        <p:nvSpPr>
          <p:cNvPr id="80" name="Text 78"/>
          <p:cNvSpPr/>
          <p:nvPr/>
        </p:nvSpPr>
        <p:spPr>
          <a:xfrm>
            <a:off x="4663440" y="1801368"/>
            <a:ext cx="242316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HR + Payroll rows (EEA only):</a:t>
            </a:r>
            <a:endParaRPr lang="en-US" sz="900" dirty="0"/>
          </a:p>
        </p:txBody>
      </p:sp>
      <p:sp>
        <p:nvSpPr>
          <p:cNvPr id="81" name="Text 79"/>
          <p:cNvSpPr/>
          <p:nvPr/>
        </p:nvSpPr>
        <p:spPr>
          <a:xfrm>
            <a:off x="7114032" y="1801368"/>
            <a:ext cx="804672" cy="22860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~3,400</a:t>
            </a:r>
            <a:endParaRPr lang="en-US" sz="1100" dirty="0"/>
          </a:p>
        </p:txBody>
      </p:sp>
      <p:sp>
        <p:nvSpPr>
          <p:cNvPr id="82" name="Text 80"/>
          <p:cNvSpPr/>
          <p:nvPr/>
        </p:nvSpPr>
        <p:spPr>
          <a:xfrm>
            <a:off x="7936992" y="1801368"/>
            <a:ext cx="886968" cy="228600"/>
          </a:xfrm>
          <a:prstGeom prst="rect">
            <a:avLst/>
          </a:prstGeom>
          <a:noFill/>
          <a:ln/>
        </p:spPr>
        <p:txBody>
          <a:bodyPr wrap="square" rtlCol="0" anchor="ctr"/>
          <a:lstStyle/>
          <a:p>
            <a:pPr marL="0" indent="0">
              <a:buNone/>
            </a:pPr>
            <a:r>
              <a:rPr lang="en-US" sz="700" dirty="0">
                <a:solidFill>
                  <a:srgbClr val="6B7C93"/>
                </a:solidFill>
                <a:latin typeface="Calibri" pitchFamily="34" charset="0"/>
                <a:ea typeface="Calibri" pitchFamily="34" charset="-122"/>
                <a:cs typeface="Calibri" pitchFamily="34" charset="-120"/>
              </a:rPr>
              <a:t>Must be invisible to COMPANY NAME</a:t>
            </a:r>
            <a:endParaRPr lang="en-US" sz="700" dirty="0"/>
          </a:p>
        </p:txBody>
      </p:sp>
      <p:sp>
        <p:nvSpPr>
          <p:cNvPr id="83" name="Text 81"/>
          <p:cNvSpPr/>
          <p:nvPr/>
        </p:nvSpPr>
        <p:spPr>
          <a:xfrm>
            <a:off x="4663440" y="2048256"/>
            <a:ext cx="242316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Columns per row:</a:t>
            </a:r>
            <a:endParaRPr lang="en-US" sz="900" dirty="0"/>
          </a:p>
        </p:txBody>
      </p:sp>
      <p:sp>
        <p:nvSpPr>
          <p:cNvPr id="84" name="Text 82"/>
          <p:cNvSpPr/>
          <p:nvPr/>
        </p:nvSpPr>
        <p:spPr>
          <a:xfrm>
            <a:off x="7114032" y="2048256"/>
            <a:ext cx="804672" cy="22860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80+</a:t>
            </a:r>
            <a:endParaRPr lang="en-US" sz="1100" dirty="0"/>
          </a:p>
        </p:txBody>
      </p:sp>
      <p:sp>
        <p:nvSpPr>
          <p:cNvPr id="85" name="Text 83"/>
          <p:cNvSpPr/>
          <p:nvPr/>
        </p:nvSpPr>
        <p:spPr>
          <a:xfrm>
            <a:off x="7936992" y="2048256"/>
            <a:ext cx="886968" cy="228600"/>
          </a:xfrm>
          <a:prstGeom prst="rect">
            <a:avLst/>
          </a:prstGeom>
          <a:noFill/>
          <a:ln/>
        </p:spPr>
        <p:txBody>
          <a:bodyPr wrap="square" rtlCol="0" anchor="ctr"/>
          <a:lstStyle/>
          <a:p>
            <a:pPr marL="0" indent="0">
              <a:buNone/>
            </a:pPr>
            <a:r>
              <a:rPr lang="en-US" sz="700" dirty="0">
                <a:solidFill>
                  <a:srgbClr val="6B7C93"/>
                </a:solidFill>
                <a:latin typeface="Calibri" pitchFamily="34" charset="0"/>
                <a:ea typeface="Calibri" pitchFamily="34" charset="-122"/>
                <a:cs typeface="Calibri" pitchFamily="34" charset="-120"/>
              </a:rPr>
              <a:t>All pool types combined</a:t>
            </a:r>
            <a:endParaRPr lang="en-US" sz="700" dirty="0"/>
          </a:p>
        </p:txBody>
      </p:sp>
      <p:sp>
        <p:nvSpPr>
          <p:cNvPr id="86" name="Text 84"/>
          <p:cNvSpPr/>
          <p:nvPr/>
        </p:nvSpPr>
        <p:spPr>
          <a:xfrm>
            <a:off x="4663440" y="2295144"/>
            <a:ext cx="242316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PII-capable column slots:</a:t>
            </a:r>
            <a:endParaRPr lang="en-US" sz="900" dirty="0"/>
          </a:p>
        </p:txBody>
      </p:sp>
      <p:sp>
        <p:nvSpPr>
          <p:cNvPr id="87" name="Text 85"/>
          <p:cNvSpPr/>
          <p:nvPr/>
        </p:nvSpPr>
        <p:spPr>
          <a:xfrm>
            <a:off x="7114032" y="2295144"/>
            <a:ext cx="804672" cy="22860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~35</a:t>
            </a:r>
            <a:endParaRPr lang="en-US" sz="1100" dirty="0"/>
          </a:p>
        </p:txBody>
      </p:sp>
      <p:sp>
        <p:nvSpPr>
          <p:cNvPr id="88" name="Text 86"/>
          <p:cNvSpPr/>
          <p:nvPr/>
        </p:nvSpPr>
        <p:spPr>
          <a:xfrm>
            <a:off x="7936992" y="2295144"/>
            <a:ext cx="886968" cy="228600"/>
          </a:xfrm>
          <a:prstGeom prst="rect">
            <a:avLst/>
          </a:prstGeom>
          <a:noFill/>
          <a:ln/>
        </p:spPr>
        <p:txBody>
          <a:bodyPr wrap="square" rtlCol="0" anchor="ctr"/>
          <a:lstStyle/>
          <a:p>
            <a:pPr marL="0" indent="0">
              <a:buNone/>
            </a:pPr>
            <a:r>
              <a:rPr lang="en-US" sz="700" dirty="0">
                <a:solidFill>
                  <a:srgbClr val="6B7C93"/>
                </a:solidFill>
                <a:latin typeface="Calibri" pitchFamily="34" charset="0"/>
                <a:ea typeface="Calibri" pitchFamily="34" charset="-122"/>
                <a:cs typeface="Calibri" pitchFamily="34" charset="-120"/>
              </a:rPr>
              <a:t>Depends on process config</a:t>
            </a:r>
            <a:endParaRPr lang="en-US" sz="700" dirty="0"/>
          </a:p>
        </p:txBody>
      </p:sp>
      <p:sp>
        <p:nvSpPr>
          <p:cNvPr id="89" name="Shape 87"/>
          <p:cNvSpPr/>
          <p:nvPr/>
        </p:nvSpPr>
        <p:spPr>
          <a:xfrm>
            <a:off x="4572000" y="2670048"/>
            <a:ext cx="4315968" cy="2267712"/>
          </a:xfrm>
          <a:prstGeom prst="rect">
            <a:avLst/>
          </a:prstGeom>
          <a:solidFill>
            <a:srgbClr val="FFFFFF"/>
          </a:solidFill>
          <a:ln/>
          <a:effectLst>
            <a:outerShdw blurRad="101600" dist="38100" dir="8100000" algn="bl" rotWithShape="0">
              <a:srgbClr val="000000">
                <a:alpha val="12000"/>
              </a:srgbClr>
            </a:outerShdw>
          </a:effectLst>
        </p:spPr>
      </p:sp>
      <p:sp>
        <p:nvSpPr>
          <p:cNvPr id="90" name="Shape 88"/>
          <p:cNvSpPr/>
          <p:nvPr/>
        </p:nvSpPr>
        <p:spPr>
          <a:xfrm>
            <a:off x="4572000" y="2670048"/>
            <a:ext cx="4315968" cy="292608"/>
          </a:xfrm>
          <a:prstGeom prst="rect">
            <a:avLst/>
          </a:prstGeom>
          <a:solidFill>
            <a:srgbClr val="E8F5E9"/>
          </a:solidFill>
          <a:ln/>
        </p:spPr>
      </p:sp>
      <p:sp>
        <p:nvSpPr>
          <p:cNvPr id="91" name="Text 89"/>
          <p:cNvSpPr/>
          <p:nvPr/>
        </p:nvSpPr>
        <p:spPr>
          <a:xfrm>
            <a:off x="4663440" y="2670048"/>
            <a:ext cx="4160520" cy="292608"/>
          </a:xfrm>
          <a:prstGeom prst="rect">
            <a:avLst/>
          </a:prstGeom>
          <a:noFill/>
          <a:ln/>
        </p:spPr>
        <p:txBody>
          <a:bodyPr wrap="square" rtlCol="0" anchor="ctr"/>
          <a:lstStyle/>
          <a:p>
            <a:pPr marL="0" indent="0">
              <a:buNone/>
            </a:pPr>
            <a:r>
              <a:rPr lang="en-US" sz="950" b="1" dirty="0">
                <a:solidFill>
                  <a:srgbClr val="1B7A4A"/>
                </a:solidFill>
                <a:latin typeface="Calibri" pitchFamily="34" charset="0"/>
                <a:ea typeface="Calibri" pitchFamily="34" charset="-122"/>
                <a:cs typeface="Calibri" pitchFamily="34" charset="-120"/>
              </a:rPr>
              <a:t>Same Query — Different Results by User Role</a:t>
            </a:r>
            <a:endParaRPr lang="en-US" sz="950" dirty="0"/>
          </a:p>
        </p:txBody>
      </p:sp>
      <p:sp>
        <p:nvSpPr>
          <p:cNvPr id="92" name="Shape 90"/>
          <p:cNvSpPr/>
          <p:nvPr/>
        </p:nvSpPr>
        <p:spPr>
          <a:xfrm>
            <a:off x="4626864" y="3017520"/>
            <a:ext cx="4187952" cy="557784"/>
          </a:xfrm>
          <a:prstGeom prst="rect">
            <a:avLst/>
          </a:prstGeom>
          <a:solidFill>
            <a:srgbClr val="F0FFF4"/>
          </a:solidFill>
          <a:ln w="3810">
            <a:solidFill>
              <a:srgbClr val="DDDDDD"/>
            </a:solidFill>
            <a:prstDash val="solid"/>
          </a:ln>
        </p:spPr>
      </p:sp>
      <p:sp>
        <p:nvSpPr>
          <p:cNvPr id="93" name="Shape 91"/>
          <p:cNvSpPr/>
          <p:nvPr/>
        </p:nvSpPr>
        <p:spPr>
          <a:xfrm>
            <a:off x="4626864" y="3017520"/>
            <a:ext cx="1261872" cy="557784"/>
          </a:xfrm>
          <a:prstGeom prst="rect">
            <a:avLst/>
          </a:prstGeom>
          <a:solidFill>
            <a:srgbClr val="FFFFFF"/>
          </a:solidFill>
          <a:ln w="3810">
            <a:solidFill>
              <a:srgbClr val="DDDDDD"/>
            </a:solidFill>
            <a:prstDash val="solid"/>
          </a:ln>
        </p:spPr>
      </p:sp>
      <p:sp>
        <p:nvSpPr>
          <p:cNvPr id="94" name="Text 92"/>
          <p:cNvSpPr/>
          <p:nvPr/>
        </p:nvSpPr>
        <p:spPr>
          <a:xfrm>
            <a:off x="4663440" y="3054096"/>
            <a:ext cx="1188720" cy="484632"/>
          </a:xfrm>
          <a:prstGeom prst="rect">
            <a:avLst/>
          </a:prstGeom>
          <a:noFill/>
          <a:ln/>
        </p:spPr>
        <p:txBody>
          <a:bodyPr wrap="square" rtlCol="0" anchor="ctr"/>
          <a:lstStyle/>
          <a:p>
            <a:pPr marL="0" indent="0">
              <a:buNone/>
            </a:pPr>
            <a:r>
              <a:rPr lang="en-US" sz="750" b="1" dirty="0">
                <a:solidFill>
                  <a:srgbClr val="1B7A4A"/>
                </a:solidFill>
                <a:latin typeface="Calibri" pitchFamily="34" charset="0"/>
                <a:ea typeface="Calibri" pitchFamily="34" charset="-122"/>
                <a:cs typeface="Calibri" pitchFamily="34" charset="-120"/>
              </a:rPr>
              <a:t>EEA Admin (Paris)</a:t>
            </a:r>
            <a:endParaRPr lang="en-US" sz="750" dirty="0"/>
          </a:p>
        </p:txBody>
      </p:sp>
      <p:sp>
        <p:nvSpPr>
          <p:cNvPr id="95" name="Text 93"/>
          <p:cNvSpPr/>
          <p:nvPr/>
        </p:nvSpPr>
        <p:spPr>
          <a:xfrm>
            <a:off x="5925312" y="3044952"/>
            <a:ext cx="1389888" cy="502920"/>
          </a:xfrm>
          <a:prstGeom prst="rect">
            <a:avLst/>
          </a:prstGeom>
          <a:noFill/>
          <a:ln/>
        </p:spPr>
        <p:txBody>
          <a:bodyPr wrap="square" rtlCol="0" anchor="t"/>
          <a:lstStyle/>
          <a:p>
            <a:pPr marL="0" indent="0">
              <a:buNone/>
            </a:pPr>
            <a:r>
              <a:rPr lang="en-US" sz="680" dirty="0">
                <a:solidFill>
                  <a:srgbClr val="1A3A5C"/>
                </a:solidFill>
                <a:latin typeface="Consolas" pitchFamily="34" charset="0"/>
                <a:ea typeface="Consolas" pitchFamily="34" charset="-122"/>
                <a:cs typeface="Consolas" pitchFamily="34" charset="-120"/>
              </a:rPr>
              <a:t>SELECT * FROM WFElements</a:t>
            </a:r>
            <a:endParaRPr lang="en-US" sz="680" dirty="0"/>
          </a:p>
          <a:p>
            <a:pPr marL="0" indent="0">
              <a:buNone/>
            </a:pPr>
            <a:r>
              <a:rPr lang="en-US" sz="680" dirty="0">
                <a:solidFill>
                  <a:srgbClr val="1A3A5C"/>
                </a:solidFill>
                <a:latin typeface="Consolas" pitchFamily="34" charset="0"/>
                <a:ea typeface="Consolas" pitchFamily="34" charset="-122"/>
                <a:cs typeface="Consolas" pitchFamily="34" charset="-120"/>
              </a:rPr>
              <a:t>WHERE FormType_ID=101;</a:t>
            </a:r>
            <a:endParaRPr lang="en-US" sz="680" dirty="0"/>
          </a:p>
        </p:txBody>
      </p:sp>
      <p:sp>
        <p:nvSpPr>
          <p:cNvPr id="96" name="Text 94"/>
          <p:cNvSpPr/>
          <p:nvPr/>
        </p:nvSpPr>
        <p:spPr>
          <a:xfrm>
            <a:off x="7333488" y="3044952"/>
            <a:ext cx="1417320" cy="502920"/>
          </a:xfrm>
          <a:prstGeom prst="rect">
            <a:avLst/>
          </a:prstGeom>
          <a:noFill/>
          <a:ln/>
        </p:spPr>
        <p:txBody>
          <a:bodyPr wrap="square" rtlCol="0" anchor="t"/>
          <a:lstStyle/>
          <a:p>
            <a:pPr marL="0" indent="0">
              <a:buNone/>
            </a:pPr>
            <a:r>
              <a:rPr lang="en-US" sz="700" dirty="0">
                <a:solidFill>
                  <a:srgbClr val="1B7A4A"/>
                </a:solidFill>
                <a:latin typeface="Calibri" pitchFamily="34" charset="0"/>
                <a:ea typeface="Calibri" pitchFamily="34" charset="-122"/>
                <a:cs typeface="Calibri" pitchFamily="34" charset="-120"/>
              </a:rPr>
              <a:t>→ 847 rows, all columns</a:t>
            </a:r>
            <a:endParaRPr lang="en-US" sz="700" dirty="0"/>
          </a:p>
          <a:p>
            <a:pPr marL="0" indent="0">
              <a:buNone/>
            </a:pPr>
            <a:r>
              <a:rPr lang="en-US" sz="700" dirty="0">
                <a:solidFill>
                  <a:srgbClr val="1B7A4A"/>
                </a:solidFill>
                <a:latin typeface="Calibri" pitchFamily="34" charset="0"/>
                <a:ea typeface="Calibri" pitchFamily="34" charset="-122"/>
                <a:cs typeface="Calibri" pitchFamily="34" charset="-120"/>
              </a:rPr>
              <a:t>   Anna's full record visible</a:t>
            </a:r>
            <a:endParaRPr lang="en-US" sz="700" dirty="0"/>
          </a:p>
        </p:txBody>
      </p:sp>
      <p:sp>
        <p:nvSpPr>
          <p:cNvPr id="97" name="Shape 95"/>
          <p:cNvSpPr/>
          <p:nvPr/>
        </p:nvSpPr>
        <p:spPr>
          <a:xfrm>
            <a:off x="4626864" y="3639312"/>
            <a:ext cx="4187952" cy="557784"/>
          </a:xfrm>
          <a:prstGeom prst="rect">
            <a:avLst/>
          </a:prstGeom>
          <a:solidFill>
            <a:srgbClr val="FFF0F0"/>
          </a:solidFill>
          <a:ln w="3810">
            <a:solidFill>
              <a:srgbClr val="DDDDDD"/>
            </a:solidFill>
            <a:prstDash val="solid"/>
          </a:ln>
        </p:spPr>
      </p:sp>
      <p:sp>
        <p:nvSpPr>
          <p:cNvPr id="98" name="Shape 96"/>
          <p:cNvSpPr/>
          <p:nvPr/>
        </p:nvSpPr>
        <p:spPr>
          <a:xfrm>
            <a:off x="4626864" y="3639312"/>
            <a:ext cx="1261872" cy="557784"/>
          </a:xfrm>
          <a:prstGeom prst="rect">
            <a:avLst/>
          </a:prstGeom>
          <a:solidFill>
            <a:srgbClr val="FFFFFF"/>
          </a:solidFill>
          <a:ln w="3810">
            <a:solidFill>
              <a:srgbClr val="DDDDDD"/>
            </a:solidFill>
            <a:prstDash val="solid"/>
          </a:ln>
        </p:spPr>
      </p:sp>
      <p:sp>
        <p:nvSpPr>
          <p:cNvPr id="99" name="Text 97"/>
          <p:cNvSpPr/>
          <p:nvPr/>
        </p:nvSpPr>
        <p:spPr>
          <a:xfrm>
            <a:off x="4663440" y="3675888"/>
            <a:ext cx="1188720" cy="484632"/>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COMPANY NAME DBA (NonEEA)</a:t>
            </a:r>
            <a:endParaRPr lang="en-US" sz="750" dirty="0"/>
          </a:p>
        </p:txBody>
      </p:sp>
      <p:sp>
        <p:nvSpPr>
          <p:cNvPr id="100" name="Text 98"/>
          <p:cNvSpPr/>
          <p:nvPr/>
        </p:nvSpPr>
        <p:spPr>
          <a:xfrm>
            <a:off x="5925312" y="3666744"/>
            <a:ext cx="1389888" cy="502920"/>
          </a:xfrm>
          <a:prstGeom prst="rect">
            <a:avLst/>
          </a:prstGeom>
          <a:noFill/>
          <a:ln/>
        </p:spPr>
        <p:txBody>
          <a:bodyPr wrap="square" rtlCol="0" anchor="t"/>
          <a:lstStyle/>
          <a:p>
            <a:pPr marL="0" indent="0">
              <a:buNone/>
            </a:pPr>
            <a:r>
              <a:rPr lang="en-US" sz="680" dirty="0">
                <a:solidFill>
                  <a:srgbClr val="1A3A5C"/>
                </a:solidFill>
                <a:latin typeface="Consolas" pitchFamily="34" charset="0"/>
                <a:ea typeface="Consolas" pitchFamily="34" charset="-122"/>
                <a:cs typeface="Consolas" pitchFamily="34" charset="-120"/>
              </a:rPr>
              <a:t>SELECT * FROM WFElements</a:t>
            </a:r>
            <a:endParaRPr lang="en-US" sz="680" dirty="0"/>
          </a:p>
          <a:p>
            <a:pPr marL="0" indent="0">
              <a:buNone/>
            </a:pPr>
            <a:r>
              <a:rPr lang="en-US" sz="680" dirty="0">
                <a:solidFill>
                  <a:srgbClr val="1A3A5C"/>
                </a:solidFill>
                <a:latin typeface="Consolas" pitchFamily="34" charset="0"/>
                <a:ea typeface="Consolas" pitchFamily="34" charset="-122"/>
                <a:cs typeface="Consolas" pitchFamily="34" charset="-120"/>
              </a:rPr>
              <a:t>WHERE FormType_ID=101;</a:t>
            </a:r>
            <a:endParaRPr lang="en-US" sz="680" dirty="0"/>
          </a:p>
        </p:txBody>
      </p:sp>
      <p:sp>
        <p:nvSpPr>
          <p:cNvPr id="101" name="Text 99"/>
          <p:cNvSpPr/>
          <p:nvPr/>
        </p:nvSpPr>
        <p:spPr>
          <a:xfrm>
            <a:off x="7333488" y="3666744"/>
            <a:ext cx="1417320" cy="502920"/>
          </a:xfrm>
          <a:prstGeom prst="rect">
            <a:avLst/>
          </a:prstGeom>
          <a:noFill/>
          <a:ln/>
        </p:spPr>
        <p:txBody>
          <a:bodyPr wrap="square" rtlCol="0" anchor="t"/>
          <a:lstStyle/>
          <a:p>
            <a:pPr marL="0" indent="0">
              <a:buNone/>
            </a:pPr>
            <a:r>
              <a:rPr lang="en-US" sz="700" dirty="0">
                <a:solidFill>
                  <a:srgbClr val="C0392B"/>
                </a:solidFill>
                <a:latin typeface="Calibri" pitchFamily="34" charset="0"/>
                <a:ea typeface="Calibri" pitchFamily="34" charset="-122"/>
                <a:cs typeface="Calibri" pitchFamily="34" charset="-120"/>
              </a:rPr>
              <a:t>→ 0 rows — RLS fires</a:t>
            </a:r>
            <a:endParaRPr lang="en-US" sz="700" dirty="0"/>
          </a:p>
          <a:p>
            <a:pPr marL="0" indent="0">
              <a:buNone/>
            </a:pPr>
            <a:r>
              <a:rPr lang="en-US" sz="700" dirty="0">
                <a:solidFill>
                  <a:srgbClr val="C0392B"/>
                </a:solidFill>
                <a:latin typeface="Calibri" pitchFamily="34" charset="0"/>
                <a:ea typeface="Calibri" pitchFamily="34" charset="-122"/>
                <a:cs typeface="Calibri" pitchFamily="34" charset="-120"/>
              </a:rPr>
              <a:t>   No metadata at all</a:t>
            </a:r>
            <a:endParaRPr lang="en-US" sz="700" dirty="0"/>
          </a:p>
        </p:txBody>
      </p:sp>
      <p:sp>
        <p:nvSpPr>
          <p:cNvPr id="102" name="Shape 100"/>
          <p:cNvSpPr/>
          <p:nvPr/>
        </p:nvSpPr>
        <p:spPr>
          <a:xfrm>
            <a:off x="4626864" y="4261104"/>
            <a:ext cx="4187952" cy="557784"/>
          </a:xfrm>
          <a:prstGeom prst="rect">
            <a:avLst/>
          </a:prstGeom>
          <a:solidFill>
            <a:srgbClr val="FFFBF0"/>
          </a:solidFill>
          <a:ln w="3810">
            <a:solidFill>
              <a:srgbClr val="DDDDDD"/>
            </a:solidFill>
            <a:prstDash val="solid"/>
          </a:ln>
        </p:spPr>
      </p:sp>
      <p:sp>
        <p:nvSpPr>
          <p:cNvPr id="103" name="Shape 101"/>
          <p:cNvSpPr/>
          <p:nvPr/>
        </p:nvSpPr>
        <p:spPr>
          <a:xfrm>
            <a:off x="4626864" y="4261104"/>
            <a:ext cx="1261872" cy="557784"/>
          </a:xfrm>
          <a:prstGeom prst="rect">
            <a:avLst/>
          </a:prstGeom>
          <a:solidFill>
            <a:srgbClr val="FFFFFF"/>
          </a:solidFill>
          <a:ln w="3810">
            <a:solidFill>
              <a:srgbClr val="DDDDDD"/>
            </a:solidFill>
            <a:prstDash val="solid"/>
          </a:ln>
        </p:spPr>
      </p:sp>
      <p:sp>
        <p:nvSpPr>
          <p:cNvPr id="104" name="Text 102"/>
          <p:cNvSpPr/>
          <p:nvPr/>
        </p:nvSpPr>
        <p:spPr>
          <a:xfrm>
            <a:off x="4663440" y="4297680"/>
            <a:ext cx="1188720" cy="484632"/>
          </a:xfrm>
          <a:prstGeom prst="rect">
            <a:avLst/>
          </a:prstGeom>
          <a:noFill/>
          <a:ln/>
        </p:spPr>
        <p:txBody>
          <a:bodyPr wrap="square"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COMPANY NAME via svc_nonea</a:t>
            </a:r>
            <a:endParaRPr lang="en-US" sz="750" dirty="0"/>
          </a:p>
        </p:txBody>
      </p:sp>
      <p:sp>
        <p:nvSpPr>
          <p:cNvPr id="105" name="Text 103"/>
          <p:cNvSpPr/>
          <p:nvPr/>
        </p:nvSpPr>
        <p:spPr>
          <a:xfrm>
            <a:off x="5925312" y="4288536"/>
            <a:ext cx="1389888" cy="502920"/>
          </a:xfrm>
          <a:prstGeom prst="rect">
            <a:avLst/>
          </a:prstGeom>
          <a:noFill/>
          <a:ln/>
        </p:spPr>
        <p:txBody>
          <a:bodyPr wrap="square" rtlCol="0" anchor="t"/>
          <a:lstStyle/>
          <a:p>
            <a:pPr marL="0" indent="0">
              <a:buNone/>
            </a:pPr>
            <a:r>
              <a:rPr lang="en-US" sz="680" dirty="0">
                <a:solidFill>
                  <a:srgbClr val="1A3A5C"/>
                </a:solidFill>
                <a:latin typeface="Consolas" pitchFamily="34" charset="0"/>
                <a:ea typeface="Consolas" pitchFamily="34" charset="-122"/>
                <a:cs typeface="Consolas" pitchFamily="34" charset="-120"/>
              </a:rPr>
              <a:t>SELECT * FROM WFElements</a:t>
            </a:r>
            <a:endParaRPr lang="en-US" sz="680" dirty="0"/>
          </a:p>
          <a:p>
            <a:pPr marL="0" indent="0">
              <a:buNone/>
            </a:pPr>
            <a:r>
              <a:rPr lang="en-US" sz="680" dirty="0">
                <a:solidFill>
                  <a:srgbClr val="1A3A5C"/>
                </a:solidFill>
                <a:latin typeface="Consolas" pitchFamily="34" charset="0"/>
                <a:ea typeface="Consolas" pitchFamily="34" charset="-122"/>
                <a:cs typeface="Consolas" pitchFamily="34" charset="-120"/>
              </a:rPr>
              <a:t>WHERE FormType_ID=201;</a:t>
            </a:r>
            <a:endParaRPr lang="en-US" sz="680" dirty="0"/>
          </a:p>
        </p:txBody>
      </p:sp>
      <p:sp>
        <p:nvSpPr>
          <p:cNvPr id="106" name="Text 104"/>
          <p:cNvSpPr/>
          <p:nvPr/>
        </p:nvSpPr>
        <p:spPr>
          <a:xfrm>
            <a:off x="7333488" y="4288536"/>
            <a:ext cx="1417320" cy="502920"/>
          </a:xfrm>
          <a:prstGeom prst="rect">
            <a:avLst/>
          </a:prstGeom>
          <a:noFill/>
          <a:ln/>
        </p:spPr>
        <p:txBody>
          <a:bodyPr wrap="square" rtlCol="0" anchor="t"/>
          <a:lstStyle/>
          <a:p>
            <a:pPr marL="0" indent="0">
              <a:buNone/>
            </a:pPr>
            <a:r>
              <a:rPr lang="en-US" sz="700" dirty="0">
                <a:solidFill>
                  <a:srgbClr val="E67E22"/>
                </a:solidFill>
                <a:latin typeface="Calibri" pitchFamily="34" charset="0"/>
                <a:ea typeface="Calibri" pitchFamily="34" charset="-122"/>
                <a:cs typeface="Calibri" pitchFamily="34" charset="-120"/>
              </a:rPr>
              <a:t>→ IT rows returned</a:t>
            </a:r>
            <a:endParaRPr lang="en-US" sz="700" dirty="0"/>
          </a:p>
          <a:p>
            <a:pPr marL="0" indent="0">
              <a:buNone/>
            </a:pPr>
            <a:r>
              <a:rPr lang="en-US" sz="700" dirty="0">
                <a:solidFill>
                  <a:srgbClr val="E67E22"/>
                </a:solidFill>
                <a:latin typeface="Calibri" pitchFamily="34" charset="0"/>
                <a:ea typeface="Calibri" pitchFamily="34" charset="-122"/>
                <a:cs typeface="Calibri" pitchFamily="34" charset="-120"/>
              </a:rPr>
              <a:t>   Email masked: a***@XXXXX</a:t>
            </a:r>
            <a:endParaRPr lang="en-US" sz="700" dirty="0"/>
          </a:p>
        </p:txBody>
      </p:sp>
      <p:sp>
        <p:nvSpPr>
          <p:cNvPr id="107" name="Shape 105"/>
          <p:cNvSpPr/>
          <p:nvPr/>
        </p:nvSpPr>
        <p:spPr>
          <a:xfrm>
            <a:off x="0" y="4828032"/>
            <a:ext cx="9144000" cy="315468"/>
          </a:xfrm>
          <a:prstGeom prst="rect">
            <a:avLst/>
          </a:prstGeom>
          <a:solidFill>
            <a:srgbClr val="009B9E"/>
          </a:solidFill>
          <a:ln/>
        </p:spPr>
      </p:sp>
      <p:sp>
        <p:nvSpPr>
          <p:cNvPr id="108" name="Text 106"/>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109" name="Shape 107"/>
          <p:cNvSpPr/>
          <p:nvPr/>
        </p:nvSpPr>
        <p:spPr>
          <a:xfrm>
            <a:off x="502920" y="4919472"/>
            <a:ext cx="18288" cy="128016"/>
          </a:xfrm>
          <a:prstGeom prst="rect">
            <a:avLst/>
          </a:prstGeom>
          <a:solidFill>
            <a:srgbClr val="FFFFFF"/>
          </a:solidFill>
          <a:ln/>
        </p:spPr>
      </p:sp>
      <p:sp>
        <p:nvSpPr>
          <p:cNvPr id="110" name="Text 108"/>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111" name="Text 109"/>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C0392B"/>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WFHistoryElements  —  TABLE STRUCTURE &amp; COLUMN ARCHITECTURE</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Audit Trail Table — Every Workflow Step Snapshots All Field Values</a:t>
            </a:r>
            <a:endParaRPr lang="en-US" sz="1500" dirty="0"/>
          </a:p>
        </p:txBody>
      </p:sp>
      <p:sp>
        <p:nvSpPr>
          <p:cNvPr id="6" name="Shape 4"/>
          <p:cNvSpPr/>
          <p:nvPr/>
        </p:nvSpPr>
        <p:spPr>
          <a:xfrm>
            <a:off x="274320" y="1170432"/>
            <a:ext cx="8595360" cy="457200"/>
          </a:xfrm>
          <a:prstGeom prst="rect">
            <a:avLst/>
          </a:prstGeom>
          <a:solidFill>
            <a:srgbClr val="FFEBEE"/>
          </a:solidFill>
          <a:ln w="10160">
            <a:solidFill>
              <a:srgbClr val="C0392B"/>
            </a:solidFill>
            <a:prstDash val="solid"/>
          </a:ln>
        </p:spPr>
      </p:sp>
      <p:sp>
        <p:nvSpPr>
          <p:cNvPr id="7" name="Shape 5"/>
          <p:cNvSpPr/>
          <p:nvPr/>
        </p:nvSpPr>
        <p:spPr>
          <a:xfrm>
            <a:off x="274320" y="1170432"/>
            <a:ext cx="91440" cy="457200"/>
          </a:xfrm>
          <a:prstGeom prst="rect">
            <a:avLst/>
          </a:prstGeom>
          <a:solidFill>
            <a:srgbClr val="C0392B"/>
          </a:solidFill>
          <a:ln/>
        </p:spPr>
      </p:sp>
      <p:sp>
        <p:nvSpPr>
          <p:cNvPr id="8" name="Text 6"/>
          <p:cNvSpPr/>
          <p:nvPr/>
        </p:nvSpPr>
        <p:spPr>
          <a:xfrm>
            <a:off x="457200" y="1197864"/>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How it works: Every time a workflow moves to a new step, WEBCON writes a complete snapshot of all form field values into this table. It mirrors the WFElements column pool structure exactly. A single HR leave request touching 4 steps generates 4 history rows — each holding all PII fields at that point in time, permanently.</a:t>
            </a:r>
            <a:endParaRPr lang="en-US" sz="950" dirty="0"/>
          </a:p>
        </p:txBody>
      </p:sp>
      <p:sp>
        <p:nvSpPr>
          <p:cNvPr id="9" name="Shape 7"/>
          <p:cNvSpPr/>
          <p:nvPr/>
        </p:nvSpPr>
        <p:spPr>
          <a:xfrm>
            <a:off x="274320" y="1700784"/>
            <a:ext cx="4023360" cy="320040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00784"/>
            <a:ext cx="4023360" cy="292608"/>
          </a:xfrm>
          <a:prstGeom prst="rect">
            <a:avLst/>
          </a:prstGeom>
          <a:solidFill>
            <a:srgbClr val="FFEBEE"/>
          </a:solidFill>
          <a:ln/>
        </p:spPr>
      </p:sp>
      <p:sp>
        <p:nvSpPr>
          <p:cNvPr id="11" name="Text 9"/>
          <p:cNvSpPr/>
          <p:nvPr/>
        </p:nvSpPr>
        <p:spPr>
          <a:xfrm>
            <a:off x="365760" y="1700784"/>
            <a:ext cx="3886200" cy="292608"/>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Column Schema — Mirrors WFElements Pool Pattern</a:t>
            </a:r>
            <a:endParaRPr lang="en-US" sz="900" dirty="0"/>
          </a:p>
        </p:txBody>
      </p:sp>
      <p:sp>
        <p:nvSpPr>
          <p:cNvPr id="12" name="Shape 10"/>
          <p:cNvSpPr/>
          <p:nvPr/>
        </p:nvSpPr>
        <p:spPr>
          <a:xfrm>
            <a:off x="320040" y="2048256"/>
            <a:ext cx="3913632" cy="237744"/>
          </a:xfrm>
          <a:prstGeom prst="rect">
            <a:avLst/>
          </a:prstGeom>
          <a:solidFill>
            <a:srgbClr val="FFFFFF"/>
          </a:solidFill>
          <a:ln/>
        </p:spPr>
      </p:sp>
      <p:sp>
        <p:nvSpPr>
          <p:cNvPr id="13" name="Shape 11"/>
          <p:cNvSpPr/>
          <p:nvPr/>
        </p:nvSpPr>
        <p:spPr>
          <a:xfrm>
            <a:off x="320040" y="2048256"/>
            <a:ext cx="566928" cy="237744"/>
          </a:xfrm>
          <a:prstGeom prst="rect">
            <a:avLst/>
          </a:prstGeom>
          <a:solidFill>
            <a:srgbClr val="F0F4FF"/>
          </a:solidFill>
          <a:ln/>
        </p:spPr>
      </p:sp>
      <p:sp>
        <p:nvSpPr>
          <p:cNvPr id="14" name="Text 12"/>
          <p:cNvSpPr/>
          <p:nvPr/>
        </p:nvSpPr>
        <p:spPr>
          <a:xfrm>
            <a:off x="320040" y="2048256"/>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PK</a:t>
            </a:r>
            <a:endParaRPr lang="en-US" sz="580" dirty="0"/>
          </a:p>
        </p:txBody>
      </p:sp>
      <p:sp>
        <p:nvSpPr>
          <p:cNvPr id="15" name="Text 13"/>
          <p:cNvSpPr/>
          <p:nvPr/>
        </p:nvSpPr>
        <p:spPr>
          <a:xfrm>
            <a:off x="905256" y="2048256"/>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WFH_ID</a:t>
            </a:r>
            <a:endParaRPr lang="en-US" sz="700" dirty="0"/>
          </a:p>
        </p:txBody>
      </p:sp>
      <p:sp>
        <p:nvSpPr>
          <p:cNvPr id="16" name="Text 14"/>
          <p:cNvSpPr/>
          <p:nvPr/>
        </p:nvSpPr>
        <p:spPr>
          <a:xfrm>
            <a:off x="2185416" y="2048256"/>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Unique history record ID</a:t>
            </a:r>
            <a:endParaRPr lang="en-US" sz="720" dirty="0"/>
          </a:p>
        </p:txBody>
      </p:sp>
      <p:sp>
        <p:nvSpPr>
          <p:cNvPr id="17" name="Shape 15"/>
          <p:cNvSpPr/>
          <p:nvPr/>
        </p:nvSpPr>
        <p:spPr>
          <a:xfrm>
            <a:off x="320040" y="2308860"/>
            <a:ext cx="3913632" cy="237744"/>
          </a:xfrm>
          <a:prstGeom prst="rect">
            <a:avLst/>
          </a:prstGeom>
          <a:solidFill>
            <a:srgbClr val="F8FAFC"/>
          </a:solidFill>
          <a:ln/>
        </p:spPr>
      </p:sp>
      <p:sp>
        <p:nvSpPr>
          <p:cNvPr id="18" name="Shape 16"/>
          <p:cNvSpPr/>
          <p:nvPr/>
        </p:nvSpPr>
        <p:spPr>
          <a:xfrm>
            <a:off x="320040" y="2308860"/>
            <a:ext cx="566928" cy="237744"/>
          </a:xfrm>
          <a:prstGeom prst="rect">
            <a:avLst/>
          </a:prstGeom>
          <a:solidFill>
            <a:srgbClr val="F0F4FF"/>
          </a:solidFill>
          <a:ln/>
        </p:spPr>
      </p:sp>
      <p:sp>
        <p:nvSpPr>
          <p:cNvPr id="19" name="Text 17"/>
          <p:cNvSpPr/>
          <p:nvPr/>
        </p:nvSpPr>
        <p:spPr>
          <a:xfrm>
            <a:off x="320040" y="2308860"/>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FK</a:t>
            </a:r>
            <a:endParaRPr lang="en-US" sz="580" dirty="0"/>
          </a:p>
        </p:txBody>
      </p:sp>
      <p:sp>
        <p:nvSpPr>
          <p:cNvPr id="20" name="Text 18"/>
          <p:cNvSpPr/>
          <p:nvPr/>
        </p:nvSpPr>
        <p:spPr>
          <a:xfrm>
            <a:off x="905256" y="2308860"/>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WFH_WFDID</a:t>
            </a:r>
            <a:endParaRPr lang="en-US" sz="700" dirty="0"/>
          </a:p>
        </p:txBody>
      </p:sp>
      <p:sp>
        <p:nvSpPr>
          <p:cNvPr id="21" name="Text 19"/>
          <p:cNvSpPr/>
          <p:nvPr/>
        </p:nvSpPr>
        <p:spPr>
          <a:xfrm>
            <a:off x="2185416" y="2308860"/>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Links to WFElements.WFD_ID</a:t>
            </a:r>
            <a:endParaRPr lang="en-US" sz="720" dirty="0"/>
          </a:p>
        </p:txBody>
      </p:sp>
      <p:sp>
        <p:nvSpPr>
          <p:cNvPr id="22" name="Shape 20"/>
          <p:cNvSpPr/>
          <p:nvPr/>
        </p:nvSpPr>
        <p:spPr>
          <a:xfrm>
            <a:off x="320040" y="2569464"/>
            <a:ext cx="3913632" cy="237744"/>
          </a:xfrm>
          <a:prstGeom prst="rect">
            <a:avLst/>
          </a:prstGeom>
          <a:solidFill>
            <a:srgbClr val="FFFFFF"/>
          </a:solidFill>
          <a:ln/>
        </p:spPr>
      </p:sp>
      <p:sp>
        <p:nvSpPr>
          <p:cNvPr id="23" name="Shape 21"/>
          <p:cNvSpPr/>
          <p:nvPr/>
        </p:nvSpPr>
        <p:spPr>
          <a:xfrm>
            <a:off x="320040" y="2569464"/>
            <a:ext cx="566928" cy="237744"/>
          </a:xfrm>
          <a:prstGeom prst="rect">
            <a:avLst/>
          </a:prstGeom>
          <a:solidFill>
            <a:srgbClr val="F0F4FF"/>
          </a:solidFill>
          <a:ln/>
        </p:spPr>
      </p:sp>
      <p:sp>
        <p:nvSpPr>
          <p:cNvPr id="24" name="Text 22"/>
          <p:cNvSpPr/>
          <p:nvPr/>
        </p:nvSpPr>
        <p:spPr>
          <a:xfrm>
            <a:off x="320040" y="2569464"/>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a:t>
            </a:r>
            <a:endParaRPr lang="en-US" sz="580" dirty="0"/>
          </a:p>
        </p:txBody>
      </p:sp>
      <p:sp>
        <p:nvSpPr>
          <p:cNvPr id="25" name="Text 23"/>
          <p:cNvSpPr/>
          <p:nvPr/>
        </p:nvSpPr>
        <p:spPr>
          <a:xfrm>
            <a:off x="905256" y="2569464"/>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WFH_FormType_ID</a:t>
            </a:r>
            <a:endParaRPr lang="en-US" sz="700" dirty="0"/>
          </a:p>
        </p:txBody>
      </p:sp>
      <p:sp>
        <p:nvSpPr>
          <p:cNvPr id="26" name="Text 24"/>
          <p:cNvSpPr/>
          <p:nvPr/>
        </p:nvSpPr>
        <p:spPr>
          <a:xfrm>
            <a:off x="2185416" y="2569464"/>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Process ID — key field for RLS</a:t>
            </a:r>
            <a:endParaRPr lang="en-US" sz="720" dirty="0"/>
          </a:p>
        </p:txBody>
      </p:sp>
      <p:sp>
        <p:nvSpPr>
          <p:cNvPr id="27" name="Shape 25"/>
          <p:cNvSpPr/>
          <p:nvPr/>
        </p:nvSpPr>
        <p:spPr>
          <a:xfrm>
            <a:off x="320040" y="2830068"/>
            <a:ext cx="3913632" cy="237744"/>
          </a:xfrm>
          <a:prstGeom prst="rect">
            <a:avLst/>
          </a:prstGeom>
          <a:solidFill>
            <a:srgbClr val="F8FAFC"/>
          </a:solidFill>
          <a:ln/>
        </p:spPr>
      </p:sp>
      <p:sp>
        <p:nvSpPr>
          <p:cNvPr id="28" name="Shape 26"/>
          <p:cNvSpPr/>
          <p:nvPr/>
        </p:nvSpPr>
        <p:spPr>
          <a:xfrm>
            <a:off x="320040" y="2830068"/>
            <a:ext cx="566928" cy="237744"/>
          </a:xfrm>
          <a:prstGeom prst="rect">
            <a:avLst/>
          </a:prstGeom>
          <a:solidFill>
            <a:srgbClr val="F0F4FF"/>
          </a:solidFill>
          <a:ln/>
        </p:spPr>
      </p:sp>
      <p:sp>
        <p:nvSpPr>
          <p:cNvPr id="29" name="Text 27"/>
          <p:cNvSpPr/>
          <p:nvPr/>
        </p:nvSpPr>
        <p:spPr>
          <a:xfrm>
            <a:off x="320040" y="2830068"/>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NVARCHAR(100)</a:t>
            </a:r>
            <a:endParaRPr lang="en-US" sz="580" dirty="0"/>
          </a:p>
        </p:txBody>
      </p:sp>
      <p:sp>
        <p:nvSpPr>
          <p:cNvPr id="30" name="Text 28"/>
          <p:cNvSpPr/>
          <p:nvPr/>
        </p:nvSpPr>
        <p:spPr>
          <a:xfrm>
            <a:off x="905256" y="2830068"/>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WFH_StepName</a:t>
            </a:r>
            <a:endParaRPr lang="en-US" sz="700" dirty="0"/>
          </a:p>
        </p:txBody>
      </p:sp>
      <p:sp>
        <p:nvSpPr>
          <p:cNvPr id="31" name="Text 29"/>
          <p:cNvSpPr/>
          <p:nvPr/>
        </p:nvSpPr>
        <p:spPr>
          <a:xfrm>
            <a:off x="2185416" y="2830068"/>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Name of the workflow step</a:t>
            </a:r>
            <a:endParaRPr lang="en-US" sz="720" dirty="0"/>
          </a:p>
        </p:txBody>
      </p:sp>
      <p:sp>
        <p:nvSpPr>
          <p:cNvPr id="32" name="Shape 30"/>
          <p:cNvSpPr/>
          <p:nvPr/>
        </p:nvSpPr>
        <p:spPr>
          <a:xfrm>
            <a:off x="320040" y="3090672"/>
            <a:ext cx="3913632" cy="237744"/>
          </a:xfrm>
          <a:prstGeom prst="rect">
            <a:avLst/>
          </a:prstGeom>
          <a:solidFill>
            <a:srgbClr val="FFFFFF"/>
          </a:solidFill>
          <a:ln/>
        </p:spPr>
      </p:sp>
      <p:sp>
        <p:nvSpPr>
          <p:cNvPr id="33" name="Shape 31"/>
          <p:cNvSpPr/>
          <p:nvPr/>
        </p:nvSpPr>
        <p:spPr>
          <a:xfrm>
            <a:off x="320040" y="3090672"/>
            <a:ext cx="566928" cy="237744"/>
          </a:xfrm>
          <a:prstGeom prst="rect">
            <a:avLst/>
          </a:prstGeom>
          <a:solidFill>
            <a:srgbClr val="F0F4FF"/>
          </a:solidFill>
          <a:ln/>
        </p:spPr>
      </p:sp>
      <p:sp>
        <p:nvSpPr>
          <p:cNvPr id="34" name="Text 32"/>
          <p:cNvSpPr/>
          <p:nvPr/>
        </p:nvSpPr>
        <p:spPr>
          <a:xfrm>
            <a:off x="320040" y="3090672"/>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NVARCHAR(50)</a:t>
            </a:r>
            <a:endParaRPr lang="en-US" sz="580" dirty="0"/>
          </a:p>
        </p:txBody>
      </p:sp>
      <p:sp>
        <p:nvSpPr>
          <p:cNvPr id="35" name="Text 33"/>
          <p:cNvSpPr/>
          <p:nvPr/>
        </p:nvSpPr>
        <p:spPr>
          <a:xfrm>
            <a:off x="905256" y="3090672"/>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WFH_User</a:t>
            </a:r>
            <a:endParaRPr lang="en-US" sz="700" dirty="0"/>
          </a:p>
        </p:txBody>
      </p:sp>
      <p:sp>
        <p:nvSpPr>
          <p:cNvPr id="36" name="Text 34"/>
          <p:cNvSpPr/>
          <p:nvPr/>
        </p:nvSpPr>
        <p:spPr>
          <a:xfrm>
            <a:off x="2185416" y="3090672"/>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Login who triggered the transition</a:t>
            </a:r>
            <a:endParaRPr lang="en-US" sz="720" dirty="0"/>
          </a:p>
        </p:txBody>
      </p:sp>
      <p:sp>
        <p:nvSpPr>
          <p:cNvPr id="37" name="Shape 35"/>
          <p:cNvSpPr/>
          <p:nvPr/>
        </p:nvSpPr>
        <p:spPr>
          <a:xfrm>
            <a:off x="320040" y="3351276"/>
            <a:ext cx="3913632" cy="237744"/>
          </a:xfrm>
          <a:prstGeom prst="rect">
            <a:avLst/>
          </a:prstGeom>
          <a:solidFill>
            <a:srgbClr val="F8FAFC"/>
          </a:solidFill>
          <a:ln/>
        </p:spPr>
      </p:sp>
      <p:sp>
        <p:nvSpPr>
          <p:cNvPr id="38" name="Shape 36"/>
          <p:cNvSpPr/>
          <p:nvPr/>
        </p:nvSpPr>
        <p:spPr>
          <a:xfrm>
            <a:off x="320040" y="3351276"/>
            <a:ext cx="566928" cy="237744"/>
          </a:xfrm>
          <a:prstGeom prst="rect">
            <a:avLst/>
          </a:prstGeom>
          <a:solidFill>
            <a:srgbClr val="F0F4FF"/>
          </a:solidFill>
          <a:ln/>
        </p:spPr>
      </p:sp>
      <p:sp>
        <p:nvSpPr>
          <p:cNvPr id="39" name="Text 37"/>
          <p:cNvSpPr/>
          <p:nvPr/>
        </p:nvSpPr>
        <p:spPr>
          <a:xfrm>
            <a:off x="320040" y="3351276"/>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DATETIME</a:t>
            </a:r>
            <a:endParaRPr lang="en-US" sz="580" dirty="0"/>
          </a:p>
        </p:txBody>
      </p:sp>
      <p:sp>
        <p:nvSpPr>
          <p:cNvPr id="40" name="Text 38"/>
          <p:cNvSpPr/>
          <p:nvPr/>
        </p:nvSpPr>
        <p:spPr>
          <a:xfrm>
            <a:off x="905256" y="3351276"/>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WFH_Modified</a:t>
            </a:r>
            <a:endParaRPr lang="en-US" sz="700" dirty="0"/>
          </a:p>
        </p:txBody>
      </p:sp>
      <p:sp>
        <p:nvSpPr>
          <p:cNvPr id="41" name="Text 39"/>
          <p:cNvSpPr/>
          <p:nvPr/>
        </p:nvSpPr>
        <p:spPr>
          <a:xfrm>
            <a:off x="2185416" y="3351276"/>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Exact timestamp of transition</a:t>
            </a:r>
            <a:endParaRPr lang="en-US" sz="720" dirty="0"/>
          </a:p>
        </p:txBody>
      </p:sp>
      <p:sp>
        <p:nvSpPr>
          <p:cNvPr id="42" name="Shape 40"/>
          <p:cNvSpPr/>
          <p:nvPr/>
        </p:nvSpPr>
        <p:spPr>
          <a:xfrm>
            <a:off x="320040" y="3611880"/>
            <a:ext cx="3913632" cy="237744"/>
          </a:xfrm>
          <a:prstGeom prst="rect">
            <a:avLst/>
          </a:prstGeom>
          <a:solidFill>
            <a:srgbClr val="FFF0F0"/>
          </a:solidFill>
          <a:ln/>
        </p:spPr>
      </p:sp>
      <p:sp>
        <p:nvSpPr>
          <p:cNvPr id="43" name="Shape 41"/>
          <p:cNvSpPr/>
          <p:nvPr/>
        </p:nvSpPr>
        <p:spPr>
          <a:xfrm>
            <a:off x="320040" y="3611880"/>
            <a:ext cx="566928" cy="237744"/>
          </a:xfrm>
          <a:prstGeom prst="rect">
            <a:avLst/>
          </a:prstGeom>
          <a:solidFill>
            <a:srgbClr val="FFEBEE"/>
          </a:solidFill>
          <a:ln/>
        </p:spPr>
      </p:sp>
      <p:sp>
        <p:nvSpPr>
          <p:cNvPr id="44" name="Text 42"/>
          <p:cNvSpPr/>
          <p:nvPr/>
        </p:nvSpPr>
        <p:spPr>
          <a:xfrm>
            <a:off x="320040" y="3611880"/>
            <a:ext cx="566928" cy="23774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NVARCHAR(255)</a:t>
            </a:r>
            <a:endParaRPr lang="en-US" sz="580" dirty="0"/>
          </a:p>
        </p:txBody>
      </p:sp>
      <p:sp>
        <p:nvSpPr>
          <p:cNvPr id="45" name="Text 43"/>
          <p:cNvSpPr/>
          <p:nvPr/>
        </p:nvSpPr>
        <p:spPr>
          <a:xfrm>
            <a:off x="905256" y="3611880"/>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WFH_AttText1..20</a:t>
            </a:r>
            <a:endParaRPr lang="en-US" sz="700" dirty="0"/>
          </a:p>
        </p:txBody>
      </p:sp>
      <p:sp>
        <p:nvSpPr>
          <p:cNvPr id="46" name="Text 44"/>
          <p:cNvSpPr/>
          <p:nvPr/>
        </p:nvSpPr>
        <p:spPr>
          <a:xfrm>
            <a:off x="2185416" y="3611880"/>
            <a:ext cx="1993392" cy="23774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Field snapshots — same pool as WFE</a:t>
            </a:r>
            <a:endParaRPr lang="en-US" sz="720" dirty="0"/>
          </a:p>
        </p:txBody>
      </p:sp>
      <p:sp>
        <p:nvSpPr>
          <p:cNvPr id="47" name="Shape 45"/>
          <p:cNvSpPr/>
          <p:nvPr/>
        </p:nvSpPr>
        <p:spPr>
          <a:xfrm>
            <a:off x="320040" y="3872484"/>
            <a:ext cx="3913632" cy="237744"/>
          </a:xfrm>
          <a:prstGeom prst="rect">
            <a:avLst/>
          </a:prstGeom>
          <a:solidFill>
            <a:srgbClr val="FFF0F0"/>
          </a:solidFill>
          <a:ln/>
        </p:spPr>
      </p:sp>
      <p:sp>
        <p:nvSpPr>
          <p:cNvPr id="48" name="Shape 46"/>
          <p:cNvSpPr/>
          <p:nvPr/>
        </p:nvSpPr>
        <p:spPr>
          <a:xfrm>
            <a:off x="320040" y="3872484"/>
            <a:ext cx="566928" cy="237744"/>
          </a:xfrm>
          <a:prstGeom prst="rect">
            <a:avLst/>
          </a:prstGeom>
          <a:solidFill>
            <a:srgbClr val="FFEBEE"/>
          </a:solidFill>
          <a:ln/>
        </p:spPr>
      </p:sp>
      <p:sp>
        <p:nvSpPr>
          <p:cNvPr id="49" name="Text 47"/>
          <p:cNvSpPr/>
          <p:nvPr/>
        </p:nvSpPr>
        <p:spPr>
          <a:xfrm>
            <a:off x="320040" y="3872484"/>
            <a:ext cx="566928" cy="23774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NVARCHAR(MAX)</a:t>
            </a:r>
            <a:endParaRPr lang="en-US" sz="580" dirty="0"/>
          </a:p>
        </p:txBody>
      </p:sp>
      <p:sp>
        <p:nvSpPr>
          <p:cNvPr id="50" name="Text 48"/>
          <p:cNvSpPr/>
          <p:nvPr/>
        </p:nvSpPr>
        <p:spPr>
          <a:xfrm>
            <a:off x="905256" y="3872484"/>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WFH_AttLong1..5</a:t>
            </a:r>
            <a:endParaRPr lang="en-US" sz="700" dirty="0"/>
          </a:p>
        </p:txBody>
      </p:sp>
      <p:sp>
        <p:nvSpPr>
          <p:cNvPr id="51" name="Text 49"/>
          <p:cNvSpPr/>
          <p:nvPr/>
        </p:nvSpPr>
        <p:spPr>
          <a:xfrm>
            <a:off x="2185416" y="3872484"/>
            <a:ext cx="1993392" cy="23774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Long text snapshots — medical notes</a:t>
            </a:r>
            <a:endParaRPr lang="en-US" sz="720" dirty="0"/>
          </a:p>
        </p:txBody>
      </p:sp>
      <p:sp>
        <p:nvSpPr>
          <p:cNvPr id="52" name="Shape 50"/>
          <p:cNvSpPr/>
          <p:nvPr/>
        </p:nvSpPr>
        <p:spPr>
          <a:xfrm>
            <a:off x="320040" y="4133088"/>
            <a:ext cx="3913632" cy="237744"/>
          </a:xfrm>
          <a:prstGeom prst="rect">
            <a:avLst/>
          </a:prstGeom>
          <a:solidFill>
            <a:srgbClr val="FFF0F0"/>
          </a:solidFill>
          <a:ln/>
        </p:spPr>
      </p:sp>
      <p:sp>
        <p:nvSpPr>
          <p:cNvPr id="53" name="Shape 51"/>
          <p:cNvSpPr/>
          <p:nvPr/>
        </p:nvSpPr>
        <p:spPr>
          <a:xfrm>
            <a:off x="320040" y="4133088"/>
            <a:ext cx="566928" cy="237744"/>
          </a:xfrm>
          <a:prstGeom prst="rect">
            <a:avLst/>
          </a:prstGeom>
          <a:solidFill>
            <a:srgbClr val="FFEBEE"/>
          </a:solidFill>
          <a:ln/>
        </p:spPr>
      </p:sp>
      <p:sp>
        <p:nvSpPr>
          <p:cNvPr id="54" name="Text 52"/>
          <p:cNvSpPr/>
          <p:nvPr/>
        </p:nvSpPr>
        <p:spPr>
          <a:xfrm>
            <a:off x="320040" y="4133088"/>
            <a:ext cx="566928" cy="23774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DECIMAL(18,2)</a:t>
            </a:r>
            <a:endParaRPr lang="en-US" sz="580" dirty="0"/>
          </a:p>
        </p:txBody>
      </p:sp>
      <p:sp>
        <p:nvSpPr>
          <p:cNvPr id="55" name="Text 53"/>
          <p:cNvSpPr/>
          <p:nvPr/>
        </p:nvSpPr>
        <p:spPr>
          <a:xfrm>
            <a:off x="905256" y="4133088"/>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WFH_AttDecimal1..5</a:t>
            </a:r>
            <a:endParaRPr lang="en-US" sz="700" dirty="0"/>
          </a:p>
        </p:txBody>
      </p:sp>
      <p:sp>
        <p:nvSpPr>
          <p:cNvPr id="56" name="Text 54"/>
          <p:cNvSpPr/>
          <p:nvPr/>
        </p:nvSpPr>
        <p:spPr>
          <a:xfrm>
            <a:off x="2185416" y="4133088"/>
            <a:ext cx="1993392" cy="23774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Decimal snapshots — salary, amounts</a:t>
            </a:r>
            <a:endParaRPr lang="en-US" sz="720" dirty="0"/>
          </a:p>
        </p:txBody>
      </p:sp>
      <p:sp>
        <p:nvSpPr>
          <p:cNvPr id="57" name="Shape 55"/>
          <p:cNvSpPr/>
          <p:nvPr/>
        </p:nvSpPr>
        <p:spPr>
          <a:xfrm>
            <a:off x="320040" y="4393692"/>
            <a:ext cx="3913632" cy="237744"/>
          </a:xfrm>
          <a:prstGeom prst="rect">
            <a:avLst/>
          </a:prstGeom>
          <a:solidFill>
            <a:srgbClr val="F8FAFC"/>
          </a:solidFill>
          <a:ln/>
        </p:spPr>
      </p:sp>
      <p:sp>
        <p:nvSpPr>
          <p:cNvPr id="58" name="Shape 56"/>
          <p:cNvSpPr/>
          <p:nvPr/>
        </p:nvSpPr>
        <p:spPr>
          <a:xfrm>
            <a:off x="320040" y="4393692"/>
            <a:ext cx="566928" cy="237744"/>
          </a:xfrm>
          <a:prstGeom prst="rect">
            <a:avLst/>
          </a:prstGeom>
          <a:solidFill>
            <a:srgbClr val="F0F4FF"/>
          </a:solidFill>
          <a:ln/>
        </p:spPr>
      </p:sp>
      <p:sp>
        <p:nvSpPr>
          <p:cNvPr id="59" name="Text 57"/>
          <p:cNvSpPr/>
          <p:nvPr/>
        </p:nvSpPr>
        <p:spPr>
          <a:xfrm>
            <a:off x="320040" y="4393692"/>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DATETIME</a:t>
            </a:r>
            <a:endParaRPr lang="en-US" sz="580" dirty="0"/>
          </a:p>
        </p:txBody>
      </p:sp>
      <p:sp>
        <p:nvSpPr>
          <p:cNvPr id="60" name="Text 58"/>
          <p:cNvSpPr/>
          <p:nvPr/>
        </p:nvSpPr>
        <p:spPr>
          <a:xfrm>
            <a:off x="905256" y="4393692"/>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WFH_AttDate1..5</a:t>
            </a:r>
            <a:endParaRPr lang="en-US" sz="700" dirty="0"/>
          </a:p>
        </p:txBody>
      </p:sp>
      <p:sp>
        <p:nvSpPr>
          <p:cNvPr id="61" name="Text 59"/>
          <p:cNvSpPr/>
          <p:nvPr/>
        </p:nvSpPr>
        <p:spPr>
          <a:xfrm>
            <a:off x="2185416" y="4393692"/>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Date snapshots — leave dates etc.</a:t>
            </a:r>
            <a:endParaRPr lang="en-US" sz="720" dirty="0"/>
          </a:p>
        </p:txBody>
      </p:sp>
      <p:sp>
        <p:nvSpPr>
          <p:cNvPr id="62" name="Shape 60"/>
          <p:cNvSpPr/>
          <p:nvPr/>
        </p:nvSpPr>
        <p:spPr>
          <a:xfrm>
            <a:off x="320040" y="4654296"/>
            <a:ext cx="3913632" cy="237744"/>
          </a:xfrm>
          <a:prstGeom prst="rect">
            <a:avLst/>
          </a:prstGeom>
          <a:solidFill>
            <a:srgbClr val="FFFFFF"/>
          </a:solidFill>
          <a:ln/>
        </p:spPr>
      </p:sp>
      <p:sp>
        <p:nvSpPr>
          <p:cNvPr id="63" name="Shape 61"/>
          <p:cNvSpPr/>
          <p:nvPr/>
        </p:nvSpPr>
        <p:spPr>
          <a:xfrm>
            <a:off x="320040" y="4654296"/>
            <a:ext cx="566928" cy="237744"/>
          </a:xfrm>
          <a:prstGeom prst="rect">
            <a:avLst/>
          </a:prstGeom>
          <a:solidFill>
            <a:srgbClr val="F0F4FF"/>
          </a:solidFill>
          <a:ln/>
        </p:spPr>
      </p:sp>
      <p:sp>
        <p:nvSpPr>
          <p:cNvPr id="64" name="Text 62"/>
          <p:cNvSpPr/>
          <p:nvPr/>
        </p:nvSpPr>
        <p:spPr>
          <a:xfrm>
            <a:off x="320040" y="4654296"/>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NVARCHAR(100)</a:t>
            </a:r>
            <a:endParaRPr lang="en-US" sz="580" dirty="0"/>
          </a:p>
        </p:txBody>
      </p:sp>
      <p:sp>
        <p:nvSpPr>
          <p:cNvPr id="65" name="Text 63"/>
          <p:cNvSpPr/>
          <p:nvPr/>
        </p:nvSpPr>
        <p:spPr>
          <a:xfrm>
            <a:off x="905256" y="4654296"/>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WFH_AttPeople1..5</a:t>
            </a:r>
            <a:endParaRPr lang="en-US" sz="700" dirty="0"/>
          </a:p>
        </p:txBody>
      </p:sp>
      <p:sp>
        <p:nvSpPr>
          <p:cNvPr id="66" name="Text 64"/>
          <p:cNvSpPr/>
          <p:nvPr/>
        </p:nvSpPr>
        <p:spPr>
          <a:xfrm>
            <a:off x="2185416" y="4654296"/>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People snapshots — approver logins</a:t>
            </a:r>
            <a:endParaRPr lang="en-US" sz="720" dirty="0"/>
          </a:p>
        </p:txBody>
      </p:sp>
      <p:sp>
        <p:nvSpPr>
          <p:cNvPr id="67" name="Shape 65"/>
          <p:cNvSpPr/>
          <p:nvPr/>
        </p:nvSpPr>
        <p:spPr>
          <a:xfrm>
            <a:off x="4572000" y="1700784"/>
            <a:ext cx="4315968" cy="1417320"/>
          </a:xfrm>
          <a:prstGeom prst="rect">
            <a:avLst/>
          </a:prstGeom>
          <a:solidFill>
            <a:srgbClr val="FFFFFF"/>
          </a:solidFill>
          <a:ln/>
          <a:effectLst>
            <a:outerShdw blurRad="101600" dist="38100" dir="8100000" algn="bl" rotWithShape="0">
              <a:srgbClr val="000000">
                <a:alpha val="12000"/>
              </a:srgbClr>
            </a:outerShdw>
          </a:effectLst>
        </p:spPr>
      </p:sp>
      <p:sp>
        <p:nvSpPr>
          <p:cNvPr id="68" name="Shape 66"/>
          <p:cNvSpPr/>
          <p:nvPr/>
        </p:nvSpPr>
        <p:spPr>
          <a:xfrm>
            <a:off x="4572000" y="1700784"/>
            <a:ext cx="4315968" cy="274320"/>
          </a:xfrm>
          <a:prstGeom prst="rect">
            <a:avLst/>
          </a:prstGeom>
          <a:solidFill>
            <a:srgbClr val="FFF3E0"/>
          </a:solidFill>
          <a:ln/>
        </p:spPr>
      </p:sp>
      <p:sp>
        <p:nvSpPr>
          <p:cNvPr id="69" name="Text 67"/>
          <p:cNvSpPr/>
          <p:nvPr/>
        </p:nvSpPr>
        <p:spPr>
          <a:xfrm>
            <a:off x="4663440" y="1700784"/>
            <a:ext cx="4160520" cy="274320"/>
          </a:xfrm>
          <a:prstGeom prst="rect">
            <a:avLst/>
          </a:prstGeom>
          <a:noFill/>
          <a:ln/>
        </p:spPr>
        <p:txBody>
          <a:bodyPr wrap="square" rtlCol="0" anchor="ctr"/>
          <a:lstStyle/>
          <a:p>
            <a:pPr marL="0" indent="0">
              <a:buNone/>
            </a:pPr>
            <a:r>
              <a:rPr lang="en-US" sz="900" b="1" dirty="0">
                <a:solidFill>
                  <a:srgbClr val="E67E22"/>
                </a:solidFill>
                <a:latin typeface="Calibri" pitchFamily="34" charset="0"/>
                <a:ea typeface="Calibri" pitchFamily="34" charset="-122"/>
                <a:cs typeface="Calibri" pitchFamily="34" charset="-120"/>
              </a:rPr>
              <a:t>One HR Case — 4 History Rows Generated</a:t>
            </a:r>
            <a:endParaRPr lang="en-US" sz="900" dirty="0"/>
          </a:p>
        </p:txBody>
      </p:sp>
      <p:sp>
        <p:nvSpPr>
          <p:cNvPr id="70" name="Shape 68"/>
          <p:cNvSpPr/>
          <p:nvPr/>
        </p:nvSpPr>
        <p:spPr>
          <a:xfrm>
            <a:off x="4626864" y="2029968"/>
            <a:ext cx="4187952" cy="228600"/>
          </a:xfrm>
          <a:prstGeom prst="rect">
            <a:avLst/>
          </a:prstGeom>
          <a:solidFill>
            <a:srgbClr val="FFFFFF"/>
          </a:solidFill>
          <a:ln/>
        </p:spPr>
      </p:sp>
      <p:sp>
        <p:nvSpPr>
          <p:cNvPr id="71" name="Text 69"/>
          <p:cNvSpPr/>
          <p:nvPr/>
        </p:nvSpPr>
        <p:spPr>
          <a:xfrm>
            <a:off x="4663440" y="2029968"/>
            <a:ext cx="1828800" cy="228600"/>
          </a:xfrm>
          <a:prstGeom prst="rect">
            <a:avLst/>
          </a:prstGeom>
          <a:noFill/>
          <a:ln/>
        </p:spPr>
        <p:txBody>
          <a:bodyPr wrap="square" rtlCol="0" anchor="ctr"/>
          <a:lstStyle/>
          <a:p>
            <a:pPr marL="0" indent="0">
              <a:buNone/>
            </a:pPr>
            <a:r>
              <a:rPr lang="en-US" sz="700" b="1" dirty="0">
                <a:solidFill>
                  <a:srgbClr val="1A1A2E"/>
                </a:solidFill>
                <a:latin typeface="Calibri" pitchFamily="34" charset="0"/>
                <a:ea typeface="Calibri" pitchFamily="34" charset="-122"/>
                <a:cs typeface="Calibri" pitchFamily="34" charset="-120"/>
              </a:rPr>
              <a:t>Step 1 — Submitted — a.schmidt</a:t>
            </a:r>
            <a:endParaRPr lang="en-US" sz="700" dirty="0"/>
          </a:p>
        </p:txBody>
      </p:sp>
      <p:sp>
        <p:nvSpPr>
          <p:cNvPr id="72" name="Text 70"/>
          <p:cNvSpPr/>
          <p:nvPr/>
        </p:nvSpPr>
        <p:spPr>
          <a:xfrm>
            <a:off x="6510528" y="2029968"/>
            <a:ext cx="2240280" cy="228600"/>
          </a:xfrm>
          <a:prstGeom prst="rect">
            <a:avLst/>
          </a:prstGeom>
          <a:noFill/>
          <a:ln/>
        </p:spPr>
        <p:txBody>
          <a:bodyPr wrap="square" rtlCol="0" anchor="ctr"/>
          <a:lstStyle/>
          <a:p>
            <a:pPr marL="0" indent="0">
              <a:buNone/>
            </a:pPr>
            <a:r>
              <a:rPr lang="en-US" sz="650" dirty="0">
                <a:solidFill>
                  <a:srgbClr val="C0392B"/>
                </a:solidFill>
                <a:latin typeface="Calibri" pitchFamily="34" charset="0"/>
                <a:ea typeface="Calibri" pitchFamily="34" charset="-122"/>
                <a:cs typeface="Calibri" pitchFamily="34" charset="-120"/>
              </a:rPr>
              <a:t>AttText2=Anna, AttText3=Hypertension, AttDec1=85000</a:t>
            </a:r>
            <a:endParaRPr lang="en-US" sz="650" dirty="0"/>
          </a:p>
        </p:txBody>
      </p:sp>
      <p:sp>
        <p:nvSpPr>
          <p:cNvPr id="73" name="Shape 71"/>
          <p:cNvSpPr/>
          <p:nvPr/>
        </p:nvSpPr>
        <p:spPr>
          <a:xfrm>
            <a:off x="4626864" y="2286000"/>
            <a:ext cx="4187952" cy="228600"/>
          </a:xfrm>
          <a:prstGeom prst="rect">
            <a:avLst/>
          </a:prstGeom>
          <a:solidFill>
            <a:srgbClr val="FFF8F0"/>
          </a:solidFill>
          <a:ln/>
        </p:spPr>
      </p:sp>
      <p:sp>
        <p:nvSpPr>
          <p:cNvPr id="74" name="Text 72"/>
          <p:cNvSpPr/>
          <p:nvPr/>
        </p:nvSpPr>
        <p:spPr>
          <a:xfrm>
            <a:off x="4663440" y="2286000"/>
            <a:ext cx="1828800" cy="228600"/>
          </a:xfrm>
          <a:prstGeom prst="rect">
            <a:avLst/>
          </a:prstGeom>
          <a:noFill/>
          <a:ln/>
        </p:spPr>
        <p:txBody>
          <a:bodyPr wrap="square" rtlCol="0" anchor="ctr"/>
          <a:lstStyle/>
          <a:p>
            <a:pPr marL="0" indent="0">
              <a:buNone/>
            </a:pPr>
            <a:r>
              <a:rPr lang="en-US" sz="700" b="1" dirty="0">
                <a:solidFill>
                  <a:srgbClr val="1A1A2E"/>
                </a:solidFill>
                <a:latin typeface="Calibri" pitchFamily="34" charset="0"/>
                <a:ea typeface="Calibri" pitchFamily="34" charset="-122"/>
                <a:cs typeface="Calibri" pitchFamily="34" charset="-120"/>
              </a:rPr>
              <a:t>Step 2 — Mgr Approval — m.janssen</a:t>
            </a:r>
            <a:endParaRPr lang="en-US" sz="700" dirty="0"/>
          </a:p>
        </p:txBody>
      </p:sp>
      <p:sp>
        <p:nvSpPr>
          <p:cNvPr id="75" name="Text 73"/>
          <p:cNvSpPr/>
          <p:nvPr/>
        </p:nvSpPr>
        <p:spPr>
          <a:xfrm>
            <a:off x="6510528" y="2286000"/>
            <a:ext cx="2240280" cy="228600"/>
          </a:xfrm>
          <a:prstGeom prst="rect">
            <a:avLst/>
          </a:prstGeom>
          <a:noFill/>
          <a:ln/>
        </p:spPr>
        <p:txBody>
          <a:bodyPr wrap="square" rtlCol="0" anchor="ctr"/>
          <a:lstStyle/>
          <a:p>
            <a:pPr marL="0" indent="0">
              <a:buNone/>
            </a:pPr>
            <a:r>
              <a:rPr lang="en-US" sz="650" dirty="0">
                <a:solidFill>
                  <a:srgbClr val="C0392B"/>
                </a:solidFill>
                <a:latin typeface="Calibri" pitchFamily="34" charset="0"/>
                <a:ea typeface="Calibri" pitchFamily="34" charset="-122"/>
                <a:cs typeface="Calibri" pitchFamily="34" charset="-120"/>
              </a:rPr>
              <a:t>AttText2=Anna, AttText3=Hypertension, AttDec1=85000</a:t>
            </a:r>
            <a:endParaRPr lang="en-US" sz="650" dirty="0"/>
          </a:p>
        </p:txBody>
      </p:sp>
      <p:sp>
        <p:nvSpPr>
          <p:cNvPr id="76" name="Shape 74"/>
          <p:cNvSpPr/>
          <p:nvPr/>
        </p:nvSpPr>
        <p:spPr>
          <a:xfrm>
            <a:off x="4626864" y="2542032"/>
            <a:ext cx="4187952" cy="228600"/>
          </a:xfrm>
          <a:prstGeom prst="rect">
            <a:avLst/>
          </a:prstGeom>
          <a:solidFill>
            <a:srgbClr val="FFFFFF"/>
          </a:solidFill>
          <a:ln/>
        </p:spPr>
      </p:sp>
      <p:sp>
        <p:nvSpPr>
          <p:cNvPr id="77" name="Text 75"/>
          <p:cNvSpPr/>
          <p:nvPr/>
        </p:nvSpPr>
        <p:spPr>
          <a:xfrm>
            <a:off x="4663440" y="2542032"/>
            <a:ext cx="1828800" cy="228600"/>
          </a:xfrm>
          <a:prstGeom prst="rect">
            <a:avLst/>
          </a:prstGeom>
          <a:noFill/>
          <a:ln/>
        </p:spPr>
        <p:txBody>
          <a:bodyPr wrap="square" rtlCol="0" anchor="ctr"/>
          <a:lstStyle/>
          <a:p>
            <a:pPr marL="0" indent="0">
              <a:buNone/>
            </a:pPr>
            <a:r>
              <a:rPr lang="en-US" sz="700" b="1" dirty="0">
                <a:solidFill>
                  <a:srgbClr val="1A1A2E"/>
                </a:solidFill>
                <a:latin typeface="Calibri" pitchFamily="34" charset="0"/>
                <a:ea typeface="Calibri" pitchFamily="34" charset="-122"/>
                <a:cs typeface="Calibri" pitchFamily="34" charset="-120"/>
              </a:rPr>
              <a:t>Step 3 — HR Confirm — hr.admin</a:t>
            </a:r>
            <a:endParaRPr lang="en-US" sz="700" dirty="0"/>
          </a:p>
        </p:txBody>
      </p:sp>
      <p:sp>
        <p:nvSpPr>
          <p:cNvPr id="78" name="Text 76"/>
          <p:cNvSpPr/>
          <p:nvPr/>
        </p:nvSpPr>
        <p:spPr>
          <a:xfrm>
            <a:off x="6510528" y="2542032"/>
            <a:ext cx="2240280" cy="228600"/>
          </a:xfrm>
          <a:prstGeom prst="rect">
            <a:avLst/>
          </a:prstGeom>
          <a:noFill/>
          <a:ln/>
        </p:spPr>
        <p:txBody>
          <a:bodyPr wrap="square" rtlCol="0" anchor="ctr"/>
          <a:lstStyle/>
          <a:p>
            <a:pPr marL="0" indent="0">
              <a:buNone/>
            </a:pPr>
            <a:r>
              <a:rPr lang="en-US" sz="650" dirty="0">
                <a:solidFill>
                  <a:srgbClr val="C0392B"/>
                </a:solidFill>
                <a:latin typeface="Calibri" pitchFamily="34" charset="0"/>
                <a:ea typeface="Calibri" pitchFamily="34" charset="-122"/>
                <a:cs typeface="Calibri" pitchFamily="34" charset="-120"/>
              </a:rPr>
              <a:t>AttText2=Anna, AttText3=(cleared), AttDec1=85000</a:t>
            </a:r>
            <a:endParaRPr lang="en-US" sz="650" dirty="0"/>
          </a:p>
        </p:txBody>
      </p:sp>
      <p:sp>
        <p:nvSpPr>
          <p:cNvPr id="79" name="Shape 77"/>
          <p:cNvSpPr/>
          <p:nvPr/>
        </p:nvSpPr>
        <p:spPr>
          <a:xfrm>
            <a:off x="4626864" y="2798064"/>
            <a:ext cx="4187952" cy="228600"/>
          </a:xfrm>
          <a:prstGeom prst="rect">
            <a:avLst/>
          </a:prstGeom>
          <a:solidFill>
            <a:srgbClr val="FFF8F0"/>
          </a:solidFill>
          <a:ln/>
        </p:spPr>
      </p:sp>
      <p:sp>
        <p:nvSpPr>
          <p:cNvPr id="80" name="Text 78"/>
          <p:cNvSpPr/>
          <p:nvPr/>
        </p:nvSpPr>
        <p:spPr>
          <a:xfrm>
            <a:off x="4663440" y="2798064"/>
            <a:ext cx="1828800" cy="228600"/>
          </a:xfrm>
          <a:prstGeom prst="rect">
            <a:avLst/>
          </a:prstGeom>
          <a:noFill/>
          <a:ln/>
        </p:spPr>
        <p:txBody>
          <a:bodyPr wrap="square" rtlCol="0" anchor="ctr"/>
          <a:lstStyle/>
          <a:p>
            <a:pPr marL="0" indent="0">
              <a:buNone/>
            </a:pPr>
            <a:r>
              <a:rPr lang="en-US" sz="700" b="1" dirty="0">
                <a:solidFill>
                  <a:srgbClr val="1A1A2E"/>
                </a:solidFill>
                <a:latin typeface="Calibri" pitchFamily="34" charset="0"/>
                <a:ea typeface="Calibri" pitchFamily="34" charset="-122"/>
                <a:cs typeface="Calibri" pitchFamily="34" charset="-120"/>
              </a:rPr>
              <a:t>Step 4 — Completed — system</a:t>
            </a:r>
            <a:endParaRPr lang="en-US" sz="700" dirty="0"/>
          </a:p>
        </p:txBody>
      </p:sp>
      <p:sp>
        <p:nvSpPr>
          <p:cNvPr id="81" name="Text 79"/>
          <p:cNvSpPr/>
          <p:nvPr/>
        </p:nvSpPr>
        <p:spPr>
          <a:xfrm>
            <a:off x="6510528" y="2798064"/>
            <a:ext cx="2240280" cy="228600"/>
          </a:xfrm>
          <a:prstGeom prst="rect">
            <a:avLst/>
          </a:prstGeom>
          <a:noFill/>
          <a:ln/>
        </p:spPr>
        <p:txBody>
          <a:bodyPr wrap="square" rtlCol="0" anchor="ctr"/>
          <a:lstStyle/>
          <a:p>
            <a:pPr marL="0" indent="0">
              <a:buNone/>
            </a:pPr>
            <a:r>
              <a:rPr lang="en-US" sz="650" dirty="0">
                <a:solidFill>
                  <a:srgbClr val="C0392B"/>
                </a:solidFill>
                <a:latin typeface="Calibri" pitchFamily="34" charset="0"/>
                <a:ea typeface="Calibri" pitchFamily="34" charset="-122"/>
                <a:cs typeface="Calibri" pitchFamily="34" charset="-120"/>
              </a:rPr>
              <a:t>AttText2=Anna, AttText3=(cleared), AttDec1=85000</a:t>
            </a:r>
            <a:endParaRPr lang="en-US" sz="650" dirty="0"/>
          </a:p>
        </p:txBody>
      </p:sp>
      <p:sp>
        <p:nvSpPr>
          <p:cNvPr id="82" name="Shape 80"/>
          <p:cNvSpPr/>
          <p:nvPr/>
        </p:nvSpPr>
        <p:spPr>
          <a:xfrm>
            <a:off x="4572000" y="3200400"/>
            <a:ext cx="4315968" cy="868680"/>
          </a:xfrm>
          <a:prstGeom prst="rect">
            <a:avLst/>
          </a:prstGeom>
          <a:solidFill>
            <a:srgbClr val="FFFFFF"/>
          </a:solidFill>
          <a:ln/>
          <a:effectLst>
            <a:outerShdw blurRad="101600" dist="38100" dir="8100000" algn="bl" rotWithShape="0">
              <a:srgbClr val="000000">
                <a:alpha val="12000"/>
              </a:srgbClr>
            </a:outerShdw>
          </a:effectLst>
        </p:spPr>
      </p:sp>
      <p:sp>
        <p:nvSpPr>
          <p:cNvPr id="83" name="Shape 81"/>
          <p:cNvSpPr/>
          <p:nvPr/>
        </p:nvSpPr>
        <p:spPr>
          <a:xfrm>
            <a:off x="4572000" y="3200400"/>
            <a:ext cx="4315968" cy="274320"/>
          </a:xfrm>
          <a:prstGeom prst="rect">
            <a:avLst/>
          </a:prstGeom>
          <a:solidFill>
            <a:srgbClr val="E3F0FF"/>
          </a:solidFill>
          <a:ln/>
        </p:spPr>
      </p:sp>
      <p:sp>
        <p:nvSpPr>
          <p:cNvPr id="84" name="Text 82"/>
          <p:cNvSpPr/>
          <p:nvPr/>
        </p:nvSpPr>
        <p:spPr>
          <a:xfrm>
            <a:off x="4663440" y="3200400"/>
            <a:ext cx="4160520" cy="274320"/>
          </a:xfrm>
          <a:prstGeom prst="rect">
            <a:avLst/>
          </a:prstGeom>
          <a:noFill/>
          <a:ln/>
        </p:spPr>
        <p:txBody>
          <a:bodyPr wrap="square" rtlCol="0" anchor="ctr"/>
          <a:lstStyle/>
          <a:p>
            <a:pPr marL="0" indent="0">
              <a:buNone/>
            </a:pPr>
            <a:r>
              <a:rPr lang="en-US" sz="900" b="1" dirty="0">
                <a:solidFill>
                  <a:srgbClr val="009B9E"/>
                </a:solidFill>
                <a:latin typeface="Calibri" pitchFamily="34" charset="0"/>
                <a:ea typeface="Calibri" pitchFamily="34" charset="-122"/>
                <a:cs typeface="Calibri" pitchFamily="34" charset="-120"/>
              </a:rPr>
              <a:t>Key Difference: Direct vs Chained RLS</a:t>
            </a:r>
            <a:endParaRPr lang="en-US" sz="900" dirty="0"/>
          </a:p>
        </p:txBody>
      </p:sp>
      <p:sp>
        <p:nvSpPr>
          <p:cNvPr id="85" name="Text 83"/>
          <p:cNvSpPr/>
          <p:nvPr/>
        </p:nvSpPr>
        <p:spPr>
          <a:xfrm>
            <a:off x="4663440" y="3511296"/>
            <a:ext cx="4160520" cy="502920"/>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WFHistoryElements carries WFH_FormType_ID directly — so RLS uses a direct predicate (same blocklist as WFElements). No need to chain upward through a parent table. Both policies reference the same cfg_SensitiveProcessIDs table — one INSERT to that table protects WFElements, WFHistoryElements, and WFLogs simultaneously.</a:t>
            </a:r>
            <a:endParaRPr lang="en-US" sz="850" dirty="0"/>
          </a:p>
        </p:txBody>
      </p:sp>
      <p:sp>
        <p:nvSpPr>
          <p:cNvPr id="86" name="Shape 84"/>
          <p:cNvSpPr/>
          <p:nvPr/>
        </p:nvSpPr>
        <p:spPr>
          <a:xfrm>
            <a:off x="4572000" y="4142232"/>
            <a:ext cx="4315968" cy="749808"/>
          </a:xfrm>
          <a:prstGeom prst="rect">
            <a:avLst/>
          </a:prstGeom>
          <a:solidFill>
            <a:srgbClr val="FFFFFF"/>
          </a:solidFill>
          <a:ln/>
          <a:effectLst>
            <a:outerShdw blurRad="101600" dist="38100" dir="8100000" algn="bl" rotWithShape="0">
              <a:srgbClr val="000000">
                <a:alpha val="12000"/>
              </a:srgbClr>
            </a:outerShdw>
          </a:effectLst>
        </p:spPr>
      </p:sp>
      <p:sp>
        <p:nvSpPr>
          <p:cNvPr id="87" name="Shape 85"/>
          <p:cNvSpPr/>
          <p:nvPr/>
        </p:nvSpPr>
        <p:spPr>
          <a:xfrm>
            <a:off x="4572000" y="4142232"/>
            <a:ext cx="4315968" cy="274320"/>
          </a:xfrm>
          <a:prstGeom prst="rect">
            <a:avLst/>
          </a:prstGeom>
          <a:solidFill>
            <a:srgbClr val="E8F5E9"/>
          </a:solidFill>
          <a:ln/>
        </p:spPr>
      </p:sp>
      <p:sp>
        <p:nvSpPr>
          <p:cNvPr id="88" name="Text 86"/>
          <p:cNvSpPr/>
          <p:nvPr/>
        </p:nvSpPr>
        <p:spPr>
          <a:xfrm>
            <a:off x="4663440" y="4142232"/>
            <a:ext cx="4160520" cy="274320"/>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DDM Applied — Same Columns as WFElements</a:t>
            </a:r>
            <a:endParaRPr lang="en-US" sz="900" dirty="0"/>
          </a:p>
        </p:txBody>
      </p:sp>
      <p:sp>
        <p:nvSpPr>
          <p:cNvPr id="89" name="Text 87"/>
          <p:cNvSpPr/>
          <p:nvPr/>
        </p:nvSpPr>
        <p:spPr>
          <a:xfrm>
            <a:off x="4663440" y="4453128"/>
            <a:ext cx="4114800" cy="118872"/>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  WFH_AttDecimal1 (salary) → 0.00</a:t>
            </a:r>
            <a:endParaRPr lang="en-US" sz="800" dirty="0"/>
          </a:p>
        </p:txBody>
      </p:sp>
      <p:sp>
        <p:nvSpPr>
          <p:cNvPr id="90" name="Text 88"/>
          <p:cNvSpPr/>
          <p:nvPr/>
        </p:nvSpPr>
        <p:spPr>
          <a:xfrm>
            <a:off x="4663440" y="4581144"/>
            <a:ext cx="4114800" cy="118872"/>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  WFH_AttLong1 (medical notes) → xxxx</a:t>
            </a:r>
            <a:endParaRPr lang="en-US" sz="800" dirty="0"/>
          </a:p>
        </p:txBody>
      </p:sp>
      <p:sp>
        <p:nvSpPr>
          <p:cNvPr id="91" name="Text 89"/>
          <p:cNvSpPr/>
          <p:nvPr/>
        </p:nvSpPr>
        <p:spPr>
          <a:xfrm>
            <a:off x="4663440" y="4709160"/>
            <a:ext cx="4114800" cy="118872"/>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  WFH_AttText4 (email) → a***@XXXXX.com</a:t>
            </a:r>
            <a:endParaRPr lang="en-US" sz="800" dirty="0"/>
          </a:p>
        </p:txBody>
      </p:sp>
      <p:sp>
        <p:nvSpPr>
          <p:cNvPr id="92" name="Shape 90"/>
          <p:cNvSpPr/>
          <p:nvPr/>
        </p:nvSpPr>
        <p:spPr>
          <a:xfrm>
            <a:off x="0" y="4828032"/>
            <a:ext cx="9144000" cy="315468"/>
          </a:xfrm>
          <a:prstGeom prst="rect">
            <a:avLst/>
          </a:prstGeom>
          <a:solidFill>
            <a:srgbClr val="009B9E"/>
          </a:solidFill>
          <a:ln/>
        </p:spPr>
      </p:sp>
      <p:sp>
        <p:nvSpPr>
          <p:cNvPr id="93" name="Shape 91"/>
          <p:cNvSpPr/>
          <p:nvPr/>
        </p:nvSpPr>
        <p:spPr>
          <a:xfrm>
            <a:off x="502920" y="4919472"/>
            <a:ext cx="18288" cy="128016"/>
          </a:xfrm>
          <a:prstGeom prst="rect">
            <a:avLst/>
          </a:prstGeom>
          <a:solidFill>
            <a:srgbClr val="FFFFFF"/>
          </a:solidFill>
          <a:ln/>
        </p:spPr>
      </p:sp>
      <p:sp>
        <p:nvSpPr>
          <p:cNvPr id="94" name="Text 92"/>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95" name="Text 93"/>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4A235A"/>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WFElementDetails  —  TABLE STRUCTURE &amp; COLUMN ARCHITECTURE</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Sub-form &amp; Multi-value Table — One Row Per Repeating Sub-form Entry</a:t>
            </a:r>
            <a:endParaRPr lang="en-US" sz="1500" dirty="0"/>
          </a:p>
        </p:txBody>
      </p:sp>
      <p:sp>
        <p:nvSpPr>
          <p:cNvPr id="6" name="Shape 4"/>
          <p:cNvSpPr/>
          <p:nvPr/>
        </p:nvSpPr>
        <p:spPr>
          <a:xfrm>
            <a:off x="274320" y="1170432"/>
            <a:ext cx="8595360" cy="457200"/>
          </a:xfrm>
          <a:prstGeom prst="rect">
            <a:avLst/>
          </a:prstGeom>
          <a:solidFill>
            <a:srgbClr val="EDE7F6"/>
          </a:solidFill>
          <a:ln w="10160">
            <a:solidFill>
              <a:srgbClr val="4A235A"/>
            </a:solidFill>
            <a:prstDash val="solid"/>
          </a:ln>
        </p:spPr>
      </p:sp>
      <p:sp>
        <p:nvSpPr>
          <p:cNvPr id="7" name="Shape 5"/>
          <p:cNvSpPr/>
          <p:nvPr/>
        </p:nvSpPr>
        <p:spPr>
          <a:xfrm>
            <a:off x="274320" y="1170432"/>
            <a:ext cx="91440" cy="457200"/>
          </a:xfrm>
          <a:prstGeom prst="rect">
            <a:avLst/>
          </a:prstGeom>
          <a:solidFill>
            <a:srgbClr val="4A235A"/>
          </a:solidFill>
          <a:ln/>
        </p:spPr>
      </p:sp>
      <p:sp>
        <p:nvSpPr>
          <p:cNvPr id="8" name="Text 6"/>
          <p:cNvSpPr/>
          <p:nvPr/>
        </p:nvSpPr>
        <p:spPr>
          <a:xfrm>
            <a:off x="457200" y="1197864"/>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How it works: When a WEBCON form contains a sub-form (a repeating grid of rows — e.g. daily leave breakdown, invoice line items, document checklist), each grid row is stored as a separate WFElementDetails record. All records link back to their parent WFElements row via WFD_WFDID. The same sub-form type (WFD_DetailType_ID) can appear in both sensitive and non-sensitive processes — making chained RLS essential.</a:t>
            </a:r>
            <a:endParaRPr lang="en-US" sz="950" dirty="0"/>
          </a:p>
        </p:txBody>
      </p:sp>
      <p:sp>
        <p:nvSpPr>
          <p:cNvPr id="9" name="Shape 7"/>
          <p:cNvSpPr/>
          <p:nvPr/>
        </p:nvSpPr>
        <p:spPr>
          <a:xfrm>
            <a:off x="274320" y="1700784"/>
            <a:ext cx="4023360" cy="256032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00784"/>
            <a:ext cx="4023360" cy="292608"/>
          </a:xfrm>
          <a:prstGeom prst="rect">
            <a:avLst/>
          </a:prstGeom>
          <a:solidFill>
            <a:srgbClr val="EDE7F6"/>
          </a:solidFill>
          <a:ln/>
        </p:spPr>
      </p:sp>
      <p:sp>
        <p:nvSpPr>
          <p:cNvPr id="11" name="Text 9"/>
          <p:cNvSpPr/>
          <p:nvPr/>
        </p:nvSpPr>
        <p:spPr>
          <a:xfrm>
            <a:off x="365760" y="1700784"/>
            <a:ext cx="3886200" cy="292608"/>
          </a:xfrm>
          <a:prstGeom prst="rect">
            <a:avLst/>
          </a:prstGeom>
          <a:noFill/>
          <a:ln/>
        </p:spPr>
        <p:txBody>
          <a:bodyPr wrap="square" rtlCol="0" anchor="ctr"/>
          <a:lstStyle/>
          <a:p>
            <a:pPr marL="0" indent="0">
              <a:buNone/>
            </a:pPr>
            <a:r>
              <a:rPr lang="en-US" sz="900" b="1" dirty="0">
                <a:solidFill>
                  <a:srgbClr val="4A235A"/>
                </a:solidFill>
                <a:latin typeface="Calibri" pitchFamily="34" charset="0"/>
                <a:ea typeface="Calibri" pitchFamily="34" charset="-122"/>
                <a:cs typeface="Calibri" pitchFamily="34" charset="-120"/>
              </a:rPr>
              <a:t>Column Schema</a:t>
            </a:r>
            <a:endParaRPr lang="en-US" sz="900" dirty="0"/>
          </a:p>
        </p:txBody>
      </p:sp>
      <p:sp>
        <p:nvSpPr>
          <p:cNvPr id="12" name="Shape 10"/>
          <p:cNvSpPr/>
          <p:nvPr/>
        </p:nvSpPr>
        <p:spPr>
          <a:xfrm>
            <a:off x="320040" y="2048256"/>
            <a:ext cx="3913632" cy="237744"/>
          </a:xfrm>
          <a:prstGeom prst="rect">
            <a:avLst/>
          </a:prstGeom>
          <a:solidFill>
            <a:srgbClr val="FFFFFF"/>
          </a:solidFill>
          <a:ln/>
        </p:spPr>
      </p:sp>
      <p:sp>
        <p:nvSpPr>
          <p:cNvPr id="13" name="Shape 11"/>
          <p:cNvSpPr/>
          <p:nvPr/>
        </p:nvSpPr>
        <p:spPr>
          <a:xfrm>
            <a:off x="320040" y="2048256"/>
            <a:ext cx="566928" cy="237744"/>
          </a:xfrm>
          <a:prstGeom prst="rect">
            <a:avLst/>
          </a:prstGeom>
          <a:solidFill>
            <a:srgbClr val="F0F4FF"/>
          </a:solidFill>
          <a:ln/>
        </p:spPr>
      </p:sp>
      <p:sp>
        <p:nvSpPr>
          <p:cNvPr id="14" name="Text 12"/>
          <p:cNvSpPr/>
          <p:nvPr/>
        </p:nvSpPr>
        <p:spPr>
          <a:xfrm>
            <a:off x="320040" y="2048256"/>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PK</a:t>
            </a:r>
            <a:endParaRPr lang="en-US" sz="580" dirty="0"/>
          </a:p>
        </p:txBody>
      </p:sp>
      <p:sp>
        <p:nvSpPr>
          <p:cNvPr id="15" name="Text 13"/>
          <p:cNvSpPr/>
          <p:nvPr/>
        </p:nvSpPr>
        <p:spPr>
          <a:xfrm>
            <a:off x="905256" y="2048256"/>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WFD_DetailID</a:t>
            </a:r>
            <a:endParaRPr lang="en-US" sz="700" dirty="0"/>
          </a:p>
        </p:txBody>
      </p:sp>
      <p:sp>
        <p:nvSpPr>
          <p:cNvPr id="16" name="Text 14"/>
          <p:cNvSpPr/>
          <p:nvPr/>
        </p:nvSpPr>
        <p:spPr>
          <a:xfrm>
            <a:off x="2185416" y="2048256"/>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Unique sub-form row ID</a:t>
            </a:r>
            <a:endParaRPr lang="en-US" sz="720" dirty="0"/>
          </a:p>
        </p:txBody>
      </p:sp>
      <p:sp>
        <p:nvSpPr>
          <p:cNvPr id="17" name="Shape 15"/>
          <p:cNvSpPr/>
          <p:nvPr/>
        </p:nvSpPr>
        <p:spPr>
          <a:xfrm>
            <a:off x="320040" y="2318004"/>
            <a:ext cx="3913632" cy="237744"/>
          </a:xfrm>
          <a:prstGeom prst="rect">
            <a:avLst/>
          </a:prstGeom>
          <a:solidFill>
            <a:srgbClr val="F8FAFC"/>
          </a:solidFill>
          <a:ln/>
        </p:spPr>
      </p:sp>
      <p:sp>
        <p:nvSpPr>
          <p:cNvPr id="18" name="Shape 16"/>
          <p:cNvSpPr/>
          <p:nvPr/>
        </p:nvSpPr>
        <p:spPr>
          <a:xfrm>
            <a:off x="320040" y="2318004"/>
            <a:ext cx="566928" cy="237744"/>
          </a:xfrm>
          <a:prstGeom prst="rect">
            <a:avLst/>
          </a:prstGeom>
          <a:solidFill>
            <a:srgbClr val="F0F4FF"/>
          </a:solidFill>
          <a:ln/>
        </p:spPr>
      </p:sp>
      <p:sp>
        <p:nvSpPr>
          <p:cNvPr id="19" name="Text 17"/>
          <p:cNvSpPr/>
          <p:nvPr/>
        </p:nvSpPr>
        <p:spPr>
          <a:xfrm>
            <a:off x="320040" y="2318004"/>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FK</a:t>
            </a:r>
            <a:endParaRPr lang="en-US" sz="580" dirty="0"/>
          </a:p>
        </p:txBody>
      </p:sp>
      <p:sp>
        <p:nvSpPr>
          <p:cNvPr id="20" name="Text 18"/>
          <p:cNvSpPr/>
          <p:nvPr/>
        </p:nvSpPr>
        <p:spPr>
          <a:xfrm>
            <a:off x="905256" y="2318004"/>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WFD_WFDID</a:t>
            </a:r>
            <a:endParaRPr lang="en-US" sz="700" dirty="0"/>
          </a:p>
        </p:txBody>
      </p:sp>
      <p:sp>
        <p:nvSpPr>
          <p:cNvPr id="21" name="Text 19"/>
          <p:cNvSpPr/>
          <p:nvPr/>
        </p:nvSpPr>
        <p:spPr>
          <a:xfrm>
            <a:off x="2185416" y="2318004"/>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Parent WFElements.WFD_ID — chain key</a:t>
            </a:r>
            <a:endParaRPr lang="en-US" sz="720" dirty="0"/>
          </a:p>
        </p:txBody>
      </p:sp>
      <p:sp>
        <p:nvSpPr>
          <p:cNvPr id="22" name="Shape 20"/>
          <p:cNvSpPr/>
          <p:nvPr/>
        </p:nvSpPr>
        <p:spPr>
          <a:xfrm>
            <a:off x="320040" y="2587752"/>
            <a:ext cx="3913632" cy="237744"/>
          </a:xfrm>
          <a:prstGeom prst="rect">
            <a:avLst/>
          </a:prstGeom>
          <a:solidFill>
            <a:srgbClr val="FFFFFF"/>
          </a:solidFill>
          <a:ln/>
        </p:spPr>
      </p:sp>
      <p:sp>
        <p:nvSpPr>
          <p:cNvPr id="23" name="Shape 21"/>
          <p:cNvSpPr/>
          <p:nvPr/>
        </p:nvSpPr>
        <p:spPr>
          <a:xfrm>
            <a:off x="320040" y="2587752"/>
            <a:ext cx="566928" cy="237744"/>
          </a:xfrm>
          <a:prstGeom prst="rect">
            <a:avLst/>
          </a:prstGeom>
          <a:solidFill>
            <a:srgbClr val="F0F4FF"/>
          </a:solidFill>
          <a:ln/>
        </p:spPr>
      </p:sp>
      <p:sp>
        <p:nvSpPr>
          <p:cNvPr id="24" name="Text 22"/>
          <p:cNvSpPr/>
          <p:nvPr/>
        </p:nvSpPr>
        <p:spPr>
          <a:xfrm>
            <a:off x="320040" y="2587752"/>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a:t>
            </a:r>
            <a:endParaRPr lang="en-US" sz="580" dirty="0"/>
          </a:p>
        </p:txBody>
      </p:sp>
      <p:sp>
        <p:nvSpPr>
          <p:cNvPr id="25" name="Text 23"/>
          <p:cNvSpPr/>
          <p:nvPr/>
        </p:nvSpPr>
        <p:spPr>
          <a:xfrm>
            <a:off x="905256" y="2587752"/>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WFD_DetailType_ID</a:t>
            </a:r>
            <a:endParaRPr lang="en-US" sz="700" dirty="0"/>
          </a:p>
        </p:txBody>
      </p:sp>
      <p:sp>
        <p:nvSpPr>
          <p:cNvPr id="26" name="Text 24"/>
          <p:cNvSpPr/>
          <p:nvPr/>
        </p:nvSpPr>
        <p:spPr>
          <a:xfrm>
            <a:off x="2185416" y="2587752"/>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Sub-form type defined in Designer</a:t>
            </a:r>
            <a:endParaRPr lang="en-US" sz="720" dirty="0"/>
          </a:p>
        </p:txBody>
      </p:sp>
      <p:sp>
        <p:nvSpPr>
          <p:cNvPr id="27" name="Shape 25"/>
          <p:cNvSpPr/>
          <p:nvPr/>
        </p:nvSpPr>
        <p:spPr>
          <a:xfrm>
            <a:off x="320040" y="2857500"/>
            <a:ext cx="3913632" cy="237744"/>
          </a:xfrm>
          <a:prstGeom prst="rect">
            <a:avLst/>
          </a:prstGeom>
          <a:solidFill>
            <a:srgbClr val="F8FAFC"/>
          </a:solidFill>
          <a:ln/>
        </p:spPr>
      </p:sp>
      <p:sp>
        <p:nvSpPr>
          <p:cNvPr id="28" name="Shape 26"/>
          <p:cNvSpPr/>
          <p:nvPr/>
        </p:nvSpPr>
        <p:spPr>
          <a:xfrm>
            <a:off x="320040" y="2857500"/>
            <a:ext cx="566928" cy="237744"/>
          </a:xfrm>
          <a:prstGeom prst="rect">
            <a:avLst/>
          </a:prstGeom>
          <a:solidFill>
            <a:srgbClr val="F0F4FF"/>
          </a:solidFill>
          <a:ln/>
        </p:spPr>
      </p:sp>
      <p:sp>
        <p:nvSpPr>
          <p:cNvPr id="29" name="Text 27"/>
          <p:cNvSpPr/>
          <p:nvPr/>
        </p:nvSpPr>
        <p:spPr>
          <a:xfrm>
            <a:off x="320040" y="2857500"/>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a:t>
            </a:r>
            <a:endParaRPr lang="en-US" sz="580" dirty="0"/>
          </a:p>
        </p:txBody>
      </p:sp>
      <p:sp>
        <p:nvSpPr>
          <p:cNvPr id="30" name="Text 28"/>
          <p:cNvSpPr/>
          <p:nvPr/>
        </p:nvSpPr>
        <p:spPr>
          <a:xfrm>
            <a:off x="905256" y="2857500"/>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WFD_Ordinal</a:t>
            </a:r>
            <a:endParaRPr lang="en-US" sz="700" dirty="0"/>
          </a:p>
        </p:txBody>
      </p:sp>
      <p:sp>
        <p:nvSpPr>
          <p:cNvPr id="31" name="Text 29"/>
          <p:cNvSpPr/>
          <p:nvPr/>
        </p:nvSpPr>
        <p:spPr>
          <a:xfrm>
            <a:off x="2185416" y="2857500"/>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Row order within the sub-form</a:t>
            </a:r>
            <a:endParaRPr lang="en-US" sz="720" dirty="0"/>
          </a:p>
        </p:txBody>
      </p:sp>
      <p:sp>
        <p:nvSpPr>
          <p:cNvPr id="32" name="Shape 30"/>
          <p:cNvSpPr/>
          <p:nvPr/>
        </p:nvSpPr>
        <p:spPr>
          <a:xfrm>
            <a:off x="320040" y="3127248"/>
            <a:ext cx="3913632" cy="237744"/>
          </a:xfrm>
          <a:prstGeom prst="rect">
            <a:avLst/>
          </a:prstGeom>
          <a:solidFill>
            <a:srgbClr val="FFF0F0"/>
          </a:solidFill>
          <a:ln/>
        </p:spPr>
      </p:sp>
      <p:sp>
        <p:nvSpPr>
          <p:cNvPr id="33" name="Shape 31"/>
          <p:cNvSpPr/>
          <p:nvPr/>
        </p:nvSpPr>
        <p:spPr>
          <a:xfrm>
            <a:off x="320040" y="3127248"/>
            <a:ext cx="566928" cy="237744"/>
          </a:xfrm>
          <a:prstGeom prst="rect">
            <a:avLst/>
          </a:prstGeom>
          <a:solidFill>
            <a:srgbClr val="FFEBEE"/>
          </a:solidFill>
          <a:ln/>
        </p:spPr>
      </p:sp>
      <p:sp>
        <p:nvSpPr>
          <p:cNvPr id="34" name="Text 32"/>
          <p:cNvSpPr/>
          <p:nvPr/>
        </p:nvSpPr>
        <p:spPr>
          <a:xfrm>
            <a:off x="320040" y="3127248"/>
            <a:ext cx="566928" cy="23774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NVARCHAR(255)</a:t>
            </a:r>
            <a:endParaRPr lang="en-US" sz="580" dirty="0"/>
          </a:p>
        </p:txBody>
      </p:sp>
      <p:sp>
        <p:nvSpPr>
          <p:cNvPr id="35" name="Text 33"/>
          <p:cNvSpPr/>
          <p:nvPr/>
        </p:nvSpPr>
        <p:spPr>
          <a:xfrm>
            <a:off x="905256" y="3127248"/>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WFD_AttText1..10</a:t>
            </a:r>
            <a:endParaRPr lang="en-US" sz="700" dirty="0"/>
          </a:p>
        </p:txBody>
      </p:sp>
      <p:sp>
        <p:nvSpPr>
          <p:cNvPr id="36" name="Text 34"/>
          <p:cNvSpPr/>
          <p:nvPr/>
        </p:nvSpPr>
        <p:spPr>
          <a:xfrm>
            <a:off x="2185416" y="3127248"/>
            <a:ext cx="1993392" cy="23774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Sub-form text fields</a:t>
            </a:r>
            <a:endParaRPr lang="en-US" sz="720" dirty="0"/>
          </a:p>
        </p:txBody>
      </p:sp>
      <p:sp>
        <p:nvSpPr>
          <p:cNvPr id="37" name="Shape 35"/>
          <p:cNvSpPr/>
          <p:nvPr/>
        </p:nvSpPr>
        <p:spPr>
          <a:xfrm>
            <a:off x="320040" y="3396996"/>
            <a:ext cx="3913632" cy="237744"/>
          </a:xfrm>
          <a:prstGeom prst="rect">
            <a:avLst/>
          </a:prstGeom>
          <a:solidFill>
            <a:srgbClr val="FFF0F0"/>
          </a:solidFill>
          <a:ln/>
        </p:spPr>
      </p:sp>
      <p:sp>
        <p:nvSpPr>
          <p:cNvPr id="38" name="Shape 36"/>
          <p:cNvSpPr/>
          <p:nvPr/>
        </p:nvSpPr>
        <p:spPr>
          <a:xfrm>
            <a:off x="320040" y="3396996"/>
            <a:ext cx="566928" cy="237744"/>
          </a:xfrm>
          <a:prstGeom prst="rect">
            <a:avLst/>
          </a:prstGeom>
          <a:solidFill>
            <a:srgbClr val="FFEBEE"/>
          </a:solidFill>
          <a:ln/>
        </p:spPr>
      </p:sp>
      <p:sp>
        <p:nvSpPr>
          <p:cNvPr id="39" name="Text 37"/>
          <p:cNvSpPr/>
          <p:nvPr/>
        </p:nvSpPr>
        <p:spPr>
          <a:xfrm>
            <a:off x="320040" y="3396996"/>
            <a:ext cx="566928" cy="23774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DECIMAL(18,2)</a:t>
            </a:r>
            <a:endParaRPr lang="en-US" sz="580" dirty="0"/>
          </a:p>
        </p:txBody>
      </p:sp>
      <p:sp>
        <p:nvSpPr>
          <p:cNvPr id="40" name="Text 38"/>
          <p:cNvSpPr/>
          <p:nvPr/>
        </p:nvSpPr>
        <p:spPr>
          <a:xfrm>
            <a:off x="905256" y="3396996"/>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WFD_AttDecimal1..5</a:t>
            </a:r>
            <a:endParaRPr lang="en-US" sz="700" dirty="0"/>
          </a:p>
        </p:txBody>
      </p:sp>
      <p:sp>
        <p:nvSpPr>
          <p:cNvPr id="41" name="Text 39"/>
          <p:cNvSpPr/>
          <p:nvPr/>
        </p:nvSpPr>
        <p:spPr>
          <a:xfrm>
            <a:off x="2185416" y="3396996"/>
            <a:ext cx="1993392" cy="23774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Sub-form numeric fields</a:t>
            </a:r>
            <a:endParaRPr lang="en-US" sz="720" dirty="0"/>
          </a:p>
        </p:txBody>
      </p:sp>
      <p:sp>
        <p:nvSpPr>
          <p:cNvPr id="42" name="Shape 40"/>
          <p:cNvSpPr/>
          <p:nvPr/>
        </p:nvSpPr>
        <p:spPr>
          <a:xfrm>
            <a:off x="320040" y="3666744"/>
            <a:ext cx="3913632" cy="237744"/>
          </a:xfrm>
          <a:prstGeom prst="rect">
            <a:avLst/>
          </a:prstGeom>
          <a:solidFill>
            <a:srgbClr val="FFFFFF"/>
          </a:solidFill>
          <a:ln/>
        </p:spPr>
      </p:sp>
      <p:sp>
        <p:nvSpPr>
          <p:cNvPr id="43" name="Shape 41"/>
          <p:cNvSpPr/>
          <p:nvPr/>
        </p:nvSpPr>
        <p:spPr>
          <a:xfrm>
            <a:off x="320040" y="3666744"/>
            <a:ext cx="566928" cy="237744"/>
          </a:xfrm>
          <a:prstGeom prst="rect">
            <a:avLst/>
          </a:prstGeom>
          <a:solidFill>
            <a:srgbClr val="F0F4FF"/>
          </a:solidFill>
          <a:ln/>
        </p:spPr>
      </p:sp>
      <p:sp>
        <p:nvSpPr>
          <p:cNvPr id="44" name="Text 42"/>
          <p:cNvSpPr/>
          <p:nvPr/>
        </p:nvSpPr>
        <p:spPr>
          <a:xfrm>
            <a:off x="320040" y="3666744"/>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DATETIME</a:t>
            </a:r>
            <a:endParaRPr lang="en-US" sz="580" dirty="0"/>
          </a:p>
        </p:txBody>
      </p:sp>
      <p:sp>
        <p:nvSpPr>
          <p:cNvPr id="45" name="Text 43"/>
          <p:cNvSpPr/>
          <p:nvPr/>
        </p:nvSpPr>
        <p:spPr>
          <a:xfrm>
            <a:off x="905256" y="3666744"/>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WFD_AttDate1..3</a:t>
            </a:r>
            <a:endParaRPr lang="en-US" sz="700" dirty="0"/>
          </a:p>
        </p:txBody>
      </p:sp>
      <p:sp>
        <p:nvSpPr>
          <p:cNvPr id="46" name="Text 44"/>
          <p:cNvSpPr/>
          <p:nvPr/>
        </p:nvSpPr>
        <p:spPr>
          <a:xfrm>
            <a:off x="2185416" y="3666744"/>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Sub-form date fields</a:t>
            </a:r>
            <a:endParaRPr lang="en-US" sz="720" dirty="0"/>
          </a:p>
        </p:txBody>
      </p:sp>
      <p:sp>
        <p:nvSpPr>
          <p:cNvPr id="47" name="Shape 45"/>
          <p:cNvSpPr/>
          <p:nvPr/>
        </p:nvSpPr>
        <p:spPr>
          <a:xfrm>
            <a:off x="320040" y="3936492"/>
            <a:ext cx="3913632" cy="237744"/>
          </a:xfrm>
          <a:prstGeom prst="rect">
            <a:avLst/>
          </a:prstGeom>
          <a:solidFill>
            <a:srgbClr val="F8FAFC"/>
          </a:solidFill>
          <a:ln/>
        </p:spPr>
      </p:sp>
      <p:sp>
        <p:nvSpPr>
          <p:cNvPr id="48" name="Shape 46"/>
          <p:cNvSpPr/>
          <p:nvPr/>
        </p:nvSpPr>
        <p:spPr>
          <a:xfrm>
            <a:off x="320040" y="3936492"/>
            <a:ext cx="566928" cy="237744"/>
          </a:xfrm>
          <a:prstGeom prst="rect">
            <a:avLst/>
          </a:prstGeom>
          <a:solidFill>
            <a:srgbClr val="F0F4FF"/>
          </a:solidFill>
          <a:ln/>
        </p:spPr>
      </p:sp>
      <p:sp>
        <p:nvSpPr>
          <p:cNvPr id="49" name="Text 47"/>
          <p:cNvSpPr/>
          <p:nvPr/>
        </p:nvSpPr>
        <p:spPr>
          <a:xfrm>
            <a:off x="320040" y="3936492"/>
            <a:ext cx="566928" cy="23774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DATETIME</a:t>
            </a:r>
            <a:endParaRPr lang="en-US" sz="580" dirty="0"/>
          </a:p>
        </p:txBody>
      </p:sp>
      <p:sp>
        <p:nvSpPr>
          <p:cNvPr id="50" name="Text 48"/>
          <p:cNvSpPr/>
          <p:nvPr/>
        </p:nvSpPr>
        <p:spPr>
          <a:xfrm>
            <a:off x="905256" y="3936492"/>
            <a:ext cx="1261872" cy="23774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WFD_Modified</a:t>
            </a:r>
            <a:endParaRPr lang="en-US" sz="700" dirty="0"/>
          </a:p>
        </p:txBody>
      </p:sp>
      <p:sp>
        <p:nvSpPr>
          <p:cNvPr id="51" name="Text 49"/>
          <p:cNvSpPr/>
          <p:nvPr/>
        </p:nvSpPr>
        <p:spPr>
          <a:xfrm>
            <a:off x="2185416" y="3936492"/>
            <a:ext cx="1993392" cy="23774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Last modified timestamp</a:t>
            </a:r>
            <a:endParaRPr lang="en-US" sz="720" dirty="0"/>
          </a:p>
        </p:txBody>
      </p:sp>
      <p:sp>
        <p:nvSpPr>
          <p:cNvPr id="52" name="Shape 50"/>
          <p:cNvSpPr/>
          <p:nvPr/>
        </p:nvSpPr>
        <p:spPr>
          <a:xfrm>
            <a:off x="4572000" y="1700784"/>
            <a:ext cx="4315968" cy="2560320"/>
          </a:xfrm>
          <a:prstGeom prst="rect">
            <a:avLst/>
          </a:prstGeom>
          <a:solidFill>
            <a:srgbClr val="FFFFFF"/>
          </a:solidFill>
          <a:ln/>
          <a:effectLst>
            <a:outerShdw blurRad="101600" dist="38100" dir="8100000" algn="bl" rotWithShape="0">
              <a:srgbClr val="000000">
                <a:alpha val="12000"/>
              </a:srgbClr>
            </a:outerShdw>
          </a:effectLst>
        </p:spPr>
      </p:sp>
      <p:sp>
        <p:nvSpPr>
          <p:cNvPr id="53" name="Shape 51"/>
          <p:cNvSpPr/>
          <p:nvPr/>
        </p:nvSpPr>
        <p:spPr>
          <a:xfrm>
            <a:off x="4572000" y="1700784"/>
            <a:ext cx="4315968" cy="292608"/>
          </a:xfrm>
          <a:prstGeom prst="rect">
            <a:avLst/>
          </a:prstGeom>
          <a:solidFill>
            <a:srgbClr val="EDE7F6"/>
          </a:solidFill>
          <a:ln/>
        </p:spPr>
      </p:sp>
      <p:sp>
        <p:nvSpPr>
          <p:cNvPr id="54" name="Text 52"/>
          <p:cNvSpPr/>
          <p:nvPr/>
        </p:nvSpPr>
        <p:spPr>
          <a:xfrm>
            <a:off x="4663440" y="1700784"/>
            <a:ext cx="4160520" cy="292608"/>
          </a:xfrm>
          <a:prstGeom prst="rect">
            <a:avLst/>
          </a:prstGeom>
          <a:noFill/>
          <a:ln/>
        </p:spPr>
        <p:txBody>
          <a:bodyPr wrap="square" rtlCol="0" anchor="ctr"/>
          <a:lstStyle/>
          <a:p>
            <a:pPr marL="0" indent="0">
              <a:buNone/>
            </a:pPr>
            <a:r>
              <a:rPr lang="en-US" sz="900" b="1" dirty="0">
                <a:solidFill>
                  <a:srgbClr val="4A235A"/>
                </a:solidFill>
                <a:latin typeface="Calibri" pitchFamily="34" charset="0"/>
                <a:ea typeface="Calibri" pitchFamily="34" charset="-122"/>
                <a:cs typeface="Calibri" pitchFamily="34" charset="-120"/>
              </a:rPr>
              <a:t>Sub-form Examples — Same Detail Type, Different Processes</a:t>
            </a:r>
            <a:endParaRPr lang="en-US" sz="900" dirty="0"/>
          </a:p>
        </p:txBody>
      </p:sp>
      <p:sp>
        <p:nvSpPr>
          <p:cNvPr id="55" name="Shape 53"/>
          <p:cNvSpPr/>
          <p:nvPr/>
        </p:nvSpPr>
        <p:spPr>
          <a:xfrm>
            <a:off x="4626864" y="2048256"/>
            <a:ext cx="4187952" cy="201168"/>
          </a:xfrm>
          <a:prstGeom prst="rect">
            <a:avLst/>
          </a:prstGeom>
          <a:solidFill>
            <a:srgbClr val="FFEBEE"/>
          </a:solidFill>
          <a:ln/>
        </p:spPr>
      </p:sp>
      <p:sp>
        <p:nvSpPr>
          <p:cNvPr id="56" name="Text 54"/>
          <p:cNvSpPr/>
          <p:nvPr/>
        </p:nvSpPr>
        <p:spPr>
          <a:xfrm>
            <a:off x="4663440" y="2048256"/>
            <a:ext cx="4114800" cy="201168"/>
          </a:xfrm>
          <a:prstGeom prst="rect">
            <a:avLst/>
          </a:prstGeom>
          <a:noFill/>
          <a:ln/>
        </p:spPr>
        <p:txBody>
          <a:bodyPr wrap="square"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HR Leave (101) — DetailType 55</a:t>
            </a:r>
            <a:endParaRPr lang="en-US" sz="800" dirty="0"/>
          </a:p>
        </p:txBody>
      </p:sp>
      <p:sp>
        <p:nvSpPr>
          <p:cNvPr id="57" name="Text 55"/>
          <p:cNvSpPr/>
          <p:nvPr/>
        </p:nvSpPr>
        <p:spPr>
          <a:xfrm>
            <a:off x="4663440" y="2267712"/>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58" name="Text 56"/>
          <p:cNvSpPr/>
          <p:nvPr/>
        </p:nvSpPr>
        <p:spPr>
          <a:xfrm>
            <a:off x="5897880" y="2267712"/>
            <a:ext cx="2834640" cy="100584"/>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2026-04-14 (Date)</a:t>
            </a:r>
            <a:endParaRPr lang="en-US" sz="700" dirty="0"/>
          </a:p>
        </p:txBody>
      </p:sp>
      <p:sp>
        <p:nvSpPr>
          <p:cNvPr id="59" name="Text 57"/>
          <p:cNvSpPr/>
          <p:nvPr/>
        </p:nvSpPr>
        <p:spPr>
          <a:xfrm>
            <a:off x="4663440" y="2377440"/>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60" name="Text 58"/>
          <p:cNvSpPr/>
          <p:nvPr/>
        </p:nvSpPr>
        <p:spPr>
          <a:xfrm>
            <a:off x="5897880" y="2377440"/>
            <a:ext cx="2834640" cy="100584"/>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Full Day</a:t>
            </a:r>
            <a:endParaRPr lang="en-US" sz="700" dirty="0"/>
          </a:p>
        </p:txBody>
      </p:sp>
      <p:sp>
        <p:nvSpPr>
          <p:cNvPr id="61" name="Text 59"/>
          <p:cNvSpPr/>
          <p:nvPr/>
        </p:nvSpPr>
        <p:spPr>
          <a:xfrm>
            <a:off x="4663440" y="2487168"/>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62" name="Text 60"/>
          <p:cNvSpPr/>
          <p:nvPr/>
        </p:nvSpPr>
        <p:spPr>
          <a:xfrm>
            <a:off x="5897880" y="2487168"/>
            <a:ext cx="2834640" cy="100584"/>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Medical 🔴</a:t>
            </a:r>
            <a:endParaRPr lang="en-US" sz="700" dirty="0"/>
          </a:p>
        </p:txBody>
      </p:sp>
      <p:sp>
        <p:nvSpPr>
          <p:cNvPr id="63" name="Text 61"/>
          <p:cNvSpPr/>
          <p:nvPr/>
        </p:nvSpPr>
        <p:spPr>
          <a:xfrm>
            <a:off x="4663440" y="2596896"/>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64" name="Text 62"/>
          <p:cNvSpPr/>
          <p:nvPr/>
        </p:nvSpPr>
        <p:spPr>
          <a:xfrm>
            <a:off x="5897880" y="2596896"/>
            <a:ext cx="2834640" cy="100584"/>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(not used)</a:t>
            </a:r>
            <a:endParaRPr lang="en-US" sz="700" dirty="0"/>
          </a:p>
        </p:txBody>
      </p:sp>
      <p:sp>
        <p:nvSpPr>
          <p:cNvPr id="65" name="Shape 63"/>
          <p:cNvSpPr/>
          <p:nvPr/>
        </p:nvSpPr>
        <p:spPr>
          <a:xfrm>
            <a:off x="4626864" y="2752344"/>
            <a:ext cx="4187952" cy="201168"/>
          </a:xfrm>
          <a:prstGeom prst="rect">
            <a:avLst/>
          </a:prstGeom>
          <a:solidFill>
            <a:srgbClr val="E8F5E9"/>
          </a:solidFill>
          <a:ln/>
        </p:spPr>
      </p:sp>
      <p:sp>
        <p:nvSpPr>
          <p:cNvPr id="66" name="Text 64"/>
          <p:cNvSpPr/>
          <p:nvPr/>
        </p:nvSpPr>
        <p:spPr>
          <a:xfrm>
            <a:off x="4663440" y="2752344"/>
            <a:ext cx="4114800" cy="201168"/>
          </a:xfrm>
          <a:prstGeom prst="rect">
            <a:avLst/>
          </a:prstGeom>
          <a:noFill/>
          <a:ln/>
        </p:spPr>
        <p:txBody>
          <a:bodyPr wrap="square" rtlCol="0" anchor="ctr"/>
          <a:lstStyle/>
          <a:p>
            <a:pPr marL="0" indent="0">
              <a:buNone/>
            </a:pPr>
            <a:r>
              <a:rPr lang="en-US" sz="800" b="1" dirty="0">
                <a:solidFill>
                  <a:srgbClr val="1B7A4A"/>
                </a:solidFill>
                <a:latin typeface="Calibri" pitchFamily="34" charset="0"/>
                <a:ea typeface="Calibri" pitchFamily="34" charset="-122"/>
                <a:cs typeface="Calibri" pitchFamily="34" charset="-120"/>
              </a:rPr>
              <a:t>Procurement (301) — DetailType 88</a:t>
            </a:r>
            <a:endParaRPr lang="en-US" sz="800" dirty="0"/>
          </a:p>
        </p:txBody>
      </p:sp>
      <p:sp>
        <p:nvSpPr>
          <p:cNvPr id="67" name="Text 65"/>
          <p:cNvSpPr/>
          <p:nvPr/>
        </p:nvSpPr>
        <p:spPr>
          <a:xfrm>
            <a:off x="4663440" y="2971800"/>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68" name="Text 66"/>
          <p:cNvSpPr/>
          <p:nvPr/>
        </p:nvSpPr>
        <p:spPr>
          <a:xfrm>
            <a:off x="5897880" y="2971800"/>
            <a:ext cx="2834640" cy="100584"/>
          </a:xfrm>
          <a:prstGeom prst="rect">
            <a:avLst/>
          </a:prstGeom>
          <a:noFill/>
          <a:ln/>
        </p:spPr>
        <p:txBody>
          <a:bodyPr wrap="square" rtlCol="0" anchor="ctr"/>
          <a:lstStyle/>
          <a:p>
            <a:pPr marL="0" indent="0">
              <a:buNone/>
            </a:pPr>
            <a:r>
              <a:rPr lang="en-US" sz="700" dirty="0">
                <a:solidFill>
                  <a:srgbClr val="1B7A4A"/>
                </a:solidFill>
                <a:latin typeface="Calibri" pitchFamily="34" charset="0"/>
                <a:ea typeface="Calibri" pitchFamily="34" charset="-122"/>
                <a:cs typeface="Calibri" pitchFamily="34" charset="-120"/>
              </a:rPr>
              <a:t>Laptop x2 (Item)</a:t>
            </a:r>
            <a:endParaRPr lang="en-US" sz="700" dirty="0"/>
          </a:p>
        </p:txBody>
      </p:sp>
      <p:sp>
        <p:nvSpPr>
          <p:cNvPr id="69" name="Text 67"/>
          <p:cNvSpPr/>
          <p:nvPr/>
        </p:nvSpPr>
        <p:spPr>
          <a:xfrm>
            <a:off x="4663440" y="3081528"/>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70" name="Text 68"/>
          <p:cNvSpPr/>
          <p:nvPr/>
        </p:nvSpPr>
        <p:spPr>
          <a:xfrm>
            <a:off x="5897880" y="3081528"/>
            <a:ext cx="2834640" cy="100584"/>
          </a:xfrm>
          <a:prstGeom prst="rect">
            <a:avLst/>
          </a:prstGeom>
          <a:noFill/>
          <a:ln/>
        </p:spPr>
        <p:txBody>
          <a:bodyPr wrap="square" rtlCol="0" anchor="ctr"/>
          <a:lstStyle/>
          <a:p>
            <a:pPr marL="0" indent="0">
              <a:buNone/>
            </a:pPr>
            <a:r>
              <a:rPr lang="en-US" sz="700" dirty="0">
                <a:solidFill>
                  <a:srgbClr val="1B7A4A"/>
                </a:solidFill>
                <a:latin typeface="Calibri" pitchFamily="34" charset="0"/>
                <a:ea typeface="Calibri" pitchFamily="34" charset="-122"/>
                <a:cs typeface="Calibri" pitchFamily="34" charset="-120"/>
              </a:rPr>
              <a:t>Dell (Vendor)</a:t>
            </a:r>
            <a:endParaRPr lang="en-US" sz="700" dirty="0"/>
          </a:p>
        </p:txBody>
      </p:sp>
      <p:sp>
        <p:nvSpPr>
          <p:cNvPr id="71" name="Text 69"/>
          <p:cNvSpPr/>
          <p:nvPr/>
        </p:nvSpPr>
        <p:spPr>
          <a:xfrm>
            <a:off x="4663440" y="3191256"/>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72" name="Text 70"/>
          <p:cNvSpPr/>
          <p:nvPr/>
        </p:nvSpPr>
        <p:spPr>
          <a:xfrm>
            <a:off x="5897880" y="3191256"/>
            <a:ext cx="2834640" cy="100584"/>
          </a:xfrm>
          <a:prstGeom prst="rect">
            <a:avLst/>
          </a:prstGeom>
          <a:noFill/>
          <a:ln/>
        </p:spPr>
        <p:txBody>
          <a:bodyPr wrap="square" rtlCol="0" anchor="ctr"/>
          <a:lstStyle/>
          <a:p>
            <a:pPr marL="0" indent="0">
              <a:buNone/>
            </a:pPr>
            <a:r>
              <a:rPr lang="en-US" sz="700" dirty="0">
                <a:solidFill>
                  <a:srgbClr val="1B7A4A"/>
                </a:solidFill>
                <a:latin typeface="Calibri" pitchFamily="34" charset="0"/>
                <a:ea typeface="Calibri" pitchFamily="34" charset="-122"/>
                <a:cs typeface="Calibri" pitchFamily="34" charset="-120"/>
              </a:rPr>
              <a:t>Hardware 🟢</a:t>
            </a:r>
            <a:endParaRPr lang="en-US" sz="700" dirty="0"/>
          </a:p>
        </p:txBody>
      </p:sp>
      <p:sp>
        <p:nvSpPr>
          <p:cNvPr id="73" name="Text 71"/>
          <p:cNvSpPr/>
          <p:nvPr/>
        </p:nvSpPr>
        <p:spPr>
          <a:xfrm>
            <a:off x="4663440" y="3300984"/>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74" name="Text 72"/>
          <p:cNvSpPr/>
          <p:nvPr/>
        </p:nvSpPr>
        <p:spPr>
          <a:xfrm>
            <a:off x="5897880" y="3300984"/>
            <a:ext cx="2834640" cy="100584"/>
          </a:xfrm>
          <a:prstGeom prst="rect">
            <a:avLst/>
          </a:prstGeom>
          <a:noFill/>
          <a:ln/>
        </p:spPr>
        <p:txBody>
          <a:bodyPr wrap="square" rtlCol="0" anchor="ctr"/>
          <a:lstStyle/>
          <a:p>
            <a:pPr marL="0" indent="0">
              <a:buNone/>
            </a:pPr>
            <a:r>
              <a:rPr lang="en-US" sz="700" dirty="0">
                <a:solidFill>
                  <a:srgbClr val="1B7A4A"/>
                </a:solidFill>
                <a:latin typeface="Calibri" pitchFamily="34" charset="0"/>
                <a:ea typeface="Calibri" pitchFamily="34" charset="-122"/>
                <a:cs typeface="Calibri" pitchFamily="34" charset="-120"/>
              </a:rPr>
              <a:t>2,400 EUR</a:t>
            </a:r>
            <a:endParaRPr lang="en-US" sz="700" dirty="0"/>
          </a:p>
        </p:txBody>
      </p:sp>
      <p:sp>
        <p:nvSpPr>
          <p:cNvPr id="75" name="Shape 73"/>
          <p:cNvSpPr/>
          <p:nvPr/>
        </p:nvSpPr>
        <p:spPr>
          <a:xfrm>
            <a:off x="4626864" y="3456432"/>
            <a:ext cx="4187952" cy="201168"/>
          </a:xfrm>
          <a:prstGeom prst="rect">
            <a:avLst/>
          </a:prstGeom>
          <a:solidFill>
            <a:srgbClr val="E8F0FE"/>
          </a:solidFill>
          <a:ln/>
        </p:spPr>
      </p:sp>
      <p:sp>
        <p:nvSpPr>
          <p:cNvPr id="76" name="Text 74"/>
          <p:cNvSpPr/>
          <p:nvPr/>
        </p:nvSpPr>
        <p:spPr>
          <a:xfrm>
            <a:off x="4663440" y="3456432"/>
            <a:ext cx="4114800" cy="201168"/>
          </a:xfrm>
          <a:prstGeom prst="rect">
            <a:avLst/>
          </a:prstGeom>
          <a:noFill/>
          <a:ln/>
        </p:spPr>
        <p:txBody>
          <a:bodyPr wrap="square" rtlCol="0" anchor="ctr"/>
          <a:lstStyle/>
          <a:p>
            <a:pPr marL="0" indent="0">
              <a:buNone/>
            </a:pPr>
            <a:r>
              <a:rPr lang="en-US" sz="800" b="1" dirty="0">
                <a:solidFill>
                  <a:srgbClr val="009B9E"/>
                </a:solidFill>
                <a:latin typeface="Calibri" pitchFamily="34" charset="0"/>
                <a:ea typeface="Calibri" pitchFamily="34" charset="-122"/>
                <a:cs typeface="Calibri" pitchFamily="34" charset="-120"/>
              </a:rPr>
              <a:t>IT Helpdesk (201) — DetailType 42</a:t>
            </a:r>
            <a:endParaRPr lang="en-US" sz="800" dirty="0"/>
          </a:p>
        </p:txBody>
      </p:sp>
      <p:sp>
        <p:nvSpPr>
          <p:cNvPr id="77" name="Text 75"/>
          <p:cNvSpPr/>
          <p:nvPr/>
        </p:nvSpPr>
        <p:spPr>
          <a:xfrm>
            <a:off x="4663440" y="3675888"/>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WFD_AttText1:</a:t>
            </a:r>
            <a:endParaRPr lang="en-US" sz="680" dirty="0"/>
          </a:p>
        </p:txBody>
      </p:sp>
      <p:sp>
        <p:nvSpPr>
          <p:cNvPr id="78" name="Text 76"/>
          <p:cNvSpPr/>
          <p:nvPr/>
        </p:nvSpPr>
        <p:spPr>
          <a:xfrm>
            <a:off x="5897880" y="3675888"/>
            <a:ext cx="2834640" cy="100584"/>
          </a:xfrm>
          <a:prstGeom prst="rect">
            <a:avLst/>
          </a:prstGeom>
          <a:noFill/>
          <a:ln/>
        </p:spPr>
        <p:txBody>
          <a:bodyPr wrap="square" rtlCol="0" anchor="ctr"/>
          <a:lstStyle/>
          <a:p>
            <a:pPr marL="0" indent="0">
              <a:buNone/>
            </a:pPr>
            <a:r>
              <a:rPr lang="en-US" sz="700" dirty="0">
                <a:solidFill>
                  <a:srgbClr val="009B9E"/>
                </a:solidFill>
                <a:latin typeface="Calibri" pitchFamily="34" charset="0"/>
                <a:ea typeface="Calibri" pitchFamily="34" charset="-122"/>
                <a:cs typeface="Calibri" pitchFamily="34" charset="-120"/>
              </a:rPr>
              <a:t>Step: Assigned</a:t>
            </a:r>
            <a:endParaRPr lang="en-US" sz="700" dirty="0"/>
          </a:p>
        </p:txBody>
      </p:sp>
      <p:sp>
        <p:nvSpPr>
          <p:cNvPr id="79" name="Text 77"/>
          <p:cNvSpPr/>
          <p:nvPr/>
        </p:nvSpPr>
        <p:spPr>
          <a:xfrm>
            <a:off x="4663440" y="3785616"/>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WFD_AttText2:</a:t>
            </a:r>
            <a:endParaRPr lang="en-US" sz="680" dirty="0"/>
          </a:p>
        </p:txBody>
      </p:sp>
      <p:sp>
        <p:nvSpPr>
          <p:cNvPr id="80" name="Text 78"/>
          <p:cNvSpPr/>
          <p:nvPr/>
        </p:nvSpPr>
        <p:spPr>
          <a:xfrm>
            <a:off x="5897880" y="3785616"/>
            <a:ext cx="2834640" cy="100584"/>
          </a:xfrm>
          <a:prstGeom prst="rect">
            <a:avLst/>
          </a:prstGeom>
          <a:noFill/>
          <a:ln/>
        </p:spPr>
        <p:txBody>
          <a:bodyPr wrap="square" rtlCol="0" anchor="ctr"/>
          <a:lstStyle/>
          <a:p>
            <a:pPr marL="0" indent="0">
              <a:buNone/>
            </a:pPr>
            <a:r>
              <a:rPr lang="en-US" sz="700" dirty="0">
                <a:solidFill>
                  <a:srgbClr val="009B9E"/>
                </a:solidFill>
                <a:latin typeface="Calibri" pitchFamily="34" charset="0"/>
                <a:ea typeface="Calibri" pitchFamily="34" charset="-122"/>
                <a:cs typeface="Calibri" pitchFamily="34" charset="-120"/>
              </a:rPr>
              <a:t>b.kumar</a:t>
            </a:r>
            <a:endParaRPr lang="en-US" sz="700" dirty="0"/>
          </a:p>
        </p:txBody>
      </p:sp>
      <p:sp>
        <p:nvSpPr>
          <p:cNvPr id="81" name="Text 79"/>
          <p:cNvSpPr/>
          <p:nvPr/>
        </p:nvSpPr>
        <p:spPr>
          <a:xfrm>
            <a:off x="4663440" y="3895344"/>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WFD_AttText3:</a:t>
            </a:r>
            <a:endParaRPr lang="en-US" sz="680" dirty="0"/>
          </a:p>
        </p:txBody>
      </p:sp>
      <p:sp>
        <p:nvSpPr>
          <p:cNvPr id="82" name="Text 80"/>
          <p:cNvSpPr/>
          <p:nvPr/>
        </p:nvSpPr>
        <p:spPr>
          <a:xfrm>
            <a:off x="5897880" y="3895344"/>
            <a:ext cx="2834640" cy="100584"/>
          </a:xfrm>
          <a:prstGeom prst="rect">
            <a:avLst/>
          </a:prstGeom>
          <a:noFill/>
          <a:ln/>
        </p:spPr>
        <p:txBody>
          <a:bodyPr wrap="square" rtlCol="0" anchor="ctr"/>
          <a:lstStyle/>
          <a:p>
            <a:pPr marL="0" indent="0">
              <a:buNone/>
            </a:pPr>
            <a:r>
              <a:rPr lang="en-US" sz="700" dirty="0">
                <a:solidFill>
                  <a:srgbClr val="009B9E"/>
                </a:solidFill>
                <a:latin typeface="Calibri" pitchFamily="34" charset="0"/>
                <a:ea typeface="Calibri" pitchFamily="34" charset="-122"/>
                <a:cs typeface="Calibri" pitchFamily="34" charset="-120"/>
              </a:rPr>
              <a:t>In Progress 🟢</a:t>
            </a:r>
            <a:endParaRPr lang="en-US" sz="700" dirty="0"/>
          </a:p>
        </p:txBody>
      </p:sp>
      <p:sp>
        <p:nvSpPr>
          <p:cNvPr id="83" name="Text 81"/>
          <p:cNvSpPr/>
          <p:nvPr/>
        </p:nvSpPr>
        <p:spPr>
          <a:xfrm>
            <a:off x="4663440" y="4005072"/>
            <a:ext cx="1188720" cy="100584"/>
          </a:xfrm>
          <a:prstGeom prst="rect">
            <a:avLst/>
          </a:prstGeom>
          <a:noFill/>
          <a:ln/>
        </p:spPr>
        <p:txBody>
          <a:bodyPr wrap="square" rtlCol="0" anchor="ctr"/>
          <a:lstStyle/>
          <a:p>
            <a:pPr marL="0" indent="0">
              <a:buNone/>
            </a:pPr>
            <a:r>
              <a:rPr lang="en-US" sz="680" dirty="0">
                <a:solidFill>
                  <a:srgbClr val="5B6B85"/>
                </a:solidFill>
                <a:latin typeface="Consolas" pitchFamily="34" charset="0"/>
                <a:ea typeface="Consolas" pitchFamily="34" charset="-122"/>
                <a:cs typeface="Consolas" pitchFamily="34" charset="-120"/>
              </a:rPr>
              <a:t>WFD_AttDecimal1:</a:t>
            </a:r>
            <a:endParaRPr lang="en-US" sz="680" dirty="0"/>
          </a:p>
        </p:txBody>
      </p:sp>
      <p:sp>
        <p:nvSpPr>
          <p:cNvPr id="84" name="Text 82"/>
          <p:cNvSpPr/>
          <p:nvPr/>
        </p:nvSpPr>
        <p:spPr>
          <a:xfrm>
            <a:off x="5897880" y="4005072"/>
            <a:ext cx="2834640" cy="100584"/>
          </a:xfrm>
          <a:prstGeom prst="rect">
            <a:avLst/>
          </a:prstGeom>
          <a:noFill/>
          <a:ln/>
        </p:spPr>
        <p:txBody>
          <a:bodyPr wrap="square" rtlCol="0" anchor="ctr"/>
          <a:lstStyle/>
          <a:p>
            <a:pPr marL="0" indent="0">
              <a:buNone/>
            </a:pPr>
            <a:r>
              <a:rPr lang="en-US" sz="700" dirty="0">
                <a:solidFill>
                  <a:srgbClr val="009B9E"/>
                </a:solidFill>
                <a:latin typeface="Calibri" pitchFamily="34" charset="0"/>
                <a:ea typeface="Calibri" pitchFamily="34" charset="-122"/>
                <a:cs typeface="Calibri" pitchFamily="34" charset="-120"/>
              </a:rPr>
              <a:t>(not used)</a:t>
            </a:r>
            <a:endParaRPr lang="en-US" sz="700" dirty="0"/>
          </a:p>
        </p:txBody>
      </p:sp>
      <p:sp>
        <p:nvSpPr>
          <p:cNvPr id="85" name="Shape 83"/>
          <p:cNvSpPr/>
          <p:nvPr/>
        </p:nvSpPr>
        <p:spPr>
          <a:xfrm>
            <a:off x="274320" y="4334256"/>
            <a:ext cx="8595360" cy="566928"/>
          </a:xfrm>
          <a:prstGeom prst="rect">
            <a:avLst/>
          </a:prstGeom>
          <a:solidFill>
            <a:srgbClr val="1A1A2E"/>
          </a:solidFill>
          <a:ln/>
        </p:spPr>
      </p:sp>
      <p:sp>
        <p:nvSpPr>
          <p:cNvPr id="86" name="Text 84"/>
          <p:cNvSpPr/>
          <p:nvPr/>
        </p:nvSpPr>
        <p:spPr>
          <a:xfrm>
            <a:off x="411480" y="4361688"/>
            <a:ext cx="8321040" cy="502920"/>
          </a:xfrm>
          <a:prstGeom prst="rect">
            <a:avLst/>
          </a:prstGeom>
          <a:noFill/>
          <a:ln/>
        </p:spPr>
        <p:txBody>
          <a:bodyPr wrap="square" rtlCol="0" anchor="ctr"/>
          <a:lstStyle/>
          <a:p>
            <a:pPr marL="0" indent="0">
              <a:buNone/>
            </a:pPr>
            <a:r>
              <a:rPr lang="en-US" sz="880" dirty="0">
                <a:solidFill>
                  <a:srgbClr val="A8C4D8"/>
                </a:solidFill>
                <a:latin typeface="Calibri" pitchFamily="34" charset="0"/>
                <a:ea typeface="Calibri" pitchFamily="34" charset="-122"/>
                <a:cs typeface="Calibri" pitchFamily="34" charset="-120"/>
              </a:rPr>
              <a:t>Chained RLS: The access policy on WFElementDetails checks if the parent WFD_WFDID is visible in WFElements for the current session user. Since WFElements RLS already blocks HR rows for Non-EEA logins, the sub-form rows for those parent IDs are automatically blocked too — with no separate sensitive process list required.</a:t>
            </a:r>
            <a:endParaRPr lang="en-US" sz="880" dirty="0"/>
          </a:p>
        </p:txBody>
      </p:sp>
      <p:sp>
        <p:nvSpPr>
          <p:cNvPr id="87" name="Shape 85"/>
          <p:cNvSpPr/>
          <p:nvPr/>
        </p:nvSpPr>
        <p:spPr>
          <a:xfrm>
            <a:off x="0" y="4828032"/>
            <a:ext cx="9144000" cy="315468"/>
          </a:xfrm>
          <a:prstGeom prst="rect">
            <a:avLst/>
          </a:prstGeom>
          <a:solidFill>
            <a:srgbClr val="009B9E"/>
          </a:solidFill>
          <a:ln/>
        </p:spPr>
      </p:sp>
      <p:sp>
        <p:nvSpPr>
          <p:cNvPr id="88" name="Shape 86"/>
          <p:cNvSpPr/>
          <p:nvPr/>
        </p:nvSpPr>
        <p:spPr>
          <a:xfrm>
            <a:off x="502920" y="4919472"/>
            <a:ext cx="18288" cy="128016"/>
          </a:xfrm>
          <a:prstGeom prst="rect">
            <a:avLst/>
          </a:prstGeom>
          <a:solidFill>
            <a:srgbClr val="FFFFFF"/>
          </a:solidFill>
          <a:ln/>
        </p:spPr>
      </p:sp>
      <p:sp>
        <p:nvSpPr>
          <p:cNvPr id="89" name="Text 87"/>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90" name="Text 88"/>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E67E2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WFElementComments  —  TABLE STRUCTURE &amp; COLUMN ARCHITECTURE</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Free Text Comment Table — Unstructured PII Risk</a:t>
            </a:r>
            <a:endParaRPr lang="en-US" sz="1500" dirty="0"/>
          </a:p>
        </p:txBody>
      </p:sp>
      <p:sp>
        <p:nvSpPr>
          <p:cNvPr id="6" name="Shape 4"/>
          <p:cNvSpPr/>
          <p:nvPr/>
        </p:nvSpPr>
        <p:spPr>
          <a:xfrm>
            <a:off x="274320" y="1170432"/>
            <a:ext cx="8595360" cy="457200"/>
          </a:xfrm>
          <a:prstGeom prst="rect">
            <a:avLst/>
          </a:prstGeom>
          <a:solidFill>
            <a:srgbClr val="FFF3E0"/>
          </a:solidFill>
          <a:ln w="10160">
            <a:solidFill>
              <a:srgbClr val="E67E22"/>
            </a:solidFill>
            <a:prstDash val="solid"/>
          </a:ln>
        </p:spPr>
      </p:sp>
      <p:sp>
        <p:nvSpPr>
          <p:cNvPr id="7" name="Shape 5"/>
          <p:cNvSpPr/>
          <p:nvPr/>
        </p:nvSpPr>
        <p:spPr>
          <a:xfrm>
            <a:off x="274320" y="1170432"/>
            <a:ext cx="91440" cy="457200"/>
          </a:xfrm>
          <a:prstGeom prst="rect">
            <a:avLst/>
          </a:prstGeom>
          <a:solidFill>
            <a:srgbClr val="E67E22"/>
          </a:solidFill>
          <a:ln/>
        </p:spPr>
      </p:sp>
      <p:sp>
        <p:nvSpPr>
          <p:cNvPr id="8" name="Text 6"/>
          <p:cNvSpPr/>
          <p:nvPr/>
        </p:nvSpPr>
        <p:spPr>
          <a:xfrm>
            <a:off x="457200" y="1197864"/>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How it works: Users and automation rules can post comments on any workflow instance during its lifecycle. WEBCON stores these as free-text strings with no PII scanning, no field structure, and no column-level masking possible. The WFC_Content column is an open NVARCHAR(MAX) — a manager typing a comment can inadvertently embed salary values, medical conditions, or bank details directly into it.</a:t>
            </a:r>
            <a:endParaRPr lang="en-US" sz="950" dirty="0"/>
          </a:p>
        </p:txBody>
      </p:sp>
      <p:sp>
        <p:nvSpPr>
          <p:cNvPr id="9" name="Shape 7"/>
          <p:cNvSpPr/>
          <p:nvPr/>
        </p:nvSpPr>
        <p:spPr>
          <a:xfrm>
            <a:off x="274320" y="1700784"/>
            <a:ext cx="4023360" cy="173736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00784"/>
            <a:ext cx="4023360" cy="292608"/>
          </a:xfrm>
          <a:prstGeom prst="rect">
            <a:avLst/>
          </a:prstGeom>
          <a:solidFill>
            <a:srgbClr val="FFF3E0"/>
          </a:solidFill>
          <a:ln/>
        </p:spPr>
      </p:sp>
      <p:sp>
        <p:nvSpPr>
          <p:cNvPr id="11" name="Text 9"/>
          <p:cNvSpPr/>
          <p:nvPr/>
        </p:nvSpPr>
        <p:spPr>
          <a:xfrm>
            <a:off x="365760" y="1700784"/>
            <a:ext cx="3886200" cy="292608"/>
          </a:xfrm>
          <a:prstGeom prst="rect">
            <a:avLst/>
          </a:prstGeom>
          <a:noFill/>
          <a:ln/>
        </p:spPr>
        <p:txBody>
          <a:bodyPr wrap="square" rtlCol="0" anchor="ctr"/>
          <a:lstStyle/>
          <a:p>
            <a:pPr marL="0" indent="0">
              <a:buNone/>
            </a:pPr>
            <a:r>
              <a:rPr lang="en-US" sz="900" b="1" dirty="0">
                <a:solidFill>
                  <a:srgbClr val="E67E22"/>
                </a:solidFill>
                <a:latin typeface="Calibri" pitchFamily="34" charset="0"/>
                <a:ea typeface="Calibri" pitchFamily="34" charset="-122"/>
                <a:cs typeface="Calibri" pitchFamily="34" charset="-120"/>
              </a:rPr>
              <a:t>Column Schema — Simple Flat Structure</a:t>
            </a:r>
            <a:endParaRPr lang="en-US" sz="900" dirty="0"/>
          </a:p>
        </p:txBody>
      </p:sp>
      <p:sp>
        <p:nvSpPr>
          <p:cNvPr id="12" name="Shape 10"/>
          <p:cNvSpPr/>
          <p:nvPr/>
        </p:nvSpPr>
        <p:spPr>
          <a:xfrm>
            <a:off x="320040" y="2048256"/>
            <a:ext cx="3913632" cy="192024"/>
          </a:xfrm>
          <a:prstGeom prst="rect">
            <a:avLst/>
          </a:prstGeom>
          <a:solidFill>
            <a:srgbClr val="FFFFFF"/>
          </a:solidFill>
          <a:ln/>
        </p:spPr>
      </p:sp>
      <p:sp>
        <p:nvSpPr>
          <p:cNvPr id="13" name="Shape 11"/>
          <p:cNvSpPr/>
          <p:nvPr/>
        </p:nvSpPr>
        <p:spPr>
          <a:xfrm>
            <a:off x="320040" y="2048256"/>
            <a:ext cx="566928" cy="192024"/>
          </a:xfrm>
          <a:prstGeom prst="rect">
            <a:avLst/>
          </a:prstGeom>
          <a:solidFill>
            <a:srgbClr val="F0F4FF"/>
          </a:solidFill>
          <a:ln/>
        </p:spPr>
      </p:sp>
      <p:sp>
        <p:nvSpPr>
          <p:cNvPr id="14" name="Text 12"/>
          <p:cNvSpPr/>
          <p:nvPr/>
        </p:nvSpPr>
        <p:spPr>
          <a:xfrm>
            <a:off x="320040" y="2048256"/>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PK</a:t>
            </a:r>
            <a:endParaRPr lang="en-US" sz="580" dirty="0"/>
          </a:p>
        </p:txBody>
      </p:sp>
      <p:sp>
        <p:nvSpPr>
          <p:cNvPr id="15" name="Text 13"/>
          <p:cNvSpPr/>
          <p:nvPr/>
        </p:nvSpPr>
        <p:spPr>
          <a:xfrm>
            <a:off x="905256" y="204825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WFC_ID</a:t>
            </a:r>
            <a:endParaRPr lang="en-US" sz="700" dirty="0"/>
          </a:p>
        </p:txBody>
      </p:sp>
      <p:sp>
        <p:nvSpPr>
          <p:cNvPr id="16" name="Text 14"/>
          <p:cNvSpPr/>
          <p:nvPr/>
        </p:nvSpPr>
        <p:spPr>
          <a:xfrm>
            <a:off x="2185416" y="204825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Unique comment record ID</a:t>
            </a:r>
            <a:endParaRPr lang="en-US" sz="720" dirty="0"/>
          </a:p>
        </p:txBody>
      </p:sp>
      <p:sp>
        <p:nvSpPr>
          <p:cNvPr id="17" name="Shape 15"/>
          <p:cNvSpPr/>
          <p:nvPr/>
        </p:nvSpPr>
        <p:spPr>
          <a:xfrm>
            <a:off x="320040" y="2263140"/>
            <a:ext cx="3913632" cy="192024"/>
          </a:xfrm>
          <a:prstGeom prst="rect">
            <a:avLst/>
          </a:prstGeom>
          <a:solidFill>
            <a:srgbClr val="F8FAFC"/>
          </a:solidFill>
          <a:ln/>
        </p:spPr>
      </p:sp>
      <p:sp>
        <p:nvSpPr>
          <p:cNvPr id="18" name="Shape 16"/>
          <p:cNvSpPr/>
          <p:nvPr/>
        </p:nvSpPr>
        <p:spPr>
          <a:xfrm>
            <a:off x="320040" y="2263140"/>
            <a:ext cx="566928" cy="192024"/>
          </a:xfrm>
          <a:prstGeom prst="rect">
            <a:avLst/>
          </a:prstGeom>
          <a:solidFill>
            <a:srgbClr val="F0F4FF"/>
          </a:solidFill>
          <a:ln/>
        </p:spPr>
      </p:sp>
      <p:sp>
        <p:nvSpPr>
          <p:cNvPr id="19" name="Text 17"/>
          <p:cNvSpPr/>
          <p:nvPr/>
        </p:nvSpPr>
        <p:spPr>
          <a:xfrm>
            <a:off x="320040" y="2263140"/>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FK</a:t>
            </a:r>
            <a:endParaRPr lang="en-US" sz="580" dirty="0"/>
          </a:p>
        </p:txBody>
      </p:sp>
      <p:sp>
        <p:nvSpPr>
          <p:cNvPr id="20" name="Text 18"/>
          <p:cNvSpPr/>
          <p:nvPr/>
        </p:nvSpPr>
        <p:spPr>
          <a:xfrm>
            <a:off x="905256" y="2263140"/>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WFC_WFDID</a:t>
            </a:r>
            <a:endParaRPr lang="en-US" sz="700" dirty="0"/>
          </a:p>
        </p:txBody>
      </p:sp>
      <p:sp>
        <p:nvSpPr>
          <p:cNvPr id="21" name="Text 19"/>
          <p:cNvSpPr/>
          <p:nvPr/>
        </p:nvSpPr>
        <p:spPr>
          <a:xfrm>
            <a:off x="2185416" y="2263140"/>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Parent WFElements.WFD_ID</a:t>
            </a:r>
            <a:endParaRPr lang="en-US" sz="720" dirty="0"/>
          </a:p>
        </p:txBody>
      </p:sp>
      <p:sp>
        <p:nvSpPr>
          <p:cNvPr id="22" name="Shape 20"/>
          <p:cNvSpPr/>
          <p:nvPr/>
        </p:nvSpPr>
        <p:spPr>
          <a:xfrm>
            <a:off x="320040" y="2478024"/>
            <a:ext cx="3913632" cy="192024"/>
          </a:xfrm>
          <a:prstGeom prst="rect">
            <a:avLst/>
          </a:prstGeom>
          <a:solidFill>
            <a:srgbClr val="FFFFFF"/>
          </a:solidFill>
          <a:ln/>
        </p:spPr>
      </p:sp>
      <p:sp>
        <p:nvSpPr>
          <p:cNvPr id="23" name="Shape 21"/>
          <p:cNvSpPr/>
          <p:nvPr/>
        </p:nvSpPr>
        <p:spPr>
          <a:xfrm>
            <a:off x="320040" y="2478024"/>
            <a:ext cx="566928" cy="192024"/>
          </a:xfrm>
          <a:prstGeom prst="rect">
            <a:avLst/>
          </a:prstGeom>
          <a:solidFill>
            <a:srgbClr val="F0F4FF"/>
          </a:solidFill>
          <a:ln/>
        </p:spPr>
      </p:sp>
      <p:sp>
        <p:nvSpPr>
          <p:cNvPr id="24" name="Text 22"/>
          <p:cNvSpPr/>
          <p:nvPr/>
        </p:nvSpPr>
        <p:spPr>
          <a:xfrm>
            <a:off x="320040" y="2478024"/>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NVARCHAR(50)</a:t>
            </a:r>
            <a:endParaRPr lang="en-US" sz="580" dirty="0"/>
          </a:p>
        </p:txBody>
      </p:sp>
      <p:sp>
        <p:nvSpPr>
          <p:cNvPr id="25" name="Text 23"/>
          <p:cNvSpPr/>
          <p:nvPr/>
        </p:nvSpPr>
        <p:spPr>
          <a:xfrm>
            <a:off x="905256" y="2478024"/>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WFC_User</a:t>
            </a:r>
            <a:endParaRPr lang="en-US" sz="700" dirty="0"/>
          </a:p>
        </p:txBody>
      </p:sp>
      <p:sp>
        <p:nvSpPr>
          <p:cNvPr id="26" name="Text 24"/>
          <p:cNvSpPr/>
          <p:nvPr/>
        </p:nvSpPr>
        <p:spPr>
          <a:xfrm>
            <a:off x="2185416" y="2478024"/>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Login who posted the comment</a:t>
            </a:r>
            <a:endParaRPr lang="en-US" sz="720" dirty="0"/>
          </a:p>
        </p:txBody>
      </p:sp>
      <p:sp>
        <p:nvSpPr>
          <p:cNvPr id="27" name="Shape 25"/>
          <p:cNvSpPr/>
          <p:nvPr/>
        </p:nvSpPr>
        <p:spPr>
          <a:xfrm>
            <a:off x="320040" y="2692908"/>
            <a:ext cx="3913632" cy="192024"/>
          </a:xfrm>
          <a:prstGeom prst="rect">
            <a:avLst/>
          </a:prstGeom>
          <a:solidFill>
            <a:srgbClr val="F8FAFC"/>
          </a:solidFill>
          <a:ln/>
        </p:spPr>
      </p:sp>
      <p:sp>
        <p:nvSpPr>
          <p:cNvPr id="28" name="Shape 26"/>
          <p:cNvSpPr/>
          <p:nvPr/>
        </p:nvSpPr>
        <p:spPr>
          <a:xfrm>
            <a:off x="320040" y="2692908"/>
            <a:ext cx="566928" cy="192024"/>
          </a:xfrm>
          <a:prstGeom prst="rect">
            <a:avLst/>
          </a:prstGeom>
          <a:solidFill>
            <a:srgbClr val="F0F4FF"/>
          </a:solidFill>
          <a:ln/>
        </p:spPr>
      </p:sp>
      <p:sp>
        <p:nvSpPr>
          <p:cNvPr id="29" name="Text 27"/>
          <p:cNvSpPr/>
          <p:nvPr/>
        </p:nvSpPr>
        <p:spPr>
          <a:xfrm>
            <a:off x="320040" y="2692908"/>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DATETIME</a:t>
            </a:r>
            <a:endParaRPr lang="en-US" sz="580" dirty="0"/>
          </a:p>
        </p:txBody>
      </p:sp>
      <p:sp>
        <p:nvSpPr>
          <p:cNvPr id="30" name="Text 28"/>
          <p:cNvSpPr/>
          <p:nvPr/>
        </p:nvSpPr>
        <p:spPr>
          <a:xfrm>
            <a:off x="905256" y="2692908"/>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WFC_Date</a:t>
            </a:r>
            <a:endParaRPr lang="en-US" sz="700" dirty="0"/>
          </a:p>
        </p:txBody>
      </p:sp>
      <p:sp>
        <p:nvSpPr>
          <p:cNvPr id="31" name="Text 29"/>
          <p:cNvSpPr/>
          <p:nvPr/>
        </p:nvSpPr>
        <p:spPr>
          <a:xfrm>
            <a:off x="2185416" y="2692908"/>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When the comment was posted</a:t>
            </a:r>
            <a:endParaRPr lang="en-US" sz="720" dirty="0"/>
          </a:p>
        </p:txBody>
      </p:sp>
      <p:sp>
        <p:nvSpPr>
          <p:cNvPr id="32" name="Shape 30"/>
          <p:cNvSpPr/>
          <p:nvPr/>
        </p:nvSpPr>
        <p:spPr>
          <a:xfrm>
            <a:off x="320040" y="2907792"/>
            <a:ext cx="3913632" cy="192024"/>
          </a:xfrm>
          <a:prstGeom prst="rect">
            <a:avLst/>
          </a:prstGeom>
          <a:solidFill>
            <a:srgbClr val="FFF0F0"/>
          </a:solidFill>
          <a:ln/>
        </p:spPr>
      </p:sp>
      <p:sp>
        <p:nvSpPr>
          <p:cNvPr id="33" name="Shape 31"/>
          <p:cNvSpPr/>
          <p:nvPr/>
        </p:nvSpPr>
        <p:spPr>
          <a:xfrm>
            <a:off x="320040" y="2907792"/>
            <a:ext cx="566928" cy="192024"/>
          </a:xfrm>
          <a:prstGeom prst="rect">
            <a:avLst/>
          </a:prstGeom>
          <a:solidFill>
            <a:srgbClr val="FFEBEE"/>
          </a:solidFill>
          <a:ln/>
        </p:spPr>
      </p:sp>
      <p:sp>
        <p:nvSpPr>
          <p:cNvPr id="34" name="Text 32"/>
          <p:cNvSpPr/>
          <p:nvPr/>
        </p:nvSpPr>
        <p:spPr>
          <a:xfrm>
            <a:off x="320040" y="2907792"/>
            <a:ext cx="566928" cy="19202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NVARCHAR(MAX)</a:t>
            </a:r>
            <a:endParaRPr lang="en-US" sz="580" dirty="0"/>
          </a:p>
        </p:txBody>
      </p:sp>
      <p:sp>
        <p:nvSpPr>
          <p:cNvPr id="35" name="Text 33"/>
          <p:cNvSpPr/>
          <p:nvPr/>
        </p:nvSpPr>
        <p:spPr>
          <a:xfrm>
            <a:off x="905256" y="2907792"/>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WFC_Content</a:t>
            </a:r>
            <a:endParaRPr lang="en-US" sz="700" dirty="0"/>
          </a:p>
        </p:txBody>
      </p:sp>
      <p:sp>
        <p:nvSpPr>
          <p:cNvPr id="36" name="Text 34"/>
          <p:cNvSpPr/>
          <p:nvPr/>
        </p:nvSpPr>
        <p:spPr>
          <a:xfrm>
            <a:off x="2185416" y="2907792"/>
            <a:ext cx="1993392" cy="19202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The comment text — may contain PII</a:t>
            </a:r>
            <a:endParaRPr lang="en-US" sz="720" dirty="0"/>
          </a:p>
        </p:txBody>
      </p:sp>
      <p:sp>
        <p:nvSpPr>
          <p:cNvPr id="37" name="Shape 35"/>
          <p:cNvSpPr/>
          <p:nvPr/>
        </p:nvSpPr>
        <p:spPr>
          <a:xfrm>
            <a:off x="320040" y="3122676"/>
            <a:ext cx="3913632" cy="192024"/>
          </a:xfrm>
          <a:prstGeom prst="rect">
            <a:avLst/>
          </a:prstGeom>
          <a:solidFill>
            <a:srgbClr val="F8FAFC"/>
          </a:solidFill>
          <a:ln/>
        </p:spPr>
      </p:sp>
      <p:sp>
        <p:nvSpPr>
          <p:cNvPr id="38" name="Shape 36"/>
          <p:cNvSpPr/>
          <p:nvPr/>
        </p:nvSpPr>
        <p:spPr>
          <a:xfrm>
            <a:off x="320040" y="3122676"/>
            <a:ext cx="566928" cy="192024"/>
          </a:xfrm>
          <a:prstGeom prst="rect">
            <a:avLst/>
          </a:prstGeom>
          <a:solidFill>
            <a:srgbClr val="F0F4FF"/>
          </a:solidFill>
          <a:ln/>
        </p:spPr>
      </p:sp>
      <p:sp>
        <p:nvSpPr>
          <p:cNvPr id="39" name="Text 37"/>
          <p:cNvSpPr/>
          <p:nvPr/>
        </p:nvSpPr>
        <p:spPr>
          <a:xfrm>
            <a:off x="320040" y="3122676"/>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a:t>
            </a:r>
            <a:endParaRPr lang="en-US" sz="580" dirty="0"/>
          </a:p>
        </p:txBody>
      </p:sp>
      <p:sp>
        <p:nvSpPr>
          <p:cNvPr id="40" name="Text 38"/>
          <p:cNvSpPr/>
          <p:nvPr/>
        </p:nvSpPr>
        <p:spPr>
          <a:xfrm>
            <a:off x="905256" y="312267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WFC_Type</a:t>
            </a:r>
            <a:endParaRPr lang="en-US" sz="700" dirty="0"/>
          </a:p>
        </p:txBody>
      </p:sp>
      <p:sp>
        <p:nvSpPr>
          <p:cNvPr id="41" name="Text 39"/>
          <p:cNvSpPr/>
          <p:nvPr/>
        </p:nvSpPr>
        <p:spPr>
          <a:xfrm>
            <a:off x="2185416" y="312267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System=0, Manual=1, Auto=2</a:t>
            </a:r>
            <a:endParaRPr lang="en-US" sz="720" dirty="0"/>
          </a:p>
        </p:txBody>
      </p:sp>
      <p:sp>
        <p:nvSpPr>
          <p:cNvPr id="42" name="Shape 40"/>
          <p:cNvSpPr/>
          <p:nvPr/>
        </p:nvSpPr>
        <p:spPr>
          <a:xfrm>
            <a:off x="4572000" y="1700784"/>
            <a:ext cx="4315968" cy="1737360"/>
          </a:xfrm>
          <a:prstGeom prst="rect">
            <a:avLst/>
          </a:prstGeom>
          <a:solidFill>
            <a:srgbClr val="FFFFFF"/>
          </a:solidFill>
          <a:ln/>
          <a:effectLst>
            <a:outerShdw blurRad="101600" dist="38100" dir="8100000" algn="bl" rotWithShape="0">
              <a:srgbClr val="000000">
                <a:alpha val="12000"/>
              </a:srgbClr>
            </a:outerShdw>
          </a:effectLst>
        </p:spPr>
      </p:sp>
      <p:sp>
        <p:nvSpPr>
          <p:cNvPr id="43" name="Shape 41"/>
          <p:cNvSpPr/>
          <p:nvPr/>
        </p:nvSpPr>
        <p:spPr>
          <a:xfrm>
            <a:off x="4572000" y="1700784"/>
            <a:ext cx="4315968" cy="292608"/>
          </a:xfrm>
          <a:prstGeom prst="rect">
            <a:avLst/>
          </a:prstGeom>
          <a:solidFill>
            <a:srgbClr val="FFF3E0"/>
          </a:solidFill>
          <a:ln/>
        </p:spPr>
      </p:sp>
      <p:sp>
        <p:nvSpPr>
          <p:cNvPr id="44" name="Text 42"/>
          <p:cNvSpPr/>
          <p:nvPr/>
        </p:nvSpPr>
        <p:spPr>
          <a:xfrm>
            <a:off x="4663440" y="1700784"/>
            <a:ext cx="4160520" cy="292608"/>
          </a:xfrm>
          <a:prstGeom prst="rect">
            <a:avLst/>
          </a:prstGeom>
          <a:noFill/>
          <a:ln/>
        </p:spPr>
        <p:txBody>
          <a:bodyPr wrap="square" rtlCol="0" anchor="ctr"/>
          <a:lstStyle/>
          <a:p>
            <a:pPr marL="0" indent="0">
              <a:buNone/>
            </a:pPr>
            <a:r>
              <a:rPr lang="en-US" sz="900" b="1" dirty="0">
                <a:solidFill>
                  <a:srgbClr val="E67E22"/>
                </a:solidFill>
                <a:latin typeface="Calibri" pitchFamily="34" charset="0"/>
                <a:ea typeface="Calibri" pitchFamily="34" charset="-122"/>
                <a:cs typeface="Calibri" pitchFamily="34" charset="-120"/>
              </a:rPr>
              <a:t>Real WFC_Content Values — Danger in Plain Text</a:t>
            </a:r>
            <a:endParaRPr lang="en-US" sz="900" dirty="0"/>
          </a:p>
        </p:txBody>
      </p:sp>
      <p:sp>
        <p:nvSpPr>
          <p:cNvPr id="45" name="Shape 43"/>
          <p:cNvSpPr/>
          <p:nvPr/>
        </p:nvSpPr>
        <p:spPr>
          <a:xfrm>
            <a:off x="4626864" y="2048256"/>
            <a:ext cx="4187952" cy="384048"/>
          </a:xfrm>
          <a:prstGeom prst="rect">
            <a:avLst/>
          </a:prstGeom>
          <a:solidFill>
            <a:srgbClr val="FFF0F0"/>
          </a:solidFill>
          <a:ln w="3810">
            <a:solidFill>
              <a:srgbClr val="DDDDDD"/>
            </a:solidFill>
            <a:prstDash val="solid"/>
          </a:ln>
        </p:spPr>
      </p:sp>
      <p:sp>
        <p:nvSpPr>
          <p:cNvPr id="46" name="Text 44"/>
          <p:cNvSpPr/>
          <p:nvPr/>
        </p:nvSpPr>
        <p:spPr>
          <a:xfrm>
            <a:off x="4663440" y="2057400"/>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m.janssen / HR Leave: Medical + Bank 🔴🔴</a:t>
            </a:r>
            <a:endParaRPr lang="en-US" sz="750" dirty="0"/>
          </a:p>
        </p:txBody>
      </p:sp>
      <p:sp>
        <p:nvSpPr>
          <p:cNvPr id="47" name="Text 45"/>
          <p:cNvSpPr/>
          <p:nvPr/>
        </p:nvSpPr>
        <p:spPr>
          <a:xfrm>
            <a:off x="4663440" y="2194560"/>
            <a:ext cx="4114800" cy="219456"/>
          </a:xfrm>
          <a:prstGeom prst="rect">
            <a:avLst/>
          </a:prstGeom>
          <a:noFill/>
          <a:ln/>
        </p:spPr>
        <p:txBody>
          <a:bodyPr wrap="square" rtlCol="0" anchor="ctr"/>
          <a:lstStyle/>
          <a:p>
            <a:pPr marL="0" indent="0">
              <a:buNone/>
            </a:pPr>
            <a:r>
              <a:rPr lang="en-US" sz="700" i="1" dirty="0">
                <a:solidFill>
                  <a:srgbClr val="1A1A2E"/>
                </a:solidFill>
                <a:latin typeface="Calibri" pitchFamily="34" charset="0"/>
                <a:ea typeface="Calibri" pitchFamily="34" charset="-122"/>
                <a:cs typeface="Calibri" pitchFamily="34" charset="-120"/>
              </a:rPr>
              <a:t>"Approved. Anna is undergoing hypertension treatment. Salary continuation applies. Bank: NL29 ABNA 0473."</a:t>
            </a:r>
            <a:endParaRPr lang="en-US" sz="700" dirty="0"/>
          </a:p>
        </p:txBody>
      </p:sp>
      <p:sp>
        <p:nvSpPr>
          <p:cNvPr id="48" name="Shape 46"/>
          <p:cNvSpPr/>
          <p:nvPr/>
        </p:nvSpPr>
        <p:spPr>
          <a:xfrm>
            <a:off x="4626864" y="2468880"/>
            <a:ext cx="4187952" cy="384048"/>
          </a:xfrm>
          <a:prstGeom prst="rect">
            <a:avLst/>
          </a:prstGeom>
          <a:solidFill>
            <a:srgbClr val="F0FFF4"/>
          </a:solidFill>
          <a:ln w="3810">
            <a:solidFill>
              <a:srgbClr val="DDDDDD"/>
            </a:solidFill>
            <a:prstDash val="solid"/>
          </a:ln>
        </p:spPr>
      </p:sp>
      <p:sp>
        <p:nvSpPr>
          <p:cNvPr id="49" name="Text 47"/>
          <p:cNvSpPr/>
          <p:nvPr/>
        </p:nvSpPr>
        <p:spPr>
          <a:xfrm>
            <a:off x="4663440" y="2478024"/>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b.kumar / IT Helpdesk: Safe 🟢</a:t>
            </a:r>
            <a:endParaRPr lang="en-US" sz="750" dirty="0"/>
          </a:p>
        </p:txBody>
      </p:sp>
      <p:sp>
        <p:nvSpPr>
          <p:cNvPr id="50" name="Text 48"/>
          <p:cNvSpPr/>
          <p:nvPr/>
        </p:nvSpPr>
        <p:spPr>
          <a:xfrm>
            <a:off x="4663440" y="2615184"/>
            <a:ext cx="4114800" cy="219456"/>
          </a:xfrm>
          <a:prstGeom prst="rect">
            <a:avLst/>
          </a:prstGeom>
          <a:noFill/>
          <a:ln/>
        </p:spPr>
        <p:txBody>
          <a:bodyPr wrap="square" rtlCol="0" anchor="ctr"/>
          <a:lstStyle/>
          <a:p>
            <a:pPr marL="0" indent="0">
              <a:buNone/>
            </a:pPr>
            <a:r>
              <a:rPr lang="en-US" sz="700" i="1" dirty="0">
                <a:solidFill>
                  <a:srgbClr val="1A1A2E"/>
                </a:solidFill>
                <a:latin typeface="Calibri" pitchFamily="34" charset="0"/>
                <a:ea typeface="Calibri" pitchFamily="34" charset="-122"/>
                <a:cs typeface="Calibri" pitchFamily="34" charset="-120"/>
              </a:rPr>
              <a:t>"Ticket reassigned to server team. Low priority. No personal data involved."</a:t>
            </a:r>
            <a:endParaRPr lang="en-US" sz="700" dirty="0"/>
          </a:p>
        </p:txBody>
      </p:sp>
      <p:sp>
        <p:nvSpPr>
          <p:cNvPr id="51" name="Shape 49"/>
          <p:cNvSpPr/>
          <p:nvPr/>
        </p:nvSpPr>
        <p:spPr>
          <a:xfrm>
            <a:off x="4626864" y="2889504"/>
            <a:ext cx="4187952" cy="384048"/>
          </a:xfrm>
          <a:prstGeom prst="rect">
            <a:avLst/>
          </a:prstGeom>
          <a:solidFill>
            <a:srgbClr val="FFF0F0"/>
          </a:solidFill>
          <a:ln w="3810">
            <a:solidFill>
              <a:srgbClr val="DDDDDD"/>
            </a:solidFill>
            <a:prstDash val="solid"/>
          </a:ln>
        </p:spPr>
      </p:sp>
      <p:sp>
        <p:nvSpPr>
          <p:cNvPr id="52" name="Text 50"/>
          <p:cNvSpPr/>
          <p:nvPr/>
        </p:nvSpPr>
        <p:spPr>
          <a:xfrm>
            <a:off x="4663440" y="2898648"/>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workflow / Payroll: Salary + Tax 🔴🔴</a:t>
            </a:r>
            <a:endParaRPr lang="en-US" sz="750" dirty="0"/>
          </a:p>
        </p:txBody>
      </p:sp>
      <p:sp>
        <p:nvSpPr>
          <p:cNvPr id="53" name="Text 51"/>
          <p:cNvSpPr/>
          <p:nvPr/>
        </p:nvSpPr>
        <p:spPr>
          <a:xfrm>
            <a:off x="4663440" y="3035808"/>
            <a:ext cx="4114800" cy="219456"/>
          </a:xfrm>
          <a:prstGeom prst="rect">
            <a:avLst/>
          </a:prstGeom>
          <a:noFill/>
          <a:ln/>
        </p:spPr>
        <p:txBody>
          <a:bodyPr wrap="square" rtlCol="0" anchor="ctr"/>
          <a:lstStyle/>
          <a:p>
            <a:pPr marL="0" indent="0">
              <a:buNone/>
            </a:pPr>
            <a:r>
              <a:rPr lang="en-US" sz="700" i="1" dirty="0">
                <a:solidFill>
                  <a:srgbClr val="1A1A2E"/>
                </a:solidFill>
                <a:latin typeface="Calibri" pitchFamily="34" charset="0"/>
                <a:ea typeface="Calibri" pitchFamily="34" charset="-122"/>
                <a:cs typeface="Calibri" pitchFamily="34" charset="-120"/>
              </a:rPr>
              <a:t>"Auto-approved: net salary EUR 85,000, tax band C, NL resident, IBAN confirmed."</a:t>
            </a:r>
            <a:endParaRPr lang="en-US" sz="700" dirty="0"/>
          </a:p>
        </p:txBody>
      </p:sp>
      <p:sp>
        <p:nvSpPr>
          <p:cNvPr id="54" name="Text 52"/>
          <p:cNvSpPr/>
          <p:nvPr/>
        </p:nvSpPr>
        <p:spPr>
          <a:xfrm>
            <a:off x="320040" y="3520440"/>
            <a:ext cx="8503920" cy="256032"/>
          </a:xfrm>
          <a:prstGeom prst="rect">
            <a:avLst/>
          </a:prstGeom>
          <a:noFill/>
          <a:ln/>
        </p:spPr>
        <p:txBody>
          <a:bodyPr wrap="square" rtlCol="0" anchor="ctr"/>
          <a:lstStyle/>
          <a:p>
            <a:pPr marL="0" indent="0">
              <a:buNone/>
            </a:pPr>
            <a:r>
              <a:rPr lang="en-US" sz="1050" b="1" dirty="0">
                <a:solidFill>
                  <a:srgbClr val="1A1A2E"/>
                </a:solidFill>
                <a:latin typeface="Calibri" pitchFamily="34" charset="0"/>
                <a:ea typeface="Calibri" pitchFamily="34" charset="-122"/>
                <a:cs typeface="Calibri" pitchFamily="34" charset="-120"/>
              </a:rPr>
              <a:t>Three Controls Required — in Combination</a:t>
            </a:r>
            <a:endParaRPr lang="en-US" sz="1050" dirty="0"/>
          </a:p>
        </p:txBody>
      </p:sp>
      <p:sp>
        <p:nvSpPr>
          <p:cNvPr id="55" name="Shape 53"/>
          <p:cNvSpPr/>
          <p:nvPr/>
        </p:nvSpPr>
        <p:spPr>
          <a:xfrm>
            <a:off x="274320" y="3822192"/>
            <a:ext cx="2852928" cy="987552"/>
          </a:xfrm>
          <a:prstGeom prst="rect">
            <a:avLst/>
          </a:prstGeom>
          <a:solidFill>
            <a:srgbClr val="FFFFFF"/>
          </a:solidFill>
          <a:ln/>
          <a:effectLst>
            <a:outerShdw blurRad="101600" dist="38100" dir="8100000" algn="bl" rotWithShape="0">
              <a:srgbClr val="000000">
                <a:alpha val="12000"/>
              </a:srgbClr>
            </a:outerShdw>
          </a:effectLst>
        </p:spPr>
      </p:sp>
      <p:sp>
        <p:nvSpPr>
          <p:cNvPr id="56" name="Shape 54"/>
          <p:cNvSpPr/>
          <p:nvPr/>
        </p:nvSpPr>
        <p:spPr>
          <a:xfrm>
            <a:off x="274320" y="3822192"/>
            <a:ext cx="2852928" cy="256032"/>
          </a:xfrm>
          <a:prstGeom prst="rect">
            <a:avLst/>
          </a:prstGeom>
          <a:solidFill>
            <a:srgbClr val="EDE7F6"/>
          </a:solidFill>
          <a:ln/>
        </p:spPr>
      </p:sp>
      <p:sp>
        <p:nvSpPr>
          <p:cNvPr id="57" name="Shape 55"/>
          <p:cNvSpPr/>
          <p:nvPr/>
        </p:nvSpPr>
        <p:spPr>
          <a:xfrm>
            <a:off x="274320" y="3822192"/>
            <a:ext cx="274320" cy="987552"/>
          </a:xfrm>
          <a:prstGeom prst="rect">
            <a:avLst/>
          </a:prstGeom>
          <a:solidFill>
            <a:srgbClr val="4A235A"/>
          </a:solidFill>
          <a:ln/>
        </p:spPr>
      </p:sp>
      <p:sp>
        <p:nvSpPr>
          <p:cNvPr id="58" name="Text 56"/>
          <p:cNvSpPr/>
          <p:nvPr/>
        </p:nvSpPr>
        <p:spPr>
          <a:xfrm>
            <a:off x="274320" y="3822192"/>
            <a:ext cx="274320" cy="9875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9" name="Text 57"/>
          <p:cNvSpPr/>
          <p:nvPr/>
        </p:nvSpPr>
        <p:spPr>
          <a:xfrm>
            <a:off x="621792" y="3849624"/>
            <a:ext cx="2450592" cy="219456"/>
          </a:xfrm>
          <a:prstGeom prst="rect">
            <a:avLst/>
          </a:prstGeom>
          <a:noFill/>
          <a:ln/>
        </p:spPr>
        <p:txBody>
          <a:bodyPr wrap="square" rtlCol="0" anchor="ctr"/>
          <a:lstStyle/>
          <a:p>
            <a:pPr marL="0" indent="0">
              <a:buNone/>
            </a:pPr>
            <a:r>
              <a:rPr lang="en-US" sz="850" b="1" dirty="0">
                <a:solidFill>
                  <a:srgbClr val="4A235A"/>
                </a:solidFill>
                <a:latin typeface="Calibri" pitchFamily="34" charset="0"/>
                <a:ea typeface="Calibri" pitchFamily="34" charset="-122"/>
                <a:cs typeface="Calibri" pitchFamily="34" charset="-120"/>
              </a:rPr>
              <a:t>Chained RLS via WFC_WFDID</a:t>
            </a:r>
            <a:endParaRPr lang="en-US" sz="850" dirty="0"/>
          </a:p>
        </p:txBody>
      </p:sp>
      <p:sp>
        <p:nvSpPr>
          <p:cNvPr id="60" name="Text 58"/>
          <p:cNvSpPr/>
          <p:nvPr/>
        </p:nvSpPr>
        <p:spPr>
          <a:xfrm>
            <a:off x="621792" y="4096512"/>
            <a:ext cx="2450592" cy="65836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Access policy checks parent WFD_WFDID visibility in WFElements. HR comment rows are absent for Non-EEA logins — WFC_Content never reaches the query result.</a:t>
            </a:r>
            <a:endParaRPr lang="en-US" sz="750" dirty="0"/>
          </a:p>
        </p:txBody>
      </p:sp>
      <p:sp>
        <p:nvSpPr>
          <p:cNvPr id="61" name="Shape 59"/>
          <p:cNvSpPr/>
          <p:nvPr/>
        </p:nvSpPr>
        <p:spPr>
          <a:xfrm>
            <a:off x="3255264" y="3822192"/>
            <a:ext cx="2852928" cy="987552"/>
          </a:xfrm>
          <a:prstGeom prst="rect">
            <a:avLst/>
          </a:prstGeom>
          <a:solidFill>
            <a:srgbClr val="FFFFFF"/>
          </a:solidFill>
          <a:ln/>
          <a:effectLst>
            <a:outerShdw blurRad="101600" dist="38100" dir="8100000" algn="bl" rotWithShape="0">
              <a:srgbClr val="000000">
                <a:alpha val="12000"/>
              </a:srgbClr>
            </a:outerShdw>
          </a:effectLst>
        </p:spPr>
      </p:sp>
      <p:sp>
        <p:nvSpPr>
          <p:cNvPr id="62" name="Shape 60"/>
          <p:cNvSpPr/>
          <p:nvPr/>
        </p:nvSpPr>
        <p:spPr>
          <a:xfrm>
            <a:off x="3255264" y="3822192"/>
            <a:ext cx="2852928" cy="256032"/>
          </a:xfrm>
          <a:prstGeom prst="rect">
            <a:avLst/>
          </a:prstGeom>
          <a:solidFill>
            <a:srgbClr val="FFEBEE"/>
          </a:solidFill>
          <a:ln/>
        </p:spPr>
      </p:sp>
      <p:sp>
        <p:nvSpPr>
          <p:cNvPr id="63" name="Shape 61"/>
          <p:cNvSpPr/>
          <p:nvPr/>
        </p:nvSpPr>
        <p:spPr>
          <a:xfrm>
            <a:off x="3255264" y="3822192"/>
            <a:ext cx="274320" cy="987552"/>
          </a:xfrm>
          <a:prstGeom prst="rect">
            <a:avLst/>
          </a:prstGeom>
          <a:solidFill>
            <a:srgbClr val="C0392B"/>
          </a:solidFill>
          <a:ln/>
        </p:spPr>
      </p:sp>
      <p:sp>
        <p:nvSpPr>
          <p:cNvPr id="64" name="Text 62"/>
          <p:cNvSpPr/>
          <p:nvPr/>
        </p:nvSpPr>
        <p:spPr>
          <a:xfrm>
            <a:off x="3255264" y="3822192"/>
            <a:ext cx="274320" cy="9875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65" name="Text 63"/>
          <p:cNvSpPr/>
          <p:nvPr/>
        </p:nvSpPr>
        <p:spPr>
          <a:xfrm>
            <a:off x="3602736" y="3849624"/>
            <a:ext cx="2450592" cy="219456"/>
          </a:xfrm>
          <a:prstGeom prst="rect">
            <a:avLst/>
          </a:prstGeom>
          <a:noFill/>
          <a:ln/>
        </p:spPr>
        <p:txBody>
          <a:bodyPr wrap="square" rtlCol="0" anchor="ctr"/>
          <a:lstStyle/>
          <a:p>
            <a:pPr marL="0" indent="0">
              <a:buNone/>
            </a:pPr>
            <a:r>
              <a:rPr lang="en-US" sz="850" b="1" dirty="0">
                <a:solidFill>
                  <a:srgbClr val="C0392B"/>
                </a:solidFill>
                <a:latin typeface="Calibri" pitchFamily="34" charset="0"/>
                <a:ea typeface="Calibri" pitchFamily="34" charset="-122"/>
                <a:cs typeface="Calibri" pitchFamily="34" charset="-120"/>
              </a:rPr>
              <a:t>DDM on WFC_Content → xxxx</a:t>
            </a:r>
            <a:endParaRPr lang="en-US" sz="850" dirty="0"/>
          </a:p>
        </p:txBody>
      </p:sp>
      <p:sp>
        <p:nvSpPr>
          <p:cNvPr id="66" name="Text 64"/>
          <p:cNvSpPr/>
          <p:nvPr/>
        </p:nvSpPr>
        <p:spPr>
          <a:xfrm>
            <a:off x="3602736" y="4096512"/>
            <a:ext cx="2450592" cy="65836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Even if a row somehow passes RLS, DDM masks WFC_Content entirely as xxxx. Non-EEA users see the comment exists but cannot read it. WFC_User and WFC_Date remain visible for audit.</a:t>
            </a:r>
            <a:endParaRPr lang="en-US" sz="750" dirty="0"/>
          </a:p>
        </p:txBody>
      </p:sp>
      <p:sp>
        <p:nvSpPr>
          <p:cNvPr id="67" name="Shape 65"/>
          <p:cNvSpPr/>
          <p:nvPr/>
        </p:nvSpPr>
        <p:spPr>
          <a:xfrm>
            <a:off x="6236208" y="3822192"/>
            <a:ext cx="2852928" cy="987552"/>
          </a:xfrm>
          <a:prstGeom prst="rect">
            <a:avLst/>
          </a:prstGeom>
          <a:solidFill>
            <a:srgbClr val="FFFFFF"/>
          </a:solidFill>
          <a:ln/>
          <a:effectLst>
            <a:outerShdw blurRad="101600" dist="38100" dir="8100000" algn="bl" rotWithShape="0">
              <a:srgbClr val="000000">
                <a:alpha val="12000"/>
              </a:srgbClr>
            </a:outerShdw>
          </a:effectLst>
        </p:spPr>
      </p:sp>
      <p:sp>
        <p:nvSpPr>
          <p:cNvPr id="68" name="Shape 66"/>
          <p:cNvSpPr/>
          <p:nvPr/>
        </p:nvSpPr>
        <p:spPr>
          <a:xfrm>
            <a:off x="6236208" y="3822192"/>
            <a:ext cx="2852928" cy="256032"/>
          </a:xfrm>
          <a:prstGeom prst="rect">
            <a:avLst/>
          </a:prstGeom>
          <a:solidFill>
            <a:srgbClr val="FFF3E0"/>
          </a:solidFill>
          <a:ln/>
        </p:spPr>
      </p:sp>
      <p:sp>
        <p:nvSpPr>
          <p:cNvPr id="69" name="Shape 67"/>
          <p:cNvSpPr/>
          <p:nvPr/>
        </p:nvSpPr>
        <p:spPr>
          <a:xfrm>
            <a:off x="6236208" y="3822192"/>
            <a:ext cx="274320" cy="987552"/>
          </a:xfrm>
          <a:prstGeom prst="rect">
            <a:avLst/>
          </a:prstGeom>
          <a:solidFill>
            <a:srgbClr val="E67E22"/>
          </a:solidFill>
          <a:ln/>
        </p:spPr>
      </p:sp>
      <p:sp>
        <p:nvSpPr>
          <p:cNvPr id="70" name="Text 68"/>
          <p:cNvSpPr/>
          <p:nvPr/>
        </p:nvSpPr>
        <p:spPr>
          <a:xfrm>
            <a:off x="6236208" y="3822192"/>
            <a:ext cx="274320" cy="9875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1" name="Text 69"/>
          <p:cNvSpPr/>
          <p:nvPr/>
        </p:nvSpPr>
        <p:spPr>
          <a:xfrm>
            <a:off x="6583680" y="3849624"/>
            <a:ext cx="2450592" cy="219456"/>
          </a:xfrm>
          <a:prstGeom prst="rect">
            <a:avLst/>
          </a:prstGeom>
          <a:noFill/>
          <a:ln/>
        </p:spPr>
        <p:txBody>
          <a:bodyPr wrap="square" rtlCol="0" anchor="ctr"/>
          <a:lstStyle/>
          <a:p>
            <a:pPr marL="0" indent="0">
              <a:buNone/>
            </a:pPr>
            <a:r>
              <a:rPr lang="en-US" sz="850" b="1" dirty="0">
                <a:solidFill>
                  <a:srgbClr val="E67E22"/>
                </a:solidFill>
                <a:latin typeface="Calibri" pitchFamily="34" charset="0"/>
                <a:ea typeface="Calibri" pitchFamily="34" charset="-122"/>
                <a:cs typeface="Calibri" pitchFamily="34" charset="-120"/>
              </a:rPr>
              <a:t>Process Control — Manager Training</a:t>
            </a:r>
            <a:endParaRPr lang="en-US" sz="850" dirty="0"/>
          </a:p>
        </p:txBody>
      </p:sp>
      <p:sp>
        <p:nvSpPr>
          <p:cNvPr id="72" name="Text 70"/>
          <p:cNvSpPr/>
          <p:nvPr/>
        </p:nvSpPr>
        <p:spPr>
          <a:xfrm>
            <a:off x="6583680" y="4096512"/>
            <a:ext cx="2450592" cy="65836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Technical controls cannot prevent a manager from typing PII into a comment on a non-sensitive IT process. Training must cover: no PII in comments on any process, regardless of sensitivity tier.</a:t>
            </a:r>
            <a:endParaRPr lang="en-US" sz="750" dirty="0"/>
          </a:p>
        </p:txBody>
      </p:sp>
      <p:sp>
        <p:nvSpPr>
          <p:cNvPr id="73" name="Shape 71"/>
          <p:cNvSpPr/>
          <p:nvPr/>
        </p:nvSpPr>
        <p:spPr>
          <a:xfrm>
            <a:off x="0" y="4828032"/>
            <a:ext cx="9144000" cy="315468"/>
          </a:xfrm>
          <a:prstGeom prst="rect">
            <a:avLst/>
          </a:prstGeom>
          <a:solidFill>
            <a:srgbClr val="009B9E"/>
          </a:solidFill>
          <a:ln/>
        </p:spPr>
      </p:sp>
      <p:sp>
        <p:nvSpPr>
          <p:cNvPr id="74" name="Shape 72"/>
          <p:cNvSpPr/>
          <p:nvPr/>
        </p:nvSpPr>
        <p:spPr>
          <a:xfrm>
            <a:off x="502920" y="4919472"/>
            <a:ext cx="18288" cy="128016"/>
          </a:xfrm>
          <a:prstGeom prst="rect">
            <a:avLst/>
          </a:prstGeom>
          <a:solidFill>
            <a:srgbClr val="FFFFFF"/>
          </a:solidFill>
          <a:ln/>
        </p:spPr>
      </p:sp>
      <p:sp>
        <p:nvSpPr>
          <p:cNvPr id="75" name="Text 73"/>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76" name="Text 74"/>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007A7D"/>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WFFiles &amp; WFFilesContent  —  TABLE STRUCTURE &amp; COLUMN ARCHITECTURE</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Binary Attachment Tables — Two-Table Design for Metadata + Content</a:t>
            </a:r>
            <a:endParaRPr lang="en-US" sz="1500" dirty="0"/>
          </a:p>
        </p:txBody>
      </p:sp>
      <p:sp>
        <p:nvSpPr>
          <p:cNvPr id="6" name="Shape 4"/>
          <p:cNvSpPr/>
          <p:nvPr/>
        </p:nvSpPr>
        <p:spPr>
          <a:xfrm>
            <a:off x="274320" y="1170432"/>
            <a:ext cx="8595360" cy="457200"/>
          </a:xfrm>
          <a:prstGeom prst="rect">
            <a:avLst/>
          </a:prstGeom>
          <a:solidFill>
            <a:srgbClr val="FCE4EC"/>
          </a:solidFill>
          <a:ln w="10160">
            <a:solidFill>
              <a:srgbClr val="880E4F"/>
            </a:solidFill>
            <a:prstDash val="solid"/>
          </a:ln>
        </p:spPr>
      </p:sp>
      <p:sp>
        <p:nvSpPr>
          <p:cNvPr id="7" name="Shape 5"/>
          <p:cNvSpPr/>
          <p:nvPr/>
        </p:nvSpPr>
        <p:spPr>
          <a:xfrm>
            <a:off x="274320" y="1170432"/>
            <a:ext cx="91440" cy="457200"/>
          </a:xfrm>
          <a:prstGeom prst="rect">
            <a:avLst/>
          </a:prstGeom>
          <a:solidFill>
            <a:srgbClr val="007A7D"/>
          </a:solidFill>
          <a:ln/>
        </p:spPr>
      </p:sp>
      <p:sp>
        <p:nvSpPr>
          <p:cNvPr id="8" name="Text 6"/>
          <p:cNvSpPr/>
          <p:nvPr/>
        </p:nvSpPr>
        <p:spPr>
          <a:xfrm>
            <a:off x="457200" y="1197864"/>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How it works: WEBCON splits file attachments across two tables. WFFiles holds the metadata (filename, size, MIME type, uploader) and WFFilesContent holds the actual binary file bytes as a varbinary(MAX) BLOB. The filename alone — e.g. Anna_Schmidt_Medical_Certificate_April2026.pdf — reveals identity and implies a medical condition, even without reading the binary content.</a:t>
            </a:r>
            <a:endParaRPr lang="en-US" sz="950" dirty="0"/>
          </a:p>
        </p:txBody>
      </p:sp>
      <p:sp>
        <p:nvSpPr>
          <p:cNvPr id="9" name="Shape 7"/>
          <p:cNvSpPr/>
          <p:nvPr/>
        </p:nvSpPr>
        <p:spPr>
          <a:xfrm>
            <a:off x="274320" y="1700784"/>
            <a:ext cx="4023360" cy="187452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00784"/>
            <a:ext cx="4023360" cy="292608"/>
          </a:xfrm>
          <a:prstGeom prst="rect">
            <a:avLst/>
          </a:prstGeom>
          <a:solidFill>
            <a:srgbClr val="FCE4EC"/>
          </a:solidFill>
          <a:ln/>
        </p:spPr>
      </p:sp>
      <p:sp>
        <p:nvSpPr>
          <p:cNvPr id="11" name="Text 9"/>
          <p:cNvSpPr/>
          <p:nvPr/>
        </p:nvSpPr>
        <p:spPr>
          <a:xfrm>
            <a:off x="365760" y="1700784"/>
            <a:ext cx="3886200" cy="292608"/>
          </a:xfrm>
          <a:prstGeom prst="rect">
            <a:avLst/>
          </a:prstGeom>
          <a:noFill/>
          <a:ln/>
        </p:spPr>
        <p:txBody>
          <a:bodyPr wrap="square" rtlCol="0" anchor="ctr"/>
          <a:lstStyle/>
          <a:p>
            <a:pPr marL="0" indent="0">
              <a:buNone/>
            </a:pPr>
            <a:r>
              <a:rPr lang="en-US" sz="900" b="1" dirty="0">
                <a:solidFill>
                  <a:srgbClr val="880E4F"/>
                </a:solidFill>
                <a:latin typeface="Calibri" pitchFamily="34" charset="0"/>
                <a:ea typeface="Calibri" pitchFamily="34" charset="-122"/>
                <a:cs typeface="Calibri" pitchFamily="34" charset="-120"/>
              </a:rPr>
              <a:t>WFFiles — Metadata Table</a:t>
            </a:r>
            <a:endParaRPr lang="en-US" sz="900" dirty="0"/>
          </a:p>
        </p:txBody>
      </p:sp>
      <p:sp>
        <p:nvSpPr>
          <p:cNvPr id="12" name="Shape 10"/>
          <p:cNvSpPr/>
          <p:nvPr/>
        </p:nvSpPr>
        <p:spPr>
          <a:xfrm>
            <a:off x="320040" y="2048256"/>
            <a:ext cx="3913632" cy="192024"/>
          </a:xfrm>
          <a:prstGeom prst="rect">
            <a:avLst/>
          </a:prstGeom>
          <a:solidFill>
            <a:srgbClr val="FFFFFF"/>
          </a:solidFill>
          <a:ln/>
        </p:spPr>
      </p:sp>
      <p:sp>
        <p:nvSpPr>
          <p:cNvPr id="13" name="Shape 11"/>
          <p:cNvSpPr/>
          <p:nvPr/>
        </p:nvSpPr>
        <p:spPr>
          <a:xfrm>
            <a:off x="320040" y="2048256"/>
            <a:ext cx="566928" cy="192024"/>
          </a:xfrm>
          <a:prstGeom prst="rect">
            <a:avLst/>
          </a:prstGeom>
          <a:solidFill>
            <a:srgbClr val="F0F4FF"/>
          </a:solidFill>
          <a:ln/>
        </p:spPr>
      </p:sp>
      <p:sp>
        <p:nvSpPr>
          <p:cNvPr id="14" name="Text 12"/>
          <p:cNvSpPr/>
          <p:nvPr/>
        </p:nvSpPr>
        <p:spPr>
          <a:xfrm>
            <a:off x="320040" y="2048256"/>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PK</a:t>
            </a:r>
            <a:endParaRPr lang="en-US" sz="580" dirty="0"/>
          </a:p>
        </p:txBody>
      </p:sp>
      <p:sp>
        <p:nvSpPr>
          <p:cNvPr id="15" name="Text 13"/>
          <p:cNvSpPr/>
          <p:nvPr/>
        </p:nvSpPr>
        <p:spPr>
          <a:xfrm>
            <a:off x="905256" y="204825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WFF_ID</a:t>
            </a:r>
            <a:endParaRPr lang="en-US" sz="700" dirty="0"/>
          </a:p>
        </p:txBody>
      </p:sp>
      <p:sp>
        <p:nvSpPr>
          <p:cNvPr id="16" name="Text 14"/>
          <p:cNvSpPr/>
          <p:nvPr/>
        </p:nvSpPr>
        <p:spPr>
          <a:xfrm>
            <a:off x="2185416" y="204825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Unique file record ID</a:t>
            </a:r>
            <a:endParaRPr lang="en-US" sz="720" dirty="0"/>
          </a:p>
        </p:txBody>
      </p:sp>
      <p:sp>
        <p:nvSpPr>
          <p:cNvPr id="17" name="Shape 15"/>
          <p:cNvSpPr/>
          <p:nvPr/>
        </p:nvSpPr>
        <p:spPr>
          <a:xfrm>
            <a:off x="320040" y="2267712"/>
            <a:ext cx="3913632" cy="192024"/>
          </a:xfrm>
          <a:prstGeom prst="rect">
            <a:avLst/>
          </a:prstGeom>
          <a:solidFill>
            <a:srgbClr val="F8FAFC"/>
          </a:solidFill>
          <a:ln/>
        </p:spPr>
      </p:sp>
      <p:sp>
        <p:nvSpPr>
          <p:cNvPr id="18" name="Shape 16"/>
          <p:cNvSpPr/>
          <p:nvPr/>
        </p:nvSpPr>
        <p:spPr>
          <a:xfrm>
            <a:off x="320040" y="2267712"/>
            <a:ext cx="566928" cy="192024"/>
          </a:xfrm>
          <a:prstGeom prst="rect">
            <a:avLst/>
          </a:prstGeom>
          <a:solidFill>
            <a:srgbClr val="F0F4FF"/>
          </a:solidFill>
          <a:ln/>
        </p:spPr>
      </p:sp>
      <p:sp>
        <p:nvSpPr>
          <p:cNvPr id="19" name="Text 17"/>
          <p:cNvSpPr/>
          <p:nvPr/>
        </p:nvSpPr>
        <p:spPr>
          <a:xfrm>
            <a:off x="320040" y="2267712"/>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FK</a:t>
            </a:r>
            <a:endParaRPr lang="en-US" sz="580" dirty="0"/>
          </a:p>
        </p:txBody>
      </p:sp>
      <p:sp>
        <p:nvSpPr>
          <p:cNvPr id="20" name="Text 18"/>
          <p:cNvSpPr/>
          <p:nvPr/>
        </p:nvSpPr>
        <p:spPr>
          <a:xfrm>
            <a:off x="905256" y="2267712"/>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WFF_WFDID</a:t>
            </a:r>
            <a:endParaRPr lang="en-US" sz="700" dirty="0"/>
          </a:p>
        </p:txBody>
      </p:sp>
      <p:sp>
        <p:nvSpPr>
          <p:cNvPr id="21" name="Text 19"/>
          <p:cNvSpPr/>
          <p:nvPr/>
        </p:nvSpPr>
        <p:spPr>
          <a:xfrm>
            <a:off x="2185416" y="2267712"/>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Parent WFElements.WFD_ID</a:t>
            </a:r>
            <a:endParaRPr lang="en-US" sz="720" dirty="0"/>
          </a:p>
        </p:txBody>
      </p:sp>
      <p:sp>
        <p:nvSpPr>
          <p:cNvPr id="22" name="Shape 20"/>
          <p:cNvSpPr/>
          <p:nvPr/>
        </p:nvSpPr>
        <p:spPr>
          <a:xfrm>
            <a:off x="320040" y="2487168"/>
            <a:ext cx="3913632" cy="192024"/>
          </a:xfrm>
          <a:prstGeom prst="rect">
            <a:avLst/>
          </a:prstGeom>
          <a:solidFill>
            <a:srgbClr val="FFF0F0"/>
          </a:solidFill>
          <a:ln/>
        </p:spPr>
      </p:sp>
      <p:sp>
        <p:nvSpPr>
          <p:cNvPr id="23" name="Shape 21"/>
          <p:cNvSpPr/>
          <p:nvPr/>
        </p:nvSpPr>
        <p:spPr>
          <a:xfrm>
            <a:off x="320040" y="2487168"/>
            <a:ext cx="566928" cy="192024"/>
          </a:xfrm>
          <a:prstGeom prst="rect">
            <a:avLst/>
          </a:prstGeom>
          <a:solidFill>
            <a:srgbClr val="FFEBEE"/>
          </a:solidFill>
          <a:ln/>
        </p:spPr>
      </p:sp>
      <p:sp>
        <p:nvSpPr>
          <p:cNvPr id="24" name="Text 22"/>
          <p:cNvSpPr/>
          <p:nvPr/>
        </p:nvSpPr>
        <p:spPr>
          <a:xfrm>
            <a:off x="320040" y="2487168"/>
            <a:ext cx="566928" cy="19202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NVARCHAR(255)</a:t>
            </a:r>
            <a:endParaRPr lang="en-US" sz="580" dirty="0"/>
          </a:p>
        </p:txBody>
      </p:sp>
      <p:sp>
        <p:nvSpPr>
          <p:cNvPr id="25" name="Text 23"/>
          <p:cNvSpPr/>
          <p:nvPr/>
        </p:nvSpPr>
        <p:spPr>
          <a:xfrm>
            <a:off x="905256" y="2487168"/>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WFF_FileName</a:t>
            </a:r>
            <a:endParaRPr lang="en-US" sz="700" dirty="0"/>
          </a:p>
        </p:txBody>
      </p:sp>
      <p:sp>
        <p:nvSpPr>
          <p:cNvPr id="26" name="Text 24"/>
          <p:cNvSpPr/>
          <p:nvPr/>
        </p:nvSpPr>
        <p:spPr>
          <a:xfrm>
            <a:off x="2185416" y="2487168"/>
            <a:ext cx="1993392" cy="19202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File name — may reveal identity 🔴</a:t>
            </a:r>
            <a:endParaRPr lang="en-US" sz="720" dirty="0"/>
          </a:p>
        </p:txBody>
      </p:sp>
      <p:sp>
        <p:nvSpPr>
          <p:cNvPr id="27" name="Shape 25"/>
          <p:cNvSpPr/>
          <p:nvPr/>
        </p:nvSpPr>
        <p:spPr>
          <a:xfrm>
            <a:off x="320040" y="2706624"/>
            <a:ext cx="3913632" cy="192024"/>
          </a:xfrm>
          <a:prstGeom prst="rect">
            <a:avLst/>
          </a:prstGeom>
          <a:solidFill>
            <a:srgbClr val="F8FAFC"/>
          </a:solidFill>
          <a:ln/>
        </p:spPr>
      </p:sp>
      <p:sp>
        <p:nvSpPr>
          <p:cNvPr id="28" name="Shape 26"/>
          <p:cNvSpPr/>
          <p:nvPr/>
        </p:nvSpPr>
        <p:spPr>
          <a:xfrm>
            <a:off x="320040" y="2706624"/>
            <a:ext cx="566928" cy="192024"/>
          </a:xfrm>
          <a:prstGeom prst="rect">
            <a:avLst/>
          </a:prstGeom>
          <a:solidFill>
            <a:srgbClr val="F0F4FF"/>
          </a:solidFill>
          <a:ln/>
        </p:spPr>
      </p:sp>
      <p:sp>
        <p:nvSpPr>
          <p:cNvPr id="29" name="Text 27"/>
          <p:cNvSpPr/>
          <p:nvPr/>
        </p:nvSpPr>
        <p:spPr>
          <a:xfrm>
            <a:off x="320040" y="2706624"/>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BIGINT</a:t>
            </a:r>
            <a:endParaRPr lang="en-US" sz="580" dirty="0"/>
          </a:p>
        </p:txBody>
      </p:sp>
      <p:sp>
        <p:nvSpPr>
          <p:cNvPr id="30" name="Text 28"/>
          <p:cNvSpPr/>
          <p:nvPr/>
        </p:nvSpPr>
        <p:spPr>
          <a:xfrm>
            <a:off x="905256" y="2706624"/>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WFF_FileSize</a:t>
            </a:r>
            <a:endParaRPr lang="en-US" sz="700" dirty="0"/>
          </a:p>
        </p:txBody>
      </p:sp>
      <p:sp>
        <p:nvSpPr>
          <p:cNvPr id="31" name="Text 29"/>
          <p:cNvSpPr/>
          <p:nvPr/>
        </p:nvSpPr>
        <p:spPr>
          <a:xfrm>
            <a:off x="2185416" y="2706624"/>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File size in bytes</a:t>
            </a:r>
            <a:endParaRPr lang="en-US" sz="720" dirty="0"/>
          </a:p>
        </p:txBody>
      </p:sp>
      <p:sp>
        <p:nvSpPr>
          <p:cNvPr id="32" name="Shape 30"/>
          <p:cNvSpPr/>
          <p:nvPr/>
        </p:nvSpPr>
        <p:spPr>
          <a:xfrm>
            <a:off x="320040" y="2926080"/>
            <a:ext cx="3913632" cy="192024"/>
          </a:xfrm>
          <a:prstGeom prst="rect">
            <a:avLst/>
          </a:prstGeom>
          <a:solidFill>
            <a:srgbClr val="FFFFFF"/>
          </a:solidFill>
          <a:ln/>
        </p:spPr>
      </p:sp>
      <p:sp>
        <p:nvSpPr>
          <p:cNvPr id="33" name="Shape 31"/>
          <p:cNvSpPr/>
          <p:nvPr/>
        </p:nvSpPr>
        <p:spPr>
          <a:xfrm>
            <a:off x="320040" y="2926080"/>
            <a:ext cx="566928" cy="192024"/>
          </a:xfrm>
          <a:prstGeom prst="rect">
            <a:avLst/>
          </a:prstGeom>
          <a:solidFill>
            <a:srgbClr val="F0F4FF"/>
          </a:solidFill>
          <a:ln/>
        </p:spPr>
      </p:sp>
      <p:sp>
        <p:nvSpPr>
          <p:cNvPr id="34" name="Text 32"/>
          <p:cNvSpPr/>
          <p:nvPr/>
        </p:nvSpPr>
        <p:spPr>
          <a:xfrm>
            <a:off x="320040" y="2926080"/>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NVARCHAR(100)</a:t>
            </a:r>
            <a:endParaRPr lang="en-US" sz="580" dirty="0"/>
          </a:p>
        </p:txBody>
      </p:sp>
      <p:sp>
        <p:nvSpPr>
          <p:cNvPr id="35" name="Text 33"/>
          <p:cNvSpPr/>
          <p:nvPr/>
        </p:nvSpPr>
        <p:spPr>
          <a:xfrm>
            <a:off x="905256" y="2926080"/>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WFF_MimeType</a:t>
            </a:r>
            <a:endParaRPr lang="en-US" sz="700" dirty="0"/>
          </a:p>
        </p:txBody>
      </p:sp>
      <p:sp>
        <p:nvSpPr>
          <p:cNvPr id="36" name="Text 34"/>
          <p:cNvSpPr/>
          <p:nvPr/>
        </p:nvSpPr>
        <p:spPr>
          <a:xfrm>
            <a:off x="2185416" y="2926080"/>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MIME type (application/pdf etc.)</a:t>
            </a:r>
            <a:endParaRPr lang="en-US" sz="720" dirty="0"/>
          </a:p>
        </p:txBody>
      </p:sp>
      <p:sp>
        <p:nvSpPr>
          <p:cNvPr id="37" name="Shape 35"/>
          <p:cNvSpPr/>
          <p:nvPr/>
        </p:nvSpPr>
        <p:spPr>
          <a:xfrm>
            <a:off x="320040" y="3145536"/>
            <a:ext cx="3913632" cy="192024"/>
          </a:xfrm>
          <a:prstGeom prst="rect">
            <a:avLst/>
          </a:prstGeom>
          <a:solidFill>
            <a:srgbClr val="F8FAFC"/>
          </a:solidFill>
          <a:ln/>
        </p:spPr>
      </p:sp>
      <p:sp>
        <p:nvSpPr>
          <p:cNvPr id="38" name="Shape 36"/>
          <p:cNvSpPr/>
          <p:nvPr/>
        </p:nvSpPr>
        <p:spPr>
          <a:xfrm>
            <a:off x="320040" y="3145536"/>
            <a:ext cx="566928" cy="192024"/>
          </a:xfrm>
          <a:prstGeom prst="rect">
            <a:avLst/>
          </a:prstGeom>
          <a:solidFill>
            <a:srgbClr val="F0F4FF"/>
          </a:solidFill>
          <a:ln/>
        </p:spPr>
      </p:sp>
      <p:sp>
        <p:nvSpPr>
          <p:cNvPr id="39" name="Text 37"/>
          <p:cNvSpPr/>
          <p:nvPr/>
        </p:nvSpPr>
        <p:spPr>
          <a:xfrm>
            <a:off x="320040" y="3145536"/>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NVARCHAR(50)</a:t>
            </a:r>
            <a:endParaRPr lang="en-US" sz="580" dirty="0"/>
          </a:p>
        </p:txBody>
      </p:sp>
      <p:sp>
        <p:nvSpPr>
          <p:cNvPr id="40" name="Text 38"/>
          <p:cNvSpPr/>
          <p:nvPr/>
        </p:nvSpPr>
        <p:spPr>
          <a:xfrm>
            <a:off x="905256" y="314553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WFF_UploadedBy</a:t>
            </a:r>
            <a:endParaRPr lang="en-US" sz="700" dirty="0"/>
          </a:p>
        </p:txBody>
      </p:sp>
      <p:sp>
        <p:nvSpPr>
          <p:cNvPr id="41" name="Text 39"/>
          <p:cNvSpPr/>
          <p:nvPr/>
        </p:nvSpPr>
        <p:spPr>
          <a:xfrm>
            <a:off x="2185416" y="314553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Uploader login</a:t>
            </a:r>
            <a:endParaRPr lang="en-US" sz="720" dirty="0"/>
          </a:p>
        </p:txBody>
      </p:sp>
      <p:sp>
        <p:nvSpPr>
          <p:cNvPr id="42" name="Shape 40"/>
          <p:cNvSpPr/>
          <p:nvPr/>
        </p:nvSpPr>
        <p:spPr>
          <a:xfrm>
            <a:off x="320040" y="3364992"/>
            <a:ext cx="3913632" cy="192024"/>
          </a:xfrm>
          <a:prstGeom prst="rect">
            <a:avLst/>
          </a:prstGeom>
          <a:solidFill>
            <a:srgbClr val="FFFFFF"/>
          </a:solidFill>
          <a:ln/>
        </p:spPr>
      </p:sp>
      <p:sp>
        <p:nvSpPr>
          <p:cNvPr id="43" name="Shape 41"/>
          <p:cNvSpPr/>
          <p:nvPr/>
        </p:nvSpPr>
        <p:spPr>
          <a:xfrm>
            <a:off x="320040" y="3364992"/>
            <a:ext cx="566928" cy="192024"/>
          </a:xfrm>
          <a:prstGeom prst="rect">
            <a:avLst/>
          </a:prstGeom>
          <a:solidFill>
            <a:srgbClr val="F0F4FF"/>
          </a:solidFill>
          <a:ln/>
        </p:spPr>
      </p:sp>
      <p:sp>
        <p:nvSpPr>
          <p:cNvPr id="44" name="Text 42"/>
          <p:cNvSpPr/>
          <p:nvPr/>
        </p:nvSpPr>
        <p:spPr>
          <a:xfrm>
            <a:off x="320040" y="3364992"/>
            <a:ext cx="566928" cy="192024"/>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DATETIME</a:t>
            </a:r>
            <a:endParaRPr lang="en-US" sz="580" dirty="0"/>
          </a:p>
        </p:txBody>
      </p:sp>
      <p:sp>
        <p:nvSpPr>
          <p:cNvPr id="45" name="Text 43"/>
          <p:cNvSpPr/>
          <p:nvPr/>
        </p:nvSpPr>
        <p:spPr>
          <a:xfrm>
            <a:off x="905256" y="3364992"/>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WFF_UploadDate</a:t>
            </a:r>
            <a:endParaRPr lang="en-US" sz="700" dirty="0"/>
          </a:p>
        </p:txBody>
      </p:sp>
      <p:sp>
        <p:nvSpPr>
          <p:cNvPr id="46" name="Text 44"/>
          <p:cNvSpPr/>
          <p:nvPr/>
        </p:nvSpPr>
        <p:spPr>
          <a:xfrm>
            <a:off x="2185416" y="3364992"/>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Upload timestamp</a:t>
            </a:r>
            <a:endParaRPr lang="en-US" sz="720" dirty="0"/>
          </a:p>
        </p:txBody>
      </p:sp>
      <p:sp>
        <p:nvSpPr>
          <p:cNvPr id="47" name="Shape 45"/>
          <p:cNvSpPr/>
          <p:nvPr/>
        </p:nvSpPr>
        <p:spPr>
          <a:xfrm>
            <a:off x="4572000" y="1700784"/>
            <a:ext cx="4315968" cy="1874520"/>
          </a:xfrm>
          <a:prstGeom prst="rect">
            <a:avLst/>
          </a:prstGeom>
          <a:solidFill>
            <a:srgbClr val="FFFFFF"/>
          </a:solidFill>
          <a:ln/>
          <a:effectLst>
            <a:outerShdw blurRad="101600" dist="38100" dir="8100000" algn="bl" rotWithShape="0">
              <a:srgbClr val="000000">
                <a:alpha val="12000"/>
              </a:srgbClr>
            </a:outerShdw>
          </a:effectLst>
        </p:spPr>
      </p:sp>
      <p:sp>
        <p:nvSpPr>
          <p:cNvPr id="48" name="Shape 46"/>
          <p:cNvSpPr/>
          <p:nvPr/>
        </p:nvSpPr>
        <p:spPr>
          <a:xfrm>
            <a:off x="4572000" y="1700784"/>
            <a:ext cx="4315968" cy="292608"/>
          </a:xfrm>
          <a:prstGeom prst="rect">
            <a:avLst/>
          </a:prstGeom>
          <a:solidFill>
            <a:srgbClr val="FFEBEE"/>
          </a:solidFill>
          <a:ln/>
        </p:spPr>
      </p:sp>
      <p:sp>
        <p:nvSpPr>
          <p:cNvPr id="49" name="Text 47"/>
          <p:cNvSpPr/>
          <p:nvPr/>
        </p:nvSpPr>
        <p:spPr>
          <a:xfrm>
            <a:off x="4663440" y="1700784"/>
            <a:ext cx="4160520" cy="292608"/>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WFFilesContent — Binary Content Table  ⚠  Cannot be masked</a:t>
            </a:r>
            <a:endParaRPr lang="en-US" sz="900" dirty="0"/>
          </a:p>
        </p:txBody>
      </p:sp>
      <p:sp>
        <p:nvSpPr>
          <p:cNvPr id="50" name="Shape 48"/>
          <p:cNvSpPr/>
          <p:nvPr/>
        </p:nvSpPr>
        <p:spPr>
          <a:xfrm>
            <a:off x="4626864" y="2048256"/>
            <a:ext cx="4187952" cy="274320"/>
          </a:xfrm>
          <a:prstGeom prst="rect">
            <a:avLst/>
          </a:prstGeom>
          <a:solidFill>
            <a:srgbClr val="FFFFFF"/>
          </a:solidFill>
          <a:ln/>
        </p:spPr>
      </p:sp>
      <p:sp>
        <p:nvSpPr>
          <p:cNvPr id="51" name="Shape 49"/>
          <p:cNvSpPr/>
          <p:nvPr/>
        </p:nvSpPr>
        <p:spPr>
          <a:xfrm>
            <a:off x="4626864" y="2048256"/>
            <a:ext cx="658368" cy="274320"/>
          </a:xfrm>
          <a:prstGeom prst="rect">
            <a:avLst/>
          </a:prstGeom>
          <a:solidFill>
            <a:srgbClr val="F0F4FF"/>
          </a:solidFill>
          <a:ln/>
        </p:spPr>
      </p:sp>
      <p:sp>
        <p:nvSpPr>
          <p:cNvPr id="52" name="Text 50"/>
          <p:cNvSpPr/>
          <p:nvPr/>
        </p:nvSpPr>
        <p:spPr>
          <a:xfrm>
            <a:off x="4626864" y="2048256"/>
            <a:ext cx="658368" cy="274320"/>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INT FK PK</a:t>
            </a:r>
            <a:endParaRPr lang="en-US" sz="580" dirty="0"/>
          </a:p>
        </p:txBody>
      </p:sp>
      <p:sp>
        <p:nvSpPr>
          <p:cNvPr id="53" name="Text 51"/>
          <p:cNvSpPr/>
          <p:nvPr/>
        </p:nvSpPr>
        <p:spPr>
          <a:xfrm>
            <a:off x="5303520" y="2048256"/>
            <a:ext cx="1371600" cy="274320"/>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WFFC_FileID</a:t>
            </a:r>
            <a:endParaRPr lang="en-US" sz="700" dirty="0"/>
          </a:p>
        </p:txBody>
      </p:sp>
      <p:sp>
        <p:nvSpPr>
          <p:cNvPr id="54" name="Text 52"/>
          <p:cNvSpPr/>
          <p:nvPr/>
        </p:nvSpPr>
        <p:spPr>
          <a:xfrm>
            <a:off x="6693408" y="2048256"/>
            <a:ext cx="2057400" cy="274320"/>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Links to WFFiles.WFF_ID</a:t>
            </a:r>
            <a:endParaRPr lang="en-US" sz="720" dirty="0"/>
          </a:p>
        </p:txBody>
      </p:sp>
      <p:sp>
        <p:nvSpPr>
          <p:cNvPr id="55" name="Shape 53"/>
          <p:cNvSpPr/>
          <p:nvPr/>
        </p:nvSpPr>
        <p:spPr>
          <a:xfrm>
            <a:off x="4626864" y="2359152"/>
            <a:ext cx="4187952" cy="274320"/>
          </a:xfrm>
          <a:prstGeom prst="rect">
            <a:avLst/>
          </a:prstGeom>
          <a:solidFill>
            <a:srgbClr val="FFF0F0"/>
          </a:solidFill>
          <a:ln/>
        </p:spPr>
      </p:sp>
      <p:sp>
        <p:nvSpPr>
          <p:cNvPr id="56" name="Shape 54"/>
          <p:cNvSpPr/>
          <p:nvPr/>
        </p:nvSpPr>
        <p:spPr>
          <a:xfrm>
            <a:off x="4626864" y="2359152"/>
            <a:ext cx="658368" cy="274320"/>
          </a:xfrm>
          <a:prstGeom prst="rect">
            <a:avLst/>
          </a:prstGeom>
          <a:solidFill>
            <a:srgbClr val="FFEBEE"/>
          </a:solidFill>
          <a:ln/>
        </p:spPr>
      </p:sp>
      <p:sp>
        <p:nvSpPr>
          <p:cNvPr id="57" name="Text 55"/>
          <p:cNvSpPr/>
          <p:nvPr/>
        </p:nvSpPr>
        <p:spPr>
          <a:xfrm>
            <a:off x="4626864" y="2359152"/>
            <a:ext cx="658368" cy="274320"/>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varbinary(MAX)</a:t>
            </a:r>
            <a:endParaRPr lang="en-US" sz="580" dirty="0"/>
          </a:p>
        </p:txBody>
      </p:sp>
      <p:sp>
        <p:nvSpPr>
          <p:cNvPr id="58" name="Text 56"/>
          <p:cNvSpPr/>
          <p:nvPr/>
        </p:nvSpPr>
        <p:spPr>
          <a:xfrm>
            <a:off x="5303520" y="2359152"/>
            <a:ext cx="1371600" cy="274320"/>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WFFC_Content</a:t>
            </a:r>
            <a:endParaRPr lang="en-US" sz="700" dirty="0"/>
          </a:p>
        </p:txBody>
      </p:sp>
      <p:sp>
        <p:nvSpPr>
          <p:cNvPr id="59" name="Text 57"/>
          <p:cNvSpPr/>
          <p:nvPr/>
        </p:nvSpPr>
        <p:spPr>
          <a:xfrm>
            <a:off x="6693408" y="2359152"/>
            <a:ext cx="2057400" cy="274320"/>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Binary file bytes — PDF/image/doc</a:t>
            </a:r>
            <a:endParaRPr lang="en-US" sz="720" dirty="0"/>
          </a:p>
        </p:txBody>
      </p:sp>
      <p:sp>
        <p:nvSpPr>
          <p:cNvPr id="60" name="Shape 58"/>
          <p:cNvSpPr/>
          <p:nvPr/>
        </p:nvSpPr>
        <p:spPr>
          <a:xfrm>
            <a:off x="4626864" y="2670048"/>
            <a:ext cx="4187952" cy="274320"/>
          </a:xfrm>
          <a:prstGeom prst="rect">
            <a:avLst/>
          </a:prstGeom>
          <a:solidFill>
            <a:srgbClr val="FFFFFF"/>
          </a:solidFill>
          <a:ln/>
        </p:spPr>
      </p:sp>
      <p:sp>
        <p:nvSpPr>
          <p:cNvPr id="61" name="Shape 59"/>
          <p:cNvSpPr/>
          <p:nvPr/>
        </p:nvSpPr>
        <p:spPr>
          <a:xfrm>
            <a:off x="4626864" y="2670048"/>
            <a:ext cx="658368" cy="274320"/>
          </a:xfrm>
          <a:prstGeom prst="rect">
            <a:avLst/>
          </a:prstGeom>
          <a:solidFill>
            <a:srgbClr val="F0F4FF"/>
          </a:solidFill>
          <a:ln/>
        </p:spPr>
      </p:sp>
      <p:sp>
        <p:nvSpPr>
          <p:cNvPr id="62" name="Text 60"/>
          <p:cNvSpPr/>
          <p:nvPr/>
        </p:nvSpPr>
        <p:spPr>
          <a:xfrm>
            <a:off x="4626864" y="2670048"/>
            <a:ext cx="658368" cy="274320"/>
          </a:xfrm>
          <a:prstGeom prst="rect">
            <a:avLst/>
          </a:prstGeom>
          <a:noFill/>
          <a:ln/>
        </p:spPr>
        <p:txBody>
          <a:bodyPr wrap="square" rtlCol="0" anchor="ctr"/>
          <a:lstStyle/>
          <a:p>
            <a:pPr marL="0" indent="0" algn="ctr">
              <a:buNone/>
            </a:pPr>
            <a:r>
              <a:rPr lang="en-US" sz="580" b="1" dirty="0">
                <a:solidFill>
                  <a:srgbClr val="5577AA"/>
                </a:solidFill>
                <a:latin typeface="Calibri" pitchFamily="34" charset="0"/>
                <a:ea typeface="Calibri" pitchFamily="34" charset="-122"/>
                <a:cs typeface="Calibri" pitchFamily="34" charset="-120"/>
              </a:rPr>
              <a:t>varbinary(MAX)</a:t>
            </a:r>
            <a:endParaRPr lang="en-US" sz="580" dirty="0"/>
          </a:p>
        </p:txBody>
      </p:sp>
      <p:sp>
        <p:nvSpPr>
          <p:cNvPr id="63" name="Text 61"/>
          <p:cNvSpPr/>
          <p:nvPr/>
        </p:nvSpPr>
        <p:spPr>
          <a:xfrm>
            <a:off x="5303520" y="2670048"/>
            <a:ext cx="1371600" cy="274320"/>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WFFC_Thumbnail</a:t>
            </a:r>
            <a:endParaRPr lang="en-US" sz="700" dirty="0"/>
          </a:p>
        </p:txBody>
      </p:sp>
      <p:sp>
        <p:nvSpPr>
          <p:cNvPr id="64" name="Text 62"/>
          <p:cNvSpPr/>
          <p:nvPr/>
        </p:nvSpPr>
        <p:spPr>
          <a:xfrm>
            <a:off x="6693408" y="2670048"/>
            <a:ext cx="2057400" cy="274320"/>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Preview thumbnail if generated</a:t>
            </a:r>
            <a:endParaRPr lang="en-US" sz="720" dirty="0"/>
          </a:p>
        </p:txBody>
      </p:sp>
      <p:sp>
        <p:nvSpPr>
          <p:cNvPr id="65" name="Shape 63"/>
          <p:cNvSpPr/>
          <p:nvPr/>
        </p:nvSpPr>
        <p:spPr>
          <a:xfrm>
            <a:off x="4626864" y="2743200"/>
            <a:ext cx="4187952" cy="493776"/>
          </a:xfrm>
          <a:prstGeom prst="rect">
            <a:avLst/>
          </a:prstGeom>
          <a:solidFill>
            <a:srgbClr val="FBF0F0"/>
          </a:solidFill>
          <a:ln w="10160">
            <a:solidFill>
              <a:srgbClr val="C0392B"/>
            </a:solidFill>
            <a:prstDash val="solid"/>
          </a:ln>
        </p:spPr>
      </p:sp>
      <p:sp>
        <p:nvSpPr>
          <p:cNvPr id="66" name="Text 64"/>
          <p:cNvSpPr/>
          <p:nvPr/>
        </p:nvSpPr>
        <p:spPr>
          <a:xfrm>
            <a:off x="4681728" y="2761488"/>
            <a:ext cx="4078224" cy="457200"/>
          </a:xfrm>
          <a:prstGeom prst="rect">
            <a:avLst/>
          </a:prstGeom>
          <a:noFill/>
          <a:ln/>
        </p:spPr>
        <p:txBody>
          <a:bodyPr wrap="square" rtlCol="0" anchor="ctr"/>
          <a:lstStyle/>
          <a:p>
            <a:pPr marL="0" indent="0">
              <a:buNone/>
            </a:pPr>
            <a:r>
              <a:rPr lang="en-US" sz="750" dirty="0">
                <a:solidFill>
                  <a:srgbClr val="C0392B"/>
                </a:solidFill>
                <a:latin typeface="Consolas" pitchFamily="34" charset="0"/>
                <a:ea typeface="Consolas" pitchFamily="34" charset="-122"/>
                <a:cs typeface="Consolas" pitchFamily="34" charset="-120"/>
              </a:rPr>
              <a:t>0x255044462D312E342031...</a:t>
            </a:r>
            <a:endParaRPr lang="en-US" sz="750" dirty="0"/>
          </a:p>
          <a:p>
            <a:pPr marL="0" indent="0">
              <a:buNone/>
            </a:pPr>
            <a:r>
              <a:rPr lang="en-US" sz="750" dirty="0">
                <a:solidFill>
                  <a:srgbClr val="C0392B"/>
                </a:solidFill>
                <a:latin typeface="Consolas" pitchFamily="34" charset="0"/>
                <a:ea typeface="Consolas" pitchFamily="34" charset="-122"/>
                <a:cs typeface="Consolas" pitchFamily="34" charset="-120"/>
              </a:rPr>
              <a:t>(Full medical certificate PDF — binary, cannot be masked)</a:t>
            </a:r>
            <a:endParaRPr lang="en-US" sz="750" dirty="0"/>
          </a:p>
        </p:txBody>
      </p:sp>
      <p:sp>
        <p:nvSpPr>
          <p:cNvPr id="67" name="Shape 65"/>
          <p:cNvSpPr/>
          <p:nvPr/>
        </p:nvSpPr>
        <p:spPr>
          <a:xfrm>
            <a:off x="274320" y="3657600"/>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68" name="Shape 66"/>
          <p:cNvSpPr/>
          <p:nvPr/>
        </p:nvSpPr>
        <p:spPr>
          <a:xfrm>
            <a:off x="274320" y="3657600"/>
            <a:ext cx="4160520" cy="274320"/>
          </a:xfrm>
          <a:prstGeom prst="rect">
            <a:avLst/>
          </a:prstGeom>
          <a:solidFill>
            <a:srgbClr val="FCE4EC"/>
          </a:solidFill>
          <a:ln/>
        </p:spPr>
      </p:sp>
      <p:sp>
        <p:nvSpPr>
          <p:cNvPr id="69" name="Text 67"/>
          <p:cNvSpPr/>
          <p:nvPr/>
        </p:nvSpPr>
        <p:spPr>
          <a:xfrm>
            <a:off x="365760" y="3657600"/>
            <a:ext cx="4005072" cy="274320"/>
          </a:xfrm>
          <a:prstGeom prst="rect">
            <a:avLst/>
          </a:prstGeom>
          <a:noFill/>
          <a:ln/>
        </p:spPr>
        <p:txBody>
          <a:bodyPr wrap="square" rtlCol="0" anchor="ctr"/>
          <a:lstStyle/>
          <a:p>
            <a:pPr marL="0" indent="0">
              <a:buNone/>
            </a:pPr>
            <a:r>
              <a:rPr lang="en-US" sz="900" b="1" dirty="0">
                <a:solidFill>
                  <a:srgbClr val="880E4F"/>
                </a:solidFill>
                <a:latin typeface="Calibri" pitchFamily="34" charset="0"/>
                <a:ea typeface="Calibri" pitchFamily="34" charset="-122"/>
                <a:cs typeface="Calibri" pitchFamily="34" charset="-120"/>
              </a:rPr>
              <a:t>WFFiles Control — Chained RLS via WFF_WFDID</a:t>
            </a:r>
            <a:endParaRPr lang="en-US" sz="900" dirty="0"/>
          </a:p>
        </p:txBody>
      </p:sp>
      <p:sp>
        <p:nvSpPr>
          <p:cNvPr id="70" name="Text 68"/>
          <p:cNvSpPr/>
          <p:nvPr/>
        </p:nvSpPr>
        <p:spPr>
          <a:xfrm>
            <a:off x="365760" y="3968496"/>
            <a:ext cx="4005072" cy="868680"/>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Access policy checks parent WFD_WFDID in WFElements. If the HR parent row is blocked by WFElements RLS, the WFFiles row for that attachment is absent. The filename Anna_Schmidt_Medical_Certificate_April2026.pdf never reaches the query result — identity and implied medical condition are protected.</a:t>
            </a:r>
            <a:endParaRPr lang="en-US" sz="850" dirty="0"/>
          </a:p>
        </p:txBody>
      </p:sp>
      <p:sp>
        <p:nvSpPr>
          <p:cNvPr id="71" name="Shape 69"/>
          <p:cNvSpPr/>
          <p:nvPr/>
        </p:nvSpPr>
        <p:spPr>
          <a:xfrm>
            <a:off x="4709160" y="3657600"/>
            <a:ext cx="4160520" cy="1234440"/>
          </a:xfrm>
          <a:prstGeom prst="rect">
            <a:avLst/>
          </a:prstGeom>
          <a:solidFill>
            <a:srgbClr val="FFFFFF"/>
          </a:solidFill>
          <a:ln/>
          <a:effectLst>
            <a:outerShdw blurRad="101600" dist="38100" dir="8100000" algn="bl" rotWithShape="0">
              <a:srgbClr val="000000">
                <a:alpha val="12000"/>
              </a:srgbClr>
            </a:outerShdw>
          </a:effectLst>
        </p:spPr>
      </p:sp>
      <p:sp>
        <p:nvSpPr>
          <p:cNvPr id="72" name="Shape 70"/>
          <p:cNvSpPr/>
          <p:nvPr/>
        </p:nvSpPr>
        <p:spPr>
          <a:xfrm>
            <a:off x="4709160" y="3657600"/>
            <a:ext cx="4160520" cy="274320"/>
          </a:xfrm>
          <a:prstGeom prst="rect">
            <a:avLst/>
          </a:prstGeom>
          <a:solidFill>
            <a:srgbClr val="FFEBEE"/>
          </a:solidFill>
          <a:ln/>
        </p:spPr>
      </p:sp>
      <p:sp>
        <p:nvSpPr>
          <p:cNvPr id="73" name="Text 71"/>
          <p:cNvSpPr/>
          <p:nvPr/>
        </p:nvSpPr>
        <p:spPr>
          <a:xfrm>
            <a:off x="4800600" y="3657600"/>
            <a:ext cx="4005072" cy="27432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WFFilesContent Control — Full REVOKE (no DDM possible)</a:t>
            </a:r>
            <a:endParaRPr lang="en-US" sz="900" dirty="0"/>
          </a:p>
        </p:txBody>
      </p:sp>
      <p:sp>
        <p:nvSpPr>
          <p:cNvPr id="74" name="Text 72"/>
          <p:cNvSpPr/>
          <p:nvPr/>
        </p:nvSpPr>
        <p:spPr>
          <a:xfrm>
            <a:off x="4800600" y="3968496"/>
            <a:ext cx="4005072" cy="868680"/>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SQL Server DDM cannot mask binary (varbinary(MAX)). There is no partial() or email() function for a PDF. The only viable control is a complete REVOKE SELECT on dbo.WFFilesContent from all Non-EEA roles and service accounts. Any query attempt returns a hard SQL permission error — not masked data.</a:t>
            </a:r>
            <a:endParaRPr lang="en-US" sz="850" dirty="0"/>
          </a:p>
        </p:txBody>
      </p:sp>
      <p:sp>
        <p:nvSpPr>
          <p:cNvPr id="75" name="Shape 73"/>
          <p:cNvSpPr/>
          <p:nvPr/>
        </p:nvSpPr>
        <p:spPr>
          <a:xfrm>
            <a:off x="0" y="4828032"/>
            <a:ext cx="9144000" cy="315468"/>
          </a:xfrm>
          <a:prstGeom prst="rect">
            <a:avLst/>
          </a:prstGeom>
          <a:solidFill>
            <a:srgbClr val="009B9E"/>
          </a:solidFill>
          <a:ln/>
        </p:spPr>
      </p:sp>
      <p:sp>
        <p:nvSpPr>
          <p:cNvPr id="76" name="Shape 74"/>
          <p:cNvSpPr/>
          <p:nvPr/>
        </p:nvSpPr>
        <p:spPr>
          <a:xfrm>
            <a:off x="502920" y="4919472"/>
            <a:ext cx="18288" cy="128016"/>
          </a:xfrm>
          <a:prstGeom prst="rect">
            <a:avLst/>
          </a:prstGeom>
          <a:solidFill>
            <a:srgbClr val="FFFFFF"/>
          </a:solidFill>
          <a:ln/>
        </p:spPr>
      </p:sp>
      <p:sp>
        <p:nvSpPr>
          <p:cNvPr id="77" name="Text 75"/>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78" name="Text 76"/>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009B9E"/>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WFUsers  —  TABLE STRUCTURE &amp; COLUMN ARCHITECTURE</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AD Identity Sync Table — User Directory for Pickers, Assignment &amp; Routing</a:t>
            </a:r>
            <a:endParaRPr lang="en-US" sz="1500" dirty="0"/>
          </a:p>
        </p:txBody>
      </p:sp>
      <p:sp>
        <p:nvSpPr>
          <p:cNvPr id="6" name="Shape 4"/>
          <p:cNvSpPr/>
          <p:nvPr/>
        </p:nvSpPr>
        <p:spPr>
          <a:xfrm>
            <a:off x="274320" y="1170432"/>
            <a:ext cx="8595360" cy="457200"/>
          </a:xfrm>
          <a:prstGeom prst="rect">
            <a:avLst/>
          </a:prstGeom>
          <a:solidFill>
            <a:srgbClr val="E0F2F1"/>
          </a:solidFill>
          <a:ln w="10160">
            <a:solidFill>
              <a:srgbClr val="009B9E"/>
            </a:solidFill>
            <a:prstDash val="solid"/>
          </a:ln>
        </p:spPr>
      </p:sp>
      <p:sp>
        <p:nvSpPr>
          <p:cNvPr id="7" name="Shape 5"/>
          <p:cNvSpPr/>
          <p:nvPr/>
        </p:nvSpPr>
        <p:spPr>
          <a:xfrm>
            <a:off x="274320" y="1170432"/>
            <a:ext cx="91440" cy="457200"/>
          </a:xfrm>
          <a:prstGeom prst="rect">
            <a:avLst/>
          </a:prstGeom>
          <a:solidFill>
            <a:srgbClr val="009B9E"/>
          </a:solidFill>
          <a:ln/>
        </p:spPr>
      </p:sp>
      <p:sp>
        <p:nvSpPr>
          <p:cNvPr id="8" name="Text 6"/>
          <p:cNvSpPr/>
          <p:nvPr/>
        </p:nvSpPr>
        <p:spPr>
          <a:xfrm>
            <a:off x="457200" y="1197864"/>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How it works: WEBCON syncs Active Directory users into WFUsers on a scheduled basis (typically nightly). This table powers every user picker field, approval assignment dropdown, email notification routing, and AD group membership check across all applications. Unlike other WF* tables, WFUsers is NOT linked to any specific workflow instance — it exists independently as a global identity store.</a:t>
            </a:r>
            <a:endParaRPr lang="en-US" sz="950" dirty="0"/>
          </a:p>
        </p:txBody>
      </p:sp>
      <p:sp>
        <p:nvSpPr>
          <p:cNvPr id="9" name="Shape 7"/>
          <p:cNvSpPr/>
          <p:nvPr/>
        </p:nvSpPr>
        <p:spPr>
          <a:xfrm>
            <a:off x="274320" y="1700784"/>
            <a:ext cx="4023360" cy="237744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00784"/>
            <a:ext cx="4023360" cy="292608"/>
          </a:xfrm>
          <a:prstGeom prst="rect">
            <a:avLst/>
          </a:prstGeom>
          <a:solidFill>
            <a:srgbClr val="E0F2F1"/>
          </a:solidFill>
          <a:ln/>
        </p:spPr>
      </p:sp>
      <p:sp>
        <p:nvSpPr>
          <p:cNvPr id="11" name="Text 9"/>
          <p:cNvSpPr/>
          <p:nvPr/>
        </p:nvSpPr>
        <p:spPr>
          <a:xfrm>
            <a:off x="365760" y="1700784"/>
            <a:ext cx="3886200" cy="292608"/>
          </a:xfrm>
          <a:prstGeom prst="rect">
            <a:avLst/>
          </a:prstGeom>
          <a:noFill/>
          <a:ln/>
        </p:spPr>
        <p:txBody>
          <a:bodyPr wrap="square" rtlCol="0" anchor="ctr"/>
          <a:lstStyle/>
          <a:p>
            <a:pPr marL="0" indent="0">
              <a:buNone/>
            </a:pPr>
            <a:r>
              <a:rPr lang="en-US" sz="900" b="1" dirty="0">
                <a:solidFill>
                  <a:srgbClr val="009B9E"/>
                </a:solidFill>
                <a:latin typeface="Calibri" pitchFamily="34" charset="0"/>
                <a:ea typeface="Calibri" pitchFamily="34" charset="-122"/>
                <a:cs typeface="Calibri" pitchFamily="34" charset="-120"/>
              </a:rPr>
              <a:t>Column Schema — Global Identity Store</a:t>
            </a:r>
            <a:endParaRPr lang="en-US" sz="900" dirty="0"/>
          </a:p>
        </p:txBody>
      </p:sp>
      <p:sp>
        <p:nvSpPr>
          <p:cNvPr id="12" name="Shape 10"/>
          <p:cNvSpPr/>
          <p:nvPr/>
        </p:nvSpPr>
        <p:spPr>
          <a:xfrm>
            <a:off x="320040" y="2048256"/>
            <a:ext cx="3913632" cy="192024"/>
          </a:xfrm>
          <a:prstGeom prst="rect">
            <a:avLst/>
          </a:prstGeom>
          <a:solidFill>
            <a:srgbClr val="FFFFFF"/>
          </a:solidFill>
          <a:ln/>
        </p:spPr>
      </p:sp>
      <p:sp>
        <p:nvSpPr>
          <p:cNvPr id="13" name="Shape 11"/>
          <p:cNvSpPr/>
          <p:nvPr/>
        </p:nvSpPr>
        <p:spPr>
          <a:xfrm>
            <a:off x="320040" y="2048256"/>
            <a:ext cx="566928" cy="192024"/>
          </a:xfrm>
          <a:prstGeom prst="rect">
            <a:avLst/>
          </a:prstGeom>
          <a:solidFill>
            <a:srgbClr val="E0F2F1"/>
          </a:solidFill>
          <a:ln/>
        </p:spPr>
      </p:sp>
      <p:sp>
        <p:nvSpPr>
          <p:cNvPr id="14" name="Text 12"/>
          <p:cNvSpPr/>
          <p:nvPr/>
        </p:nvSpPr>
        <p:spPr>
          <a:xfrm>
            <a:off x="320040" y="2048256"/>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INT PK</a:t>
            </a:r>
            <a:endParaRPr lang="en-US" sz="580" dirty="0"/>
          </a:p>
        </p:txBody>
      </p:sp>
      <p:sp>
        <p:nvSpPr>
          <p:cNvPr id="15" name="Text 13"/>
          <p:cNvSpPr/>
          <p:nvPr/>
        </p:nvSpPr>
        <p:spPr>
          <a:xfrm>
            <a:off x="905256" y="204825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WFU_ID</a:t>
            </a:r>
            <a:endParaRPr lang="en-US" sz="700" dirty="0"/>
          </a:p>
        </p:txBody>
      </p:sp>
      <p:sp>
        <p:nvSpPr>
          <p:cNvPr id="16" name="Text 14"/>
          <p:cNvSpPr/>
          <p:nvPr/>
        </p:nvSpPr>
        <p:spPr>
          <a:xfrm>
            <a:off x="2185416" y="204825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Internal WEBCON user ID</a:t>
            </a:r>
            <a:endParaRPr lang="en-US" sz="720" dirty="0"/>
          </a:p>
        </p:txBody>
      </p:sp>
      <p:sp>
        <p:nvSpPr>
          <p:cNvPr id="17" name="Shape 15"/>
          <p:cNvSpPr/>
          <p:nvPr/>
        </p:nvSpPr>
        <p:spPr>
          <a:xfrm>
            <a:off x="320040" y="2267712"/>
            <a:ext cx="3913632" cy="192024"/>
          </a:xfrm>
          <a:prstGeom prst="rect">
            <a:avLst/>
          </a:prstGeom>
          <a:solidFill>
            <a:srgbClr val="F8FAFC"/>
          </a:solidFill>
          <a:ln/>
        </p:spPr>
      </p:sp>
      <p:sp>
        <p:nvSpPr>
          <p:cNvPr id="18" name="Shape 16"/>
          <p:cNvSpPr/>
          <p:nvPr/>
        </p:nvSpPr>
        <p:spPr>
          <a:xfrm>
            <a:off x="320040" y="2267712"/>
            <a:ext cx="566928" cy="192024"/>
          </a:xfrm>
          <a:prstGeom prst="rect">
            <a:avLst/>
          </a:prstGeom>
          <a:solidFill>
            <a:srgbClr val="E0F2F1"/>
          </a:solidFill>
          <a:ln/>
        </p:spPr>
      </p:sp>
      <p:sp>
        <p:nvSpPr>
          <p:cNvPr id="19" name="Text 17"/>
          <p:cNvSpPr/>
          <p:nvPr/>
        </p:nvSpPr>
        <p:spPr>
          <a:xfrm>
            <a:off x="320040" y="2267712"/>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NVARCHAR(50)</a:t>
            </a:r>
            <a:endParaRPr lang="en-US" sz="580" dirty="0"/>
          </a:p>
        </p:txBody>
      </p:sp>
      <p:sp>
        <p:nvSpPr>
          <p:cNvPr id="20" name="Text 18"/>
          <p:cNvSpPr/>
          <p:nvPr/>
        </p:nvSpPr>
        <p:spPr>
          <a:xfrm>
            <a:off x="905256" y="2267712"/>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WFU_Login</a:t>
            </a:r>
            <a:endParaRPr lang="en-US" sz="700" dirty="0"/>
          </a:p>
        </p:txBody>
      </p:sp>
      <p:sp>
        <p:nvSpPr>
          <p:cNvPr id="21" name="Text 19"/>
          <p:cNvSpPr/>
          <p:nvPr/>
        </p:nvSpPr>
        <p:spPr>
          <a:xfrm>
            <a:off x="2185416" y="2267712"/>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AD login — a.schmidt</a:t>
            </a:r>
            <a:endParaRPr lang="en-US" sz="720" dirty="0"/>
          </a:p>
        </p:txBody>
      </p:sp>
      <p:sp>
        <p:nvSpPr>
          <p:cNvPr id="22" name="Shape 20"/>
          <p:cNvSpPr/>
          <p:nvPr/>
        </p:nvSpPr>
        <p:spPr>
          <a:xfrm>
            <a:off x="320040" y="2487168"/>
            <a:ext cx="3913632" cy="192024"/>
          </a:xfrm>
          <a:prstGeom prst="rect">
            <a:avLst/>
          </a:prstGeom>
          <a:solidFill>
            <a:srgbClr val="FFF0F0"/>
          </a:solidFill>
          <a:ln/>
        </p:spPr>
      </p:sp>
      <p:sp>
        <p:nvSpPr>
          <p:cNvPr id="23" name="Shape 21"/>
          <p:cNvSpPr/>
          <p:nvPr/>
        </p:nvSpPr>
        <p:spPr>
          <a:xfrm>
            <a:off x="320040" y="2487168"/>
            <a:ext cx="566928" cy="192024"/>
          </a:xfrm>
          <a:prstGeom prst="rect">
            <a:avLst/>
          </a:prstGeom>
          <a:solidFill>
            <a:srgbClr val="FFEBEE"/>
          </a:solidFill>
          <a:ln/>
        </p:spPr>
      </p:sp>
      <p:sp>
        <p:nvSpPr>
          <p:cNvPr id="24" name="Text 22"/>
          <p:cNvSpPr/>
          <p:nvPr/>
        </p:nvSpPr>
        <p:spPr>
          <a:xfrm>
            <a:off x="320040" y="2487168"/>
            <a:ext cx="566928" cy="19202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NVARCHAR(200)</a:t>
            </a:r>
            <a:endParaRPr lang="en-US" sz="580" dirty="0"/>
          </a:p>
        </p:txBody>
      </p:sp>
      <p:sp>
        <p:nvSpPr>
          <p:cNvPr id="25" name="Text 23"/>
          <p:cNvSpPr/>
          <p:nvPr/>
        </p:nvSpPr>
        <p:spPr>
          <a:xfrm>
            <a:off x="905256" y="2487168"/>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WFU_FullName</a:t>
            </a:r>
            <a:endParaRPr lang="en-US" sz="700" dirty="0"/>
          </a:p>
        </p:txBody>
      </p:sp>
      <p:sp>
        <p:nvSpPr>
          <p:cNvPr id="26" name="Text 24"/>
          <p:cNvSpPr/>
          <p:nvPr/>
        </p:nvSpPr>
        <p:spPr>
          <a:xfrm>
            <a:off x="2185416" y="2487168"/>
            <a:ext cx="1993392" cy="19202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Full name from AD — Anna Schmidt 🔴</a:t>
            </a:r>
            <a:endParaRPr lang="en-US" sz="720" dirty="0"/>
          </a:p>
        </p:txBody>
      </p:sp>
      <p:sp>
        <p:nvSpPr>
          <p:cNvPr id="27" name="Shape 25"/>
          <p:cNvSpPr/>
          <p:nvPr/>
        </p:nvSpPr>
        <p:spPr>
          <a:xfrm>
            <a:off x="320040" y="2706624"/>
            <a:ext cx="3913632" cy="192024"/>
          </a:xfrm>
          <a:prstGeom prst="rect">
            <a:avLst/>
          </a:prstGeom>
          <a:solidFill>
            <a:srgbClr val="FFF0F0"/>
          </a:solidFill>
          <a:ln/>
        </p:spPr>
      </p:sp>
      <p:sp>
        <p:nvSpPr>
          <p:cNvPr id="28" name="Shape 26"/>
          <p:cNvSpPr/>
          <p:nvPr/>
        </p:nvSpPr>
        <p:spPr>
          <a:xfrm>
            <a:off x="320040" y="2706624"/>
            <a:ext cx="566928" cy="192024"/>
          </a:xfrm>
          <a:prstGeom prst="rect">
            <a:avLst/>
          </a:prstGeom>
          <a:solidFill>
            <a:srgbClr val="FFEBEE"/>
          </a:solidFill>
          <a:ln/>
        </p:spPr>
      </p:sp>
      <p:sp>
        <p:nvSpPr>
          <p:cNvPr id="29" name="Text 27"/>
          <p:cNvSpPr/>
          <p:nvPr/>
        </p:nvSpPr>
        <p:spPr>
          <a:xfrm>
            <a:off x="320040" y="2706624"/>
            <a:ext cx="566928" cy="19202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NVARCHAR(200)</a:t>
            </a:r>
            <a:endParaRPr lang="en-US" sz="580" dirty="0"/>
          </a:p>
        </p:txBody>
      </p:sp>
      <p:sp>
        <p:nvSpPr>
          <p:cNvPr id="30" name="Text 28"/>
          <p:cNvSpPr/>
          <p:nvPr/>
        </p:nvSpPr>
        <p:spPr>
          <a:xfrm>
            <a:off x="905256" y="2706624"/>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WFU_Email</a:t>
            </a:r>
            <a:endParaRPr lang="en-US" sz="700" dirty="0"/>
          </a:p>
        </p:txBody>
      </p:sp>
      <p:sp>
        <p:nvSpPr>
          <p:cNvPr id="31" name="Text 29"/>
          <p:cNvSpPr/>
          <p:nvPr/>
        </p:nvSpPr>
        <p:spPr>
          <a:xfrm>
            <a:off x="2185416" y="2706624"/>
            <a:ext cx="1993392" cy="19202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Email from AD — personal data 🔴</a:t>
            </a:r>
            <a:endParaRPr lang="en-US" sz="720" dirty="0"/>
          </a:p>
        </p:txBody>
      </p:sp>
      <p:sp>
        <p:nvSpPr>
          <p:cNvPr id="32" name="Shape 30"/>
          <p:cNvSpPr/>
          <p:nvPr/>
        </p:nvSpPr>
        <p:spPr>
          <a:xfrm>
            <a:off x="320040" y="2926080"/>
            <a:ext cx="3913632" cy="192024"/>
          </a:xfrm>
          <a:prstGeom prst="rect">
            <a:avLst/>
          </a:prstGeom>
          <a:solidFill>
            <a:srgbClr val="FFFFFF"/>
          </a:solidFill>
          <a:ln/>
        </p:spPr>
      </p:sp>
      <p:sp>
        <p:nvSpPr>
          <p:cNvPr id="33" name="Shape 31"/>
          <p:cNvSpPr/>
          <p:nvPr/>
        </p:nvSpPr>
        <p:spPr>
          <a:xfrm>
            <a:off x="320040" y="2926080"/>
            <a:ext cx="566928" cy="192024"/>
          </a:xfrm>
          <a:prstGeom prst="rect">
            <a:avLst/>
          </a:prstGeom>
          <a:solidFill>
            <a:srgbClr val="E0F2F1"/>
          </a:solidFill>
          <a:ln/>
        </p:spPr>
      </p:sp>
      <p:sp>
        <p:nvSpPr>
          <p:cNvPr id="34" name="Text 32"/>
          <p:cNvSpPr/>
          <p:nvPr/>
        </p:nvSpPr>
        <p:spPr>
          <a:xfrm>
            <a:off x="320040" y="2926080"/>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NVARCHAR(100)</a:t>
            </a:r>
            <a:endParaRPr lang="en-US" sz="580" dirty="0"/>
          </a:p>
        </p:txBody>
      </p:sp>
      <p:sp>
        <p:nvSpPr>
          <p:cNvPr id="35" name="Text 33"/>
          <p:cNvSpPr/>
          <p:nvPr/>
        </p:nvSpPr>
        <p:spPr>
          <a:xfrm>
            <a:off x="905256" y="2926080"/>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WFU_Department</a:t>
            </a:r>
            <a:endParaRPr lang="en-US" sz="700" dirty="0"/>
          </a:p>
        </p:txBody>
      </p:sp>
      <p:sp>
        <p:nvSpPr>
          <p:cNvPr id="36" name="Text 34"/>
          <p:cNvSpPr/>
          <p:nvPr/>
        </p:nvSpPr>
        <p:spPr>
          <a:xfrm>
            <a:off x="2185416" y="2926080"/>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Department / organisational unit</a:t>
            </a:r>
            <a:endParaRPr lang="en-US" sz="720" dirty="0"/>
          </a:p>
        </p:txBody>
      </p:sp>
      <p:sp>
        <p:nvSpPr>
          <p:cNvPr id="37" name="Shape 35"/>
          <p:cNvSpPr/>
          <p:nvPr/>
        </p:nvSpPr>
        <p:spPr>
          <a:xfrm>
            <a:off x="320040" y="3145536"/>
            <a:ext cx="3913632" cy="192024"/>
          </a:xfrm>
          <a:prstGeom prst="rect">
            <a:avLst/>
          </a:prstGeom>
          <a:solidFill>
            <a:srgbClr val="F8FAFC"/>
          </a:solidFill>
          <a:ln/>
        </p:spPr>
      </p:sp>
      <p:sp>
        <p:nvSpPr>
          <p:cNvPr id="38" name="Shape 36"/>
          <p:cNvSpPr/>
          <p:nvPr/>
        </p:nvSpPr>
        <p:spPr>
          <a:xfrm>
            <a:off x="320040" y="3145536"/>
            <a:ext cx="566928" cy="192024"/>
          </a:xfrm>
          <a:prstGeom prst="rect">
            <a:avLst/>
          </a:prstGeom>
          <a:solidFill>
            <a:srgbClr val="E0F2F1"/>
          </a:solidFill>
          <a:ln/>
        </p:spPr>
      </p:sp>
      <p:sp>
        <p:nvSpPr>
          <p:cNvPr id="39" name="Text 37"/>
          <p:cNvSpPr/>
          <p:nvPr/>
        </p:nvSpPr>
        <p:spPr>
          <a:xfrm>
            <a:off x="320040" y="3145536"/>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NVARCHAR(50)</a:t>
            </a:r>
            <a:endParaRPr lang="en-US" sz="580" dirty="0"/>
          </a:p>
        </p:txBody>
      </p:sp>
      <p:sp>
        <p:nvSpPr>
          <p:cNvPr id="40" name="Text 38"/>
          <p:cNvSpPr/>
          <p:nvPr/>
        </p:nvSpPr>
        <p:spPr>
          <a:xfrm>
            <a:off x="905256" y="314553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WFU_Manager</a:t>
            </a:r>
            <a:endParaRPr lang="en-US" sz="700" dirty="0"/>
          </a:p>
        </p:txBody>
      </p:sp>
      <p:sp>
        <p:nvSpPr>
          <p:cNvPr id="41" name="Text 39"/>
          <p:cNvSpPr/>
          <p:nvPr/>
        </p:nvSpPr>
        <p:spPr>
          <a:xfrm>
            <a:off x="2185416" y="314553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Manager login</a:t>
            </a:r>
            <a:endParaRPr lang="en-US" sz="720" dirty="0"/>
          </a:p>
        </p:txBody>
      </p:sp>
      <p:sp>
        <p:nvSpPr>
          <p:cNvPr id="42" name="Shape 40"/>
          <p:cNvSpPr/>
          <p:nvPr/>
        </p:nvSpPr>
        <p:spPr>
          <a:xfrm>
            <a:off x="320040" y="3364992"/>
            <a:ext cx="3913632" cy="192024"/>
          </a:xfrm>
          <a:prstGeom prst="rect">
            <a:avLst/>
          </a:prstGeom>
          <a:solidFill>
            <a:srgbClr val="FFFFFF"/>
          </a:solidFill>
          <a:ln/>
        </p:spPr>
      </p:sp>
      <p:sp>
        <p:nvSpPr>
          <p:cNvPr id="43" name="Shape 41"/>
          <p:cNvSpPr/>
          <p:nvPr/>
        </p:nvSpPr>
        <p:spPr>
          <a:xfrm>
            <a:off x="320040" y="3364992"/>
            <a:ext cx="566928" cy="192024"/>
          </a:xfrm>
          <a:prstGeom prst="rect">
            <a:avLst/>
          </a:prstGeom>
          <a:solidFill>
            <a:srgbClr val="E0F2F1"/>
          </a:solidFill>
          <a:ln/>
        </p:spPr>
      </p:sp>
      <p:sp>
        <p:nvSpPr>
          <p:cNvPr id="44" name="Text 42"/>
          <p:cNvSpPr/>
          <p:nvPr/>
        </p:nvSpPr>
        <p:spPr>
          <a:xfrm>
            <a:off x="320040" y="3364992"/>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NVARCHAR(MAX)</a:t>
            </a:r>
            <a:endParaRPr lang="en-US" sz="580" dirty="0"/>
          </a:p>
        </p:txBody>
      </p:sp>
      <p:sp>
        <p:nvSpPr>
          <p:cNvPr id="45" name="Text 43"/>
          <p:cNvSpPr/>
          <p:nvPr/>
        </p:nvSpPr>
        <p:spPr>
          <a:xfrm>
            <a:off x="905256" y="3364992"/>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WFU_ADGroups</a:t>
            </a:r>
            <a:endParaRPr lang="en-US" sz="700" dirty="0"/>
          </a:p>
        </p:txBody>
      </p:sp>
      <p:sp>
        <p:nvSpPr>
          <p:cNvPr id="46" name="Text 44"/>
          <p:cNvSpPr/>
          <p:nvPr/>
        </p:nvSpPr>
        <p:spPr>
          <a:xfrm>
            <a:off x="2185416" y="3364992"/>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AD group memberships (pipe-separated)</a:t>
            </a:r>
            <a:endParaRPr lang="en-US" sz="720" dirty="0"/>
          </a:p>
        </p:txBody>
      </p:sp>
      <p:sp>
        <p:nvSpPr>
          <p:cNvPr id="47" name="Shape 45"/>
          <p:cNvSpPr/>
          <p:nvPr/>
        </p:nvSpPr>
        <p:spPr>
          <a:xfrm>
            <a:off x="320040" y="3584448"/>
            <a:ext cx="3913632" cy="192024"/>
          </a:xfrm>
          <a:prstGeom prst="rect">
            <a:avLst/>
          </a:prstGeom>
          <a:solidFill>
            <a:srgbClr val="F8FAFC"/>
          </a:solidFill>
          <a:ln/>
        </p:spPr>
      </p:sp>
      <p:sp>
        <p:nvSpPr>
          <p:cNvPr id="48" name="Shape 46"/>
          <p:cNvSpPr/>
          <p:nvPr/>
        </p:nvSpPr>
        <p:spPr>
          <a:xfrm>
            <a:off x="320040" y="3584448"/>
            <a:ext cx="566928" cy="192024"/>
          </a:xfrm>
          <a:prstGeom prst="rect">
            <a:avLst/>
          </a:prstGeom>
          <a:solidFill>
            <a:srgbClr val="E0F2F1"/>
          </a:solidFill>
          <a:ln/>
        </p:spPr>
      </p:sp>
      <p:sp>
        <p:nvSpPr>
          <p:cNvPr id="49" name="Text 47"/>
          <p:cNvSpPr/>
          <p:nvPr/>
        </p:nvSpPr>
        <p:spPr>
          <a:xfrm>
            <a:off x="320040" y="3584448"/>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BIT</a:t>
            </a:r>
            <a:endParaRPr lang="en-US" sz="580" dirty="0"/>
          </a:p>
        </p:txBody>
      </p:sp>
      <p:sp>
        <p:nvSpPr>
          <p:cNvPr id="50" name="Text 48"/>
          <p:cNvSpPr/>
          <p:nvPr/>
        </p:nvSpPr>
        <p:spPr>
          <a:xfrm>
            <a:off x="905256" y="3584448"/>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WFU_IsActive</a:t>
            </a:r>
            <a:endParaRPr lang="en-US" sz="700" dirty="0"/>
          </a:p>
        </p:txBody>
      </p:sp>
      <p:sp>
        <p:nvSpPr>
          <p:cNvPr id="51" name="Text 49"/>
          <p:cNvSpPr/>
          <p:nvPr/>
        </p:nvSpPr>
        <p:spPr>
          <a:xfrm>
            <a:off x="2185416" y="3584448"/>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Whether user account is active</a:t>
            </a:r>
            <a:endParaRPr lang="en-US" sz="720" dirty="0"/>
          </a:p>
        </p:txBody>
      </p:sp>
      <p:sp>
        <p:nvSpPr>
          <p:cNvPr id="52" name="Shape 50"/>
          <p:cNvSpPr/>
          <p:nvPr/>
        </p:nvSpPr>
        <p:spPr>
          <a:xfrm>
            <a:off x="320040" y="3803904"/>
            <a:ext cx="3913632" cy="192024"/>
          </a:xfrm>
          <a:prstGeom prst="rect">
            <a:avLst/>
          </a:prstGeom>
          <a:solidFill>
            <a:srgbClr val="FFFFFF"/>
          </a:solidFill>
          <a:ln/>
        </p:spPr>
      </p:sp>
      <p:sp>
        <p:nvSpPr>
          <p:cNvPr id="53" name="Shape 51"/>
          <p:cNvSpPr/>
          <p:nvPr/>
        </p:nvSpPr>
        <p:spPr>
          <a:xfrm>
            <a:off x="320040" y="3803904"/>
            <a:ext cx="566928" cy="192024"/>
          </a:xfrm>
          <a:prstGeom prst="rect">
            <a:avLst/>
          </a:prstGeom>
          <a:solidFill>
            <a:srgbClr val="E0F2F1"/>
          </a:solidFill>
          <a:ln/>
        </p:spPr>
      </p:sp>
      <p:sp>
        <p:nvSpPr>
          <p:cNvPr id="54" name="Text 52"/>
          <p:cNvSpPr/>
          <p:nvPr/>
        </p:nvSpPr>
        <p:spPr>
          <a:xfrm>
            <a:off x="320040" y="3803904"/>
            <a:ext cx="566928" cy="192024"/>
          </a:xfrm>
          <a:prstGeom prst="rect">
            <a:avLst/>
          </a:prstGeom>
          <a:noFill/>
          <a:ln/>
        </p:spPr>
        <p:txBody>
          <a:bodyPr wrap="square" rtlCol="0" anchor="ctr"/>
          <a:lstStyle/>
          <a:p>
            <a:pPr marL="0" indent="0" algn="ctr">
              <a:buNone/>
            </a:pPr>
            <a:r>
              <a:rPr lang="en-US" sz="580" b="1" dirty="0">
                <a:solidFill>
                  <a:srgbClr val="009B9E"/>
                </a:solidFill>
                <a:latin typeface="Calibri" pitchFamily="34" charset="0"/>
                <a:ea typeface="Calibri" pitchFamily="34" charset="-122"/>
                <a:cs typeface="Calibri" pitchFamily="34" charset="-120"/>
              </a:rPr>
              <a:t>DATETIME</a:t>
            </a:r>
            <a:endParaRPr lang="en-US" sz="580" dirty="0"/>
          </a:p>
        </p:txBody>
      </p:sp>
      <p:sp>
        <p:nvSpPr>
          <p:cNvPr id="55" name="Text 53"/>
          <p:cNvSpPr/>
          <p:nvPr/>
        </p:nvSpPr>
        <p:spPr>
          <a:xfrm>
            <a:off x="905256" y="3803904"/>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WFU_LastSync</a:t>
            </a:r>
            <a:endParaRPr lang="en-US" sz="700" dirty="0"/>
          </a:p>
        </p:txBody>
      </p:sp>
      <p:sp>
        <p:nvSpPr>
          <p:cNvPr id="56" name="Text 54"/>
          <p:cNvSpPr/>
          <p:nvPr/>
        </p:nvSpPr>
        <p:spPr>
          <a:xfrm>
            <a:off x="2185416" y="3803904"/>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Last AD sync timestamp</a:t>
            </a:r>
            <a:endParaRPr lang="en-US" sz="720" dirty="0"/>
          </a:p>
        </p:txBody>
      </p:sp>
      <p:sp>
        <p:nvSpPr>
          <p:cNvPr id="57" name="Shape 55"/>
          <p:cNvSpPr/>
          <p:nvPr/>
        </p:nvSpPr>
        <p:spPr>
          <a:xfrm>
            <a:off x="4572000" y="1700784"/>
            <a:ext cx="4315968" cy="2377440"/>
          </a:xfrm>
          <a:prstGeom prst="rect">
            <a:avLst/>
          </a:prstGeom>
          <a:solidFill>
            <a:srgbClr val="FFFFFF"/>
          </a:solidFill>
          <a:ln/>
          <a:effectLst>
            <a:outerShdw blurRad="101600" dist="38100" dir="8100000" algn="bl" rotWithShape="0">
              <a:srgbClr val="000000">
                <a:alpha val="12000"/>
              </a:srgbClr>
            </a:outerShdw>
          </a:effectLst>
        </p:spPr>
      </p:sp>
      <p:sp>
        <p:nvSpPr>
          <p:cNvPr id="58" name="Shape 56"/>
          <p:cNvSpPr/>
          <p:nvPr/>
        </p:nvSpPr>
        <p:spPr>
          <a:xfrm>
            <a:off x="4572000" y="1700784"/>
            <a:ext cx="4315968" cy="292608"/>
          </a:xfrm>
          <a:prstGeom prst="rect">
            <a:avLst/>
          </a:prstGeom>
          <a:solidFill>
            <a:srgbClr val="E0F2F1"/>
          </a:solidFill>
          <a:ln/>
        </p:spPr>
      </p:sp>
      <p:sp>
        <p:nvSpPr>
          <p:cNvPr id="59" name="Text 57"/>
          <p:cNvSpPr/>
          <p:nvPr/>
        </p:nvSpPr>
        <p:spPr>
          <a:xfrm>
            <a:off x="4663440" y="1700784"/>
            <a:ext cx="4160520" cy="292608"/>
          </a:xfrm>
          <a:prstGeom prst="rect">
            <a:avLst/>
          </a:prstGeom>
          <a:noFill/>
          <a:ln/>
        </p:spPr>
        <p:txBody>
          <a:bodyPr wrap="square" rtlCol="0" anchor="ctr"/>
          <a:lstStyle/>
          <a:p>
            <a:pPr marL="0" indent="0">
              <a:buNone/>
            </a:pPr>
            <a:r>
              <a:rPr lang="en-US" sz="900" b="1" dirty="0">
                <a:solidFill>
                  <a:srgbClr val="009B9E"/>
                </a:solidFill>
                <a:latin typeface="Calibri" pitchFamily="34" charset="0"/>
                <a:ea typeface="Calibri" pitchFamily="34" charset="-122"/>
                <a:cs typeface="Calibri" pitchFamily="34" charset="-120"/>
              </a:rPr>
              <a:t>Why COMPANY NAME Needs This Table — Three Operational Reasons</a:t>
            </a:r>
            <a:endParaRPr lang="en-US" sz="900" dirty="0"/>
          </a:p>
        </p:txBody>
      </p:sp>
      <p:sp>
        <p:nvSpPr>
          <p:cNvPr id="60" name="Shape 58"/>
          <p:cNvSpPr/>
          <p:nvPr/>
        </p:nvSpPr>
        <p:spPr>
          <a:xfrm>
            <a:off x="4626864" y="2048256"/>
            <a:ext cx="4187952" cy="594360"/>
          </a:xfrm>
          <a:prstGeom prst="rect">
            <a:avLst/>
          </a:prstGeom>
          <a:solidFill>
            <a:srgbClr val="FFFFFF"/>
          </a:solidFill>
          <a:ln w="3810">
            <a:solidFill>
              <a:srgbClr val="D0E8E6"/>
            </a:solidFill>
            <a:prstDash val="solid"/>
          </a:ln>
        </p:spPr>
      </p:sp>
      <p:sp>
        <p:nvSpPr>
          <p:cNvPr id="61" name="Text 59"/>
          <p:cNvSpPr/>
          <p:nvPr/>
        </p:nvSpPr>
        <p:spPr>
          <a:xfrm>
            <a:off x="4663440" y="2075688"/>
            <a:ext cx="4114800" cy="182880"/>
          </a:xfrm>
          <a:prstGeom prst="rect">
            <a:avLst/>
          </a:prstGeom>
          <a:noFill/>
          <a:ln/>
        </p:spPr>
        <p:txBody>
          <a:bodyPr wrap="square" rtlCol="0" anchor="ctr"/>
          <a:lstStyle/>
          <a:p>
            <a:pPr marL="0" indent="0">
              <a:buNone/>
            </a:pPr>
            <a:r>
              <a:rPr lang="en-US" sz="900" b="1" dirty="0">
                <a:solidFill>
                  <a:srgbClr val="009B9E"/>
                </a:solidFill>
                <a:latin typeface="Calibri" pitchFamily="34" charset="0"/>
                <a:ea typeface="Calibri" pitchFamily="34" charset="-122"/>
                <a:cs typeface="Calibri" pitchFamily="34" charset="-120"/>
              </a:rPr>
              <a:t>→  IT Ticket Assignment</a:t>
            </a:r>
            <a:endParaRPr lang="en-US" sz="900" dirty="0"/>
          </a:p>
        </p:txBody>
      </p:sp>
      <p:sp>
        <p:nvSpPr>
          <p:cNvPr id="62" name="Text 60"/>
          <p:cNvSpPr/>
          <p:nvPr/>
        </p:nvSpPr>
        <p:spPr>
          <a:xfrm>
            <a:off x="4663440" y="2276856"/>
            <a:ext cx="4114800" cy="32918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COMPANY NAME uses WFUsers to populate the 'Assign To' dropdown in IT Helpdesk. Querying WFUsers returns available agents for assignment. Without this, ticket routing breaks.</a:t>
            </a:r>
            <a:endParaRPr lang="en-US" sz="800" dirty="0"/>
          </a:p>
        </p:txBody>
      </p:sp>
      <p:sp>
        <p:nvSpPr>
          <p:cNvPr id="63" name="Shape 61"/>
          <p:cNvSpPr/>
          <p:nvPr/>
        </p:nvSpPr>
        <p:spPr>
          <a:xfrm>
            <a:off x="4626864" y="2706624"/>
            <a:ext cx="4187952" cy="594360"/>
          </a:xfrm>
          <a:prstGeom prst="rect">
            <a:avLst/>
          </a:prstGeom>
          <a:solidFill>
            <a:srgbClr val="F0FFFE"/>
          </a:solidFill>
          <a:ln w="3810">
            <a:solidFill>
              <a:srgbClr val="D0E8E6"/>
            </a:solidFill>
            <a:prstDash val="solid"/>
          </a:ln>
        </p:spPr>
      </p:sp>
      <p:sp>
        <p:nvSpPr>
          <p:cNvPr id="64" name="Text 62"/>
          <p:cNvSpPr/>
          <p:nvPr/>
        </p:nvSpPr>
        <p:spPr>
          <a:xfrm>
            <a:off x="4663440" y="2734056"/>
            <a:ext cx="4114800" cy="182880"/>
          </a:xfrm>
          <a:prstGeom prst="rect">
            <a:avLst/>
          </a:prstGeom>
          <a:noFill/>
          <a:ln/>
        </p:spPr>
        <p:txBody>
          <a:bodyPr wrap="square" rtlCol="0" anchor="ctr"/>
          <a:lstStyle/>
          <a:p>
            <a:pPr marL="0" indent="0">
              <a:buNone/>
            </a:pPr>
            <a:r>
              <a:rPr lang="en-US" sz="900" b="1" dirty="0">
                <a:solidFill>
                  <a:srgbClr val="009B9E"/>
                </a:solidFill>
                <a:latin typeface="Calibri" pitchFamily="34" charset="0"/>
                <a:ea typeface="Calibri" pitchFamily="34" charset="-122"/>
                <a:cs typeface="Calibri" pitchFamily="34" charset="-120"/>
              </a:rPr>
              <a:t>→  Email Notification Routing</a:t>
            </a:r>
            <a:endParaRPr lang="en-US" sz="900" dirty="0"/>
          </a:p>
        </p:txBody>
      </p:sp>
      <p:sp>
        <p:nvSpPr>
          <p:cNvPr id="65" name="Text 63"/>
          <p:cNvSpPr/>
          <p:nvPr/>
        </p:nvSpPr>
        <p:spPr>
          <a:xfrm>
            <a:off x="4663440" y="2935224"/>
            <a:ext cx="4114800" cy="32918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WEBCON email actions query WFUsers to resolve the recipient's email address from their login name. svc_nonea must read WFU_Email to send ticket notifications.</a:t>
            </a:r>
            <a:endParaRPr lang="en-US" sz="800" dirty="0"/>
          </a:p>
        </p:txBody>
      </p:sp>
      <p:sp>
        <p:nvSpPr>
          <p:cNvPr id="66" name="Shape 64"/>
          <p:cNvSpPr/>
          <p:nvPr/>
        </p:nvSpPr>
        <p:spPr>
          <a:xfrm>
            <a:off x="4626864" y="3364992"/>
            <a:ext cx="4187952" cy="594360"/>
          </a:xfrm>
          <a:prstGeom prst="rect">
            <a:avLst/>
          </a:prstGeom>
          <a:solidFill>
            <a:srgbClr val="FFFFFF"/>
          </a:solidFill>
          <a:ln w="3810">
            <a:solidFill>
              <a:srgbClr val="D0E8E6"/>
            </a:solidFill>
            <a:prstDash val="solid"/>
          </a:ln>
        </p:spPr>
      </p:sp>
      <p:sp>
        <p:nvSpPr>
          <p:cNvPr id="67" name="Text 65"/>
          <p:cNvSpPr/>
          <p:nvPr/>
        </p:nvSpPr>
        <p:spPr>
          <a:xfrm>
            <a:off x="4663440" y="3392424"/>
            <a:ext cx="4114800" cy="182880"/>
          </a:xfrm>
          <a:prstGeom prst="rect">
            <a:avLst/>
          </a:prstGeom>
          <a:noFill/>
          <a:ln/>
        </p:spPr>
        <p:txBody>
          <a:bodyPr wrap="square" rtlCol="0" anchor="ctr"/>
          <a:lstStyle/>
          <a:p>
            <a:pPr marL="0" indent="0">
              <a:buNone/>
            </a:pPr>
            <a:r>
              <a:rPr lang="en-US" sz="900" b="1" dirty="0">
                <a:solidFill>
                  <a:srgbClr val="009B9E"/>
                </a:solidFill>
                <a:latin typeface="Calibri" pitchFamily="34" charset="0"/>
                <a:ea typeface="Calibri" pitchFamily="34" charset="-122"/>
                <a:cs typeface="Calibri" pitchFamily="34" charset="-120"/>
              </a:rPr>
              <a:t>→  Approval Picker Fields</a:t>
            </a:r>
            <a:endParaRPr lang="en-US" sz="900" dirty="0"/>
          </a:p>
        </p:txBody>
      </p:sp>
      <p:sp>
        <p:nvSpPr>
          <p:cNvPr id="68" name="Text 66"/>
          <p:cNvSpPr/>
          <p:nvPr/>
        </p:nvSpPr>
        <p:spPr>
          <a:xfrm>
            <a:off x="4663440" y="3593592"/>
            <a:ext cx="4114800" cy="32918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Procurement and operational approval forms use WFUsers picker fields. The approver list is populated by querying this table filtered by AD group.</a:t>
            </a:r>
            <a:endParaRPr lang="en-US" sz="800" dirty="0"/>
          </a:p>
        </p:txBody>
      </p:sp>
      <p:sp>
        <p:nvSpPr>
          <p:cNvPr id="69" name="Shape 67"/>
          <p:cNvSpPr/>
          <p:nvPr/>
        </p:nvSpPr>
        <p:spPr>
          <a:xfrm>
            <a:off x="274320" y="4151376"/>
            <a:ext cx="8595360" cy="713232"/>
          </a:xfrm>
          <a:prstGeom prst="rect">
            <a:avLst/>
          </a:prstGeom>
          <a:solidFill>
            <a:srgbClr val="FFFFFF"/>
          </a:solidFill>
          <a:ln/>
          <a:effectLst>
            <a:outerShdw blurRad="101600" dist="38100" dir="8100000" algn="bl" rotWithShape="0">
              <a:srgbClr val="000000">
                <a:alpha val="12000"/>
              </a:srgbClr>
            </a:outerShdw>
          </a:effectLst>
        </p:spPr>
      </p:sp>
      <p:sp>
        <p:nvSpPr>
          <p:cNvPr id="70" name="Shape 68"/>
          <p:cNvSpPr/>
          <p:nvPr/>
        </p:nvSpPr>
        <p:spPr>
          <a:xfrm>
            <a:off x="274320" y="4151376"/>
            <a:ext cx="8595360" cy="274320"/>
          </a:xfrm>
          <a:prstGeom prst="rect">
            <a:avLst/>
          </a:prstGeom>
          <a:solidFill>
            <a:srgbClr val="E0F2F1"/>
          </a:solidFill>
          <a:ln/>
        </p:spPr>
      </p:sp>
      <p:sp>
        <p:nvSpPr>
          <p:cNvPr id="71" name="Text 69"/>
          <p:cNvSpPr/>
          <p:nvPr/>
        </p:nvSpPr>
        <p:spPr>
          <a:xfrm>
            <a:off x="365760" y="4151376"/>
            <a:ext cx="8412480" cy="274320"/>
          </a:xfrm>
          <a:prstGeom prst="rect">
            <a:avLst/>
          </a:prstGeom>
          <a:noFill/>
          <a:ln/>
        </p:spPr>
        <p:txBody>
          <a:bodyPr wrap="square" rtlCol="0" anchor="ctr"/>
          <a:lstStyle/>
          <a:p>
            <a:pPr marL="0" indent="0">
              <a:buNone/>
            </a:pPr>
            <a:r>
              <a:rPr lang="en-US" sz="950" b="1" dirty="0">
                <a:solidFill>
                  <a:srgbClr val="009B9E"/>
                </a:solidFill>
                <a:latin typeface="Calibri" pitchFamily="34" charset="0"/>
                <a:ea typeface="Calibri" pitchFamily="34" charset="-122"/>
                <a:cs typeface="Calibri" pitchFamily="34" charset="-120"/>
              </a:rPr>
              <a:t>DDM Strategy — Make Data Usable but Not Identifying</a:t>
            </a:r>
            <a:endParaRPr lang="en-US" sz="950" dirty="0"/>
          </a:p>
        </p:txBody>
      </p:sp>
      <p:sp>
        <p:nvSpPr>
          <p:cNvPr id="72" name="Text 70"/>
          <p:cNvSpPr/>
          <p:nvPr/>
        </p:nvSpPr>
        <p:spPr>
          <a:xfrm>
            <a:off x="365760" y="4462272"/>
            <a:ext cx="2103120" cy="146304"/>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WFU_Login</a:t>
            </a:r>
            <a:endParaRPr lang="en-US" sz="750" dirty="0"/>
          </a:p>
        </p:txBody>
      </p:sp>
      <p:sp>
        <p:nvSpPr>
          <p:cNvPr id="73" name="Text 71"/>
          <p:cNvSpPr/>
          <p:nvPr/>
        </p:nvSpPr>
        <p:spPr>
          <a:xfrm>
            <a:off x="365760" y="4608576"/>
            <a:ext cx="2103120" cy="128016"/>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a.schmidt →</a:t>
            </a:r>
            <a:endParaRPr lang="en-US" sz="700" dirty="0"/>
          </a:p>
        </p:txBody>
      </p:sp>
      <p:sp>
        <p:nvSpPr>
          <p:cNvPr id="74" name="Text 72"/>
          <p:cNvSpPr/>
          <p:nvPr/>
        </p:nvSpPr>
        <p:spPr>
          <a:xfrm>
            <a:off x="365760" y="4736592"/>
            <a:ext cx="2103120" cy="91440"/>
          </a:xfrm>
          <a:prstGeom prst="rect">
            <a:avLst/>
          </a:prstGeom>
          <a:noFill/>
          <a:ln/>
        </p:spPr>
        <p:txBody>
          <a:bodyPr wrap="square" rtlCol="0" anchor="ctr"/>
          <a:lstStyle/>
          <a:p>
            <a:pPr marL="0" indent="0">
              <a:buNone/>
            </a:pPr>
            <a:r>
              <a:rPr lang="en-US" sz="680" dirty="0">
                <a:solidFill>
                  <a:srgbClr val="1B7A4A"/>
                </a:solidFill>
                <a:latin typeface="Calibri" pitchFamily="34" charset="0"/>
                <a:ea typeface="Calibri" pitchFamily="34" charset="-122"/>
                <a:cs typeface="Calibri" pitchFamily="34" charset="-120"/>
              </a:rPr>
              <a:t>a.schmidt (clear — needed for routing)</a:t>
            </a:r>
            <a:endParaRPr lang="en-US" sz="680" dirty="0"/>
          </a:p>
        </p:txBody>
      </p:sp>
      <p:sp>
        <p:nvSpPr>
          <p:cNvPr id="75" name="Text 73"/>
          <p:cNvSpPr/>
          <p:nvPr/>
        </p:nvSpPr>
        <p:spPr>
          <a:xfrm>
            <a:off x="2542032" y="4462272"/>
            <a:ext cx="2103120" cy="146304"/>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WFU_FullName</a:t>
            </a:r>
            <a:endParaRPr lang="en-US" sz="750" dirty="0"/>
          </a:p>
        </p:txBody>
      </p:sp>
      <p:sp>
        <p:nvSpPr>
          <p:cNvPr id="76" name="Text 74"/>
          <p:cNvSpPr/>
          <p:nvPr/>
        </p:nvSpPr>
        <p:spPr>
          <a:xfrm>
            <a:off x="2542032" y="4608576"/>
            <a:ext cx="2103120" cy="128016"/>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Anna Schmidt →</a:t>
            </a:r>
            <a:endParaRPr lang="en-US" sz="700" dirty="0"/>
          </a:p>
        </p:txBody>
      </p:sp>
      <p:sp>
        <p:nvSpPr>
          <p:cNvPr id="77" name="Text 75"/>
          <p:cNvSpPr/>
          <p:nvPr/>
        </p:nvSpPr>
        <p:spPr>
          <a:xfrm>
            <a:off x="2542032" y="4736592"/>
            <a:ext cx="2103120" cy="91440"/>
          </a:xfrm>
          <a:prstGeom prst="rect">
            <a:avLst/>
          </a:prstGeom>
          <a:noFill/>
          <a:ln/>
        </p:spPr>
        <p:txBody>
          <a:bodyPr wrap="square" rtlCol="0" anchor="ctr"/>
          <a:lstStyle/>
          <a:p>
            <a:pPr marL="0" indent="0">
              <a:buNone/>
            </a:pPr>
            <a:r>
              <a:rPr lang="en-US" sz="680" dirty="0">
                <a:solidFill>
                  <a:srgbClr val="E67E22"/>
                </a:solidFill>
                <a:latin typeface="Calibri" pitchFamily="34" charset="0"/>
                <a:ea typeface="Calibri" pitchFamily="34" charset="-122"/>
                <a:cs typeface="Calibri" pitchFamily="34" charset="-120"/>
              </a:rPr>
              <a:t>A*** (partial mask — not identifying)</a:t>
            </a:r>
            <a:endParaRPr lang="en-US" sz="680" dirty="0"/>
          </a:p>
        </p:txBody>
      </p:sp>
      <p:sp>
        <p:nvSpPr>
          <p:cNvPr id="78" name="Text 76"/>
          <p:cNvSpPr/>
          <p:nvPr/>
        </p:nvSpPr>
        <p:spPr>
          <a:xfrm>
            <a:off x="4718304" y="4462272"/>
            <a:ext cx="2103120" cy="146304"/>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WFU_Email</a:t>
            </a:r>
            <a:endParaRPr lang="en-US" sz="750" dirty="0"/>
          </a:p>
        </p:txBody>
      </p:sp>
      <p:sp>
        <p:nvSpPr>
          <p:cNvPr id="79" name="Text 77"/>
          <p:cNvSpPr/>
          <p:nvPr/>
        </p:nvSpPr>
        <p:spPr>
          <a:xfrm>
            <a:off x="4718304" y="4608576"/>
            <a:ext cx="2103120" cy="128016"/>
          </a:xfrm>
          <a:prstGeom prst="rect">
            <a:avLst/>
          </a:prstGeom>
          <a:noFill/>
          <a:ln/>
        </p:spPr>
        <p:txBody>
          <a:bodyPr wrap="square" rtlCol="0" anchor="ctr"/>
          <a:lstStyle/>
          <a:p>
            <a:pPr marL="0" indent="0">
              <a:buNone/>
            </a:pPr>
            <a:r>
              <a:rPr lang="en-US" sz="700" dirty="0" err="1">
                <a:solidFill>
                  <a:srgbClr val="C0392B"/>
                </a:solidFill>
                <a:latin typeface="Calibri" pitchFamily="34" charset="0"/>
                <a:ea typeface="Calibri" pitchFamily="34" charset="-122"/>
                <a:cs typeface="Calibri" pitchFamily="34" charset="-120"/>
              </a:rPr>
              <a:t>a.schmidt@COMPANY</a:t>
            </a:r>
            <a:r>
              <a:rPr lang="en-US" sz="700" dirty="0">
                <a:solidFill>
                  <a:srgbClr val="C0392B"/>
                </a:solidFill>
                <a:latin typeface="Calibri" pitchFamily="34" charset="0"/>
                <a:ea typeface="Calibri" pitchFamily="34" charset="-122"/>
                <a:cs typeface="Calibri" pitchFamily="34" charset="-120"/>
              </a:rPr>
              <a:t> NAME.com →</a:t>
            </a:r>
            <a:endParaRPr lang="en-US" sz="700" dirty="0"/>
          </a:p>
        </p:txBody>
      </p:sp>
      <p:sp>
        <p:nvSpPr>
          <p:cNvPr id="80" name="Text 78"/>
          <p:cNvSpPr/>
          <p:nvPr/>
        </p:nvSpPr>
        <p:spPr>
          <a:xfrm>
            <a:off x="4718304" y="4736592"/>
            <a:ext cx="2103120" cy="91440"/>
          </a:xfrm>
          <a:prstGeom prst="rect">
            <a:avLst/>
          </a:prstGeom>
          <a:noFill/>
          <a:ln/>
        </p:spPr>
        <p:txBody>
          <a:bodyPr wrap="square" rtlCol="0" anchor="ctr"/>
          <a:lstStyle/>
          <a:p>
            <a:pPr marL="0" indent="0">
              <a:buNone/>
            </a:pPr>
            <a:r>
              <a:rPr lang="en-US" sz="680" dirty="0">
                <a:solidFill>
                  <a:srgbClr val="E67E22"/>
                </a:solidFill>
                <a:latin typeface="Calibri" pitchFamily="34" charset="0"/>
                <a:ea typeface="Calibri" pitchFamily="34" charset="-122"/>
                <a:cs typeface="Calibri" pitchFamily="34" charset="-120"/>
              </a:rPr>
              <a:t>a***@XXXXX.com (email mask)</a:t>
            </a:r>
            <a:endParaRPr lang="en-US" sz="680" dirty="0"/>
          </a:p>
        </p:txBody>
      </p:sp>
      <p:sp>
        <p:nvSpPr>
          <p:cNvPr id="81" name="Text 79"/>
          <p:cNvSpPr/>
          <p:nvPr/>
        </p:nvSpPr>
        <p:spPr>
          <a:xfrm>
            <a:off x="6894576" y="4462272"/>
            <a:ext cx="2103120" cy="146304"/>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WFU_Department</a:t>
            </a:r>
            <a:endParaRPr lang="en-US" sz="750" dirty="0"/>
          </a:p>
        </p:txBody>
      </p:sp>
      <p:sp>
        <p:nvSpPr>
          <p:cNvPr id="82" name="Text 80"/>
          <p:cNvSpPr/>
          <p:nvPr/>
        </p:nvSpPr>
        <p:spPr>
          <a:xfrm>
            <a:off x="6894576" y="4608576"/>
            <a:ext cx="2103120" cy="128016"/>
          </a:xfrm>
          <a:prstGeom prst="rect">
            <a:avLst/>
          </a:prstGeom>
          <a:noFill/>
          <a:ln/>
        </p:spPr>
        <p:txBody>
          <a:bodyPr wrap="square" rtlCol="0" anchor="ctr"/>
          <a:lstStyle/>
          <a:p>
            <a:pPr marL="0" indent="0">
              <a:buNone/>
            </a:pPr>
            <a:r>
              <a:rPr lang="en-US" sz="700" dirty="0">
                <a:solidFill>
                  <a:srgbClr val="C0392B"/>
                </a:solidFill>
                <a:latin typeface="Calibri" pitchFamily="34" charset="0"/>
                <a:ea typeface="Calibri" pitchFamily="34" charset="-122"/>
                <a:cs typeface="Calibri" pitchFamily="34" charset="-120"/>
              </a:rPr>
              <a:t>HR - Amsterdam →</a:t>
            </a:r>
            <a:endParaRPr lang="en-US" sz="700" dirty="0"/>
          </a:p>
        </p:txBody>
      </p:sp>
      <p:sp>
        <p:nvSpPr>
          <p:cNvPr id="83" name="Text 81"/>
          <p:cNvSpPr/>
          <p:nvPr/>
        </p:nvSpPr>
        <p:spPr>
          <a:xfrm>
            <a:off x="6894576" y="4736592"/>
            <a:ext cx="2103120" cy="91440"/>
          </a:xfrm>
          <a:prstGeom prst="rect">
            <a:avLst/>
          </a:prstGeom>
          <a:noFill/>
          <a:ln/>
        </p:spPr>
        <p:txBody>
          <a:bodyPr wrap="square" rtlCol="0" anchor="ctr"/>
          <a:lstStyle/>
          <a:p>
            <a:pPr marL="0" indent="0">
              <a:buNone/>
            </a:pPr>
            <a:r>
              <a:rPr lang="en-US" sz="680" dirty="0">
                <a:solidFill>
                  <a:srgbClr val="1B7A4A"/>
                </a:solidFill>
                <a:latin typeface="Calibri" pitchFamily="34" charset="0"/>
                <a:ea typeface="Calibri" pitchFamily="34" charset="-122"/>
                <a:cs typeface="Calibri" pitchFamily="34" charset="-120"/>
              </a:rPr>
              <a:t>HR - Amsterdam (clear — not personal)</a:t>
            </a:r>
            <a:endParaRPr lang="en-US" sz="680" dirty="0"/>
          </a:p>
        </p:txBody>
      </p:sp>
      <p:sp>
        <p:nvSpPr>
          <p:cNvPr id="84" name="Shape 82"/>
          <p:cNvSpPr/>
          <p:nvPr/>
        </p:nvSpPr>
        <p:spPr>
          <a:xfrm>
            <a:off x="0" y="4828032"/>
            <a:ext cx="9144000" cy="315468"/>
          </a:xfrm>
          <a:prstGeom prst="rect">
            <a:avLst/>
          </a:prstGeom>
          <a:solidFill>
            <a:srgbClr val="009B9E"/>
          </a:solidFill>
          <a:ln/>
        </p:spPr>
      </p:sp>
      <p:sp>
        <p:nvSpPr>
          <p:cNvPr id="85" name="Shape 83"/>
          <p:cNvSpPr/>
          <p:nvPr/>
        </p:nvSpPr>
        <p:spPr>
          <a:xfrm>
            <a:off x="502920" y="4919472"/>
            <a:ext cx="18288" cy="128016"/>
          </a:xfrm>
          <a:prstGeom prst="rect">
            <a:avLst/>
          </a:prstGeom>
          <a:solidFill>
            <a:srgbClr val="FFFFFF"/>
          </a:solidFill>
          <a:ln/>
        </p:spPr>
      </p:sp>
      <p:sp>
        <p:nvSpPr>
          <p:cNvPr id="86" name="Text 84"/>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87" name="Text 85"/>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E67E2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WFLogs  —  TABLE STRUCTURE &amp; COLUMN ARCHITECTURE</a:t>
            </a:r>
            <a:endParaRPr lang="en-US" sz="1100" dirty="0"/>
          </a:p>
        </p:txBody>
      </p:sp>
      <p:sp>
        <p:nvSpPr>
          <p:cNvPr id="5" name="Text 3"/>
          <p:cNvSpPr/>
          <p:nvPr/>
        </p:nvSpPr>
        <p:spPr>
          <a:xfrm>
            <a:off x="320040" y="768096"/>
            <a:ext cx="8503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System Operation Log — Engine Actions, Automation Rules &amp; Integration Calls</a:t>
            </a:r>
            <a:endParaRPr lang="en-US" sz="1500" dirty="0"/>
          </a:p>
        </p:txBody>
      </p:sp>
      <p:sp>
        <p:nvSpPr>
          <p:cNvPr id="6" name="Shape 4"/>
          <p:cNvSpPr/>
          <p:nvPr/>
        </p:nvSpPr>
        <p:spPr>
          <a:xfrm>
            <a:off x="274320" y="1170432"/>
            <a:ext cx="8595360" cy="457200"/>
          </a:xfrm>
          <a:prstGeom prst="rect">
            <a:avLst/>
          </a:prstGeom>
          <a:solidFill>
            <a:srgbClr val="FFF3E0"/>
          </a:solidFill>
          <a:ln w="10160">
            <a:solidFill>
              <a:srgbClr val="E67E22"/>
            </a:solidFill>
            <a:prstDash val="solid"/>
          </a:ln>
        </p:spPr>
      </p:sp>
      <p:sp>
        <p:nvSpPr>
          <p:cNvPr id="7" name="Shape 5"/>
          <p:cNvSpPr/>
          <p:nvPr/>
        </p:nvSpPr>
        <p:spPr>
          <a:xfrm>
            <a:off x="274320" y="1170432"/>
            <a:ext cx="91440" cy="457200"/>
          </a:xfrm>
          <a:prstGeom prst="rect">
            <a:avLst/>
          </a:prstGeom>
          <a:solidFill>
            <a:srgbClr val="E67E22"/>
          </a:solidFill>
          <a:ln/>
        </p:spPr>
      </p:sp>
      <p:sp>
        <p:nvSpPr>
          <p:cNvPr id="8" name="Text 6"/>
          <p:cNvSpPr/>
          <p:nvPr/>
        </p:nvSpPr>
        <p:spPr>
          <a:xfrm>
            <a:off x="457200" y="1197864"/>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How it works: Every time the WEBCON workflow engine executes an action — sending an email, running a SQL script, calling a REST API, executing a business rule — it writes a log entry here. The WFL_Message column holds the action's execution details as a free-text string. This column frequently contains PII: email recipients, SQL parameter values, REST request bodies, and raw field values captured on error.</a:t>
            </a:r>
            <a:endParaRPr lang="en-US" sz="950" dirty="0"/>
          </a:p>
        </p:txBody>
      </p:sp>
      <p:sp>
        <p:nvSpPr>
          <p:cNvPr id="9" name="Shape 7"/>
          <p:cNvSpPr/>
          <p:nvPr/>
        </p:nvSpPr>
        <p:spPr>
          <a:xfrm>
            <a:off x="274320" y="1700784"/>
            <a:ext cx="4023360" cy="228600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00784"/>
            <a:ext cx="4023360" cy="292608"/>
          </a:xfrm>
          <a:prstGeom prst="rect">
            <a:avLst/>
          </a:prstGeom>
          <a:solidFill>
            <a:srgbClr val="FFF3E0"/>
          </a:solidFill>
          <a:ln/>
        </p:spPr>
      </p:sp>
      <p:sp>
        <p:nvSpPr>
          <p:cNvPr id="11" name="Text 9"/>
          <p:cNvSpPr/>
          <p:nvPr/>
        </p:nvSpPr>
        <p:spPr>
          <a:xfrm>
            <a:off x="365760" y="1700784"/>
            <a:ext cx="3886200" cy="292608"/>
          </a:xfrm>
          <a:prstGeom prst="rect">
            <a:avLst/>
          </a:prstGeom>
          <a:noFill/>
          <a:ln/>
        </p:spPr>
        <p:txBody>
          <a:bodyPr wrap="square" rtlCol="0" anchor="ctr"/>
          <a:lstStyle/>
          <a:p>
            <a:pPr marL="0" indent="0">
              <a:buNone/>
            </a:pPr>
            <a:r>
              <a:rPr lang="en-US" sz="900" b="1" dirty="0">
                <a:solidFill>
                  <a:srgbClr val="E67E22"/>
                </a:solidFill>
                <a:latin typeface="Calibri" pitchFamily="34" charset="0"/>
                <a:ea typeface="Calibri" pitchFamily="34" charset="-122"/>
                <a:cs typeface="Calibri" pitchFamily="34" charset="-120"/>
              </a:rPr>
              <a:t>Column Schema</a:t>
            </a:r>
            <a:endParaRPr lang="en-US" sz="900" dirty="0"/>
          </a:p>
        </p:txBody>
      </p:sp>
      <p:sp>
        <p:nvSpPr>
          <p:cNvPr id="12" name="Shape 10"/>
          <p:cNvSpPr/>
          <p:nvPr/>
        </p:nvSpPr>
        <p:spPr>
          <a:xfrm>
            <a:off x="320040" y="2048256"/>
            <a:ext cx="3913632" cy="192024"/>
          </a:xfrm>
          <a:prstGeom prst="rect">
            <a:avLst/>
          </a:prstGeom>
          <a:solidFill>
            <a:srgbClr val="FFFFFF"/>
          </a:solidFill>
          <a:ln/>
        </p:spPr>
      </p:sp>
      <p:sp>
        <p:nvSpPr>
          <p:cNvPr id="13" name="Shape 11"/>
          <p:cNvSpPr/>
          <p:nvPr/>
        </p:nvSpPr>
        <p:spPr>
          <a:xfrm>
            <a:off x="320040" y="2048256"/>
            <a:ext cx="566928" cy="192024"/>
          </a:xfrm>
          <a:prstGeom prst="rect">
            <a:avLst/>
          </a:prstGeom>
          <a:solidFill>
            <a:srgbClr val="FFF8E1"/>
          </a:solidFill>
          <a:ln/>
        </p:spPr>
      </p:sp>
      <p:sp>
        <p:nvSpPr>
          <p:cNvPr id="14" name="Text 12"/>
          <p:cNvSpPr/>
          <p:nvPr/>
        </p:nvSpPr>
        <p:spPr>
          <a:xfrm>
            <a:off x="320040" y="2048256"/>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INT PK</a:t>
            </a:r>
            <a:endParaRPr lang="en-US" sz="580" dirty="0"/>
          </a:p>
        </p:txBody>
      </p:sp>
      <p:sp>
        <p:nvSpPr>
          <p:cNvPr id="15" name="Text 13"/>
          <p:cNvSpPr/>
          <p:nvPr/>
        </p:nvSpPr>
        <p:spPr>
          <a:xfrm>
            <a:off x="905256" y="204825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WFL_ID</a:t>
            </a:r>
            <a:endParaRPr lang="en-US" sz="700" dirty="0"/>
          </a:p>
        </p:txBody>
      </p:sp>
      <p:sp>
        <p:nvSpPr>
          <p:cNvPr id="16" name="Text 14"/>
          <p:cNvSpPr/>
          <p:nvPr/>
        </p:nvSpPr>
        <p:spPr>
          <a:xfrm>
            <a:off x="2185416" y="204825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Unique log entry ID</a:t>
            </a:r>
            <a:endParaRPr lang="en-US" sz="720" dirty="0"/>
          </a:p>
        </p:txBody>
      </p:sp>
      <p:sp>
        <p:nvSpPr>
          <p:cNvPr id="17" name="Shape 15"/>
          <p:cNvSpPr/>
          <p:nvPr/>
        </p:nvSpPr>
        <p:spPr>
          <a:xfrm>
            <a:off x="320040" y="2263140"/>
            <a:ext cx="3913632" cy="192024"/>
          </a:xfrm>
          <a:prstGeom prst="rect">
            <a:avLst/>
          </a:prstGeom>
          <a:solidFill>
            <a:srgbClr val="F8FAFC"/>
          </a:solidFill>
          <a:ln/>
        </p:spPr>
      </p:sp>
      <p:sp>
        <p:nvSpPr>
          <p:cNvPr id="18" name="Shape 16"/>
          <p:cNvSpPr/>
          <p:nvPr/>
        </p:nvSpPr>
        <p:spPr>
          <a:xfrm>
            <a:off x="320040" y="2263140"/>
            <a:ext cx="566928" cy="192024"/>
          </a:xfrm>
          <a:prstGeom prst="rect">
            <a:avLst/>
          </a:prstGeom>
          <a:solidFill>
            <a:srgbClr val="FFF8E1"/>
          </a:solidFill>
          <a:ln/>
        </p:spPr>
      </p:sp>
      <p:sp>
        <p:nvSpPr>
          <p:cNvPr id="19" name="Text 17"/>
          <p:cNvSpPr/>
          <p:nvPr/>
        </p:nvSpPr>
        <p:spPr>
          <a:xfrm>
            <a:off x="320040" y="2263140"/>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INT FK</a:t>
            </a:r>
            <a:endParaRPr lang="en-US" sz="580" dirty="0"/>
          </a:p>
        </p:txBody>
      </p:sp>
      <p:sp>
        <p:nvSpPr>
          <p:cNvPr id="20" name="Text 18"/>
          <p:cNvSpPr/>
          <p:nvPr/>
        </p:nvSpPr>
        <p:spPr>
          <a:xfrm>
            <a:off x="905256" y="2263140"/>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WFL_WFDID</a:t>
            </a:r>
            <a:endParaRPr lang="en-US" sz="700" dirty="0"/>
          </a:p>
        </p:txBody>
      </p:sp>
      <p:sp>
        <p:nvSpPr>
          <p:cNvPr id="21" name="Text 19"/>
          <p:cNvSpPr/>
          <p:nvPr/>
        </p:nvSpPr>
        <p:spPr>
          <a:xfrm>
            <a:off x="2185416" y="2263140"/>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Parent WFElements.WFD_ID</a:t>
            </a:r>
            <a:endParaRPr lang="en-US" sz="720" dirty="0"/>
          </a:p>
        </p:txBody>
      </p:sp>
      <p:sp>
        <p:nvSpPr>
          <p:cNvPr id="22" name="Shape 20"/>
          <p:cNvSpPr/>
          <p:nvPr/>
        </p:nvSpPr>
        <p:spPr>
          <a:xfrm>
            <a:off x="320040" y="2478024"/>
            <a:ext cx="3913632" cy="192024"/>
          </a:xfrm>
          <a:prstGeom prst="rect">
            <a:avLst/>
          </a:prstGeom>
          <a:solidFill>
            <a:srgbClr val="FFFFFF"/>
          </a:solidFill>
          <a:ln/>
        </p:spPr>
      </p:sp>
      <p:sp>
        <p:nvSpPr>
          <p:cNvPr id="23" name="Shape 21"/>
          <p:cNvSpPr/>
          <p:nvPr/>
        </p:nvSpPr>
        <p:spPr>
          <a:xfrm>
            <a:off x="320040" y="2478024"/>
            <a:ext cx="566928" cy="192024"/>
          </a:xfrm>
          <a:prstGeom prst="rect">
            <a:avLst/>
          </a:prstGeom>
          <a:solidFill>
            <a:srgbClr val="FFF8E1"/>
          </a:solidFill>
          <a:ln/>
        </p:spPr>
      </p:sp>
      <p:sp>
        <p:nvSpPr>
          <p:cNvPr id="24" name="Text 22"/>
          <p:cNvSpPr/>
          <p:nvPr/>
        </p:nvSpPr>
        <p:spPr>
          <a:xfrm>
            <a:off x="320040" y="2478024"/>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INT</a:t>
            </a:r>
            <a:endParaRPr lang="en-US" sz="580" dirty="0"/>
          </a:p>
        </p:txBody>
      </p:sp>
      <p:sp>
        <p:nvSpPr>
          <p:cNvPr id="25" name="Text 23"/>
          <p:cNvSpPr/>
          <p:nvPr/>
        </p:nvSpPr>
        <p:spPr>
          <a:xfrm>
            <a:off x="905256" y="2478024"/>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WFL_FormType_ID</a:t>
            </a:r>
            <a:endParaRPr lang="en-US" sz="700" dirty="0"/>
          </a:p>
        </p:txBody>
      </p:sp>
      <p:sp>
        <p:nvSpPr>
          <p:cNvPr id="26" name="Text 24"/>
          <p:cNvSpPr/>
          <p:nvPr/>
        </p:nvSpPr>
        <p:spPr>
          <a:xfrm>
            <a:off x="2185416" y="2478024"/>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Process ID — key field for RLS</a:t>
            </a:r>
            <a:endParaRPr lang="en-US" sz="720" dirty="0"/>
          </a:p>
        </p:txBody>
      </p:sp>
      <p:sp>
        <p:nvSpPr>
          <p:cNvPr id="27" name="Shape 25"/>
          <p:cNvSpPr/>
          <p:nvPr/>
        </p:nvSpPr>
        <p:spPr>
          <a:xfrm>
            <a:off x="320040" y="2692908"/>
            <a:ext cx="3913632" cy="192024"/>
          </a:xfrm>
          <a:prstGeom prst="rect">
            <a:avLst/>
          </a:prstGeom>
          <a:solidFill>
            <a:srgbClr val="F8FAFC"/>
          </a:solidFill>
          <a:ln/>
        </p:spPr>
      </p:sp>
      <p:sp>
        <p:nvSpPr>
          <p:cNvPr id="28" name="Shape 26"/>
          <p:cNvSpPr/>
          <p:nvPr/>
        </p:nvSpPr>
        <p:spPr>
          <a:xfrm>
            <a:off x="320040" y="2692908"/>
            <a:ext cx="566928" cy="192024"/>
          </a:xfrm>
          <a:prstGeom prst="rect">
            <a:avLst/>
          </a:prstGeom>
          <a:solidFill>
            <a:srgbClr val="FFF8E1"/>
          </a:solidFill>
          <a:ln/>
        </p:spPr>
      </p:sp>
      <p:sp>
        <p:nvSpPr>
          <p:cNvPr id="29" name="Text 27"/>
          <p:cNvSpPr/>
          <p:nvPr/>
        </p:nvSpPr>
        <p:spPr>
          <a:xfrm>
            <a:off x="320040" y="2692908"/>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NVARCHAR(50)</a:t>
            </a:r>
            <a:endParaRPr lang="en-US" sz="580" dirty="0"/>
          </a:p>
        </p:txBody>
      </p:sp>
      <p:sp>
        <p:nvSpPr>
          <p:cNvPr id="30" name="Text 28"/>
          <p:cNvSpPr/>
          <p:nvPr/>
        </p:nvSpPr>
        <p:spPr>
          <a:xfrm>
            <a:off x="905256" y="2692908"/>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WFL_ActionType</a:t>
            </a:r>
            <a:endParaRPr lang="en-US" sz="700" dirty="0"/>
          </a:p>
        </p:txBody>
      </p:sp>
      <p:sp>
        <p:nvSpPr>
          <p:cNvPr id="31" name="Text 29"/>
          <p:cNvSpPr/>
          <p:nvPr/>
        </p:nvSpPr>
        <p:spPr>
          <a:xfrm>
            <a:off x="2185416" y="2692908"/>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Email / SQL / REST / BizRule etc.</a:t>
            </a:r>
            <a:endParaRPr lang="en-US" sz="720" dirty="0"/>
          </a:p>
        </p:txBody>
      </p:sp>
      <p:sp>
        <p:nvSpPr>
          <p:cNvPr id="32" name="Shape 30"/>
          <p:cNvSpPr/>
          <p:nvPr/>
        </p:nvSpPr>
        <p:spPr>
          <a:xfrm>
            <a:off x="320040" y="2907792"/>
            <a:ext cx="3913632" cy="192024"/>
          </a:xfrm>
          <a:prstGeom prst="rect">
            <a:avLst/>
          </a:prstGeom>
          <a:solidFill>
            <a:srgbClr val="FFFFFF"/>
          </a:solidFill>
          <a:ln/>
        </p:spPr>
      </p:sp>
      <p:sp>
        <p:nvSpPr>
          <p:cNvPr id="33" name="Shape 31"/>
          <p:cNvSpPr/>
          <p:nvPr/>
        </p:nvSpPr>
        <p:spPr>
          <a:xfrm>
            <a:off x="320040" y="2907792"/>
            <a:ext cx="566928" cy="192024"/>
          </a:xfrm>
          <a:prstGeom prst="rect">
            <a:avLst/>
          </a:prstGeom>
          <a:solidFill>
            <a:srgbClr val="FFF8E1"/>
          </a:solidFill>
          <a:ln/>
        </p:spPr>
      </p:sp>
      <p:sp>
        <p:nvSpPr>
          <p:cNvPr id="34" name="Text 32"/>
          <p:cNvSpPr/>
          <p:nvPr/>
        </p:nvSpPr>
        <p:spPr>
          <a:xfrm>
            <a:off x="320040" y="2907792"/>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NVARCHAR(200)</a:t>
            </a:r>
            <a:endParaRPr lang="en-US" sz="580" dirty="0"/>
          </a:p>
        </p:txBody>
      </p:sp>
      <p:sp>
        <p:nvSpPr>
          <p:cNvPr id="35" name="Text 33"/>
          <p:cNvSpPr/>
          <p:nvPr/>
        </p:nvSpPr>
        <p:spPr>
          <a:xfrm>
            <a:off x="905256" y="2907792"/>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WFL_ActionName</a:t>
            </a:r>
            <a:endParaRPr lang="en-US" sz="700" dirty="0"/>
          </a:p>
        </p:txBody>
      </p:sp>
      <p:sp>
        <p:nvSpPr>
          <p:cNvPr id="36" name="Text 34"/>
          <p:cNvSpPr/>
          <p:nvPr/>
        </p:nvSpPr>
        <p:spPr>
          <a:xfrm>
            <a:off x="2185416" y="2907792"/>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Name configured in Designer Studio</a:t>
            </a:r>
            <a:endParaRPr lang="en-US" sz="720" dirty="0"/>
          </a:p>
        </p:txBody>
      </p:sp>
      <p:sp>
        <p:nvSpPr>
          <p:cNvPr id="37" name="Shape 35"/>
          <p:cNvSpPr/>
          <p:nvPr/>
        </p:nvSpPr>
        <p:spPr>
          <a:xfrm>
            <a:off x="320040" y="3122676"/>
            <a:ext cx="3913632" cy="192024"/>
          </a:xfrm>
          <a:prstGeom prst="rect">
            <a:avLst/>
          </a:prstGeom>
          <a:solidFill>
            <a:srgbClr val="F8FAFC"/>
          </a:solidFill>
          <a:ln/>
        </p:spPr>
      </p:sp>
      <p:sp>
        <p:nvSpPr>
          <p:cNvPr id="38" name="Shape 36"/>
          <p:cNvSpPr/>
          <p:nvPr/>
        </p:nvSpPr>
        <p:spPr>
          <a:xfrm>
            <a:off x="320040" y="3122676"/>
            <a:ext cx="566928" cy="192024"/>
          </a:xfrm>
          <a:prstGeom prst="rect">
            <a:avLst/>
          </a:prstGeom>
          <a:solidFill>
            <a:srgbClr val="FFF8E1"/>
          </a:solidFill>
          <a:ln/>
        </p:spPr>
      </p:sp>
      <p:sp>
        <p:nvSpPr>
          <p:cNvPr id="39" name="Text 37"/>
          <p:cNvSpPr/>
          <p:nvPr/>
        </p:nvSpPr>
        <p:spPr>
          <a:xfrm>
            <a:off x="320040" y="3122676"/>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NVARCHAR(20)</a:t>
            </a:r>
            <a:endParaRPr lang="en-US" sz="580" dirty="0"/>
          </a:p>
        </p:txBody>
      </p:sp>
      <p:sp>
        <p:nvSpPr>
          <p:cNvPr id="40" name="Text 38"/>
          <p:cNvSpPr/>
          <p:nvPr/>
        </p:nvSpPr>
        <p:spPr>
          <a:xfrm>
            <a:off x="905256" y="3122676"/>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WFL_Status</a:t>
            </a:r>
            <a:endParaRPr lang="en-US" sz="700" dirty="0"/>
          </a:p>
        </p:txBody>
      </p:sp>
      <p:sp>
        <p:nvSpPr>
          <p:cNvPr id="41" name="Text 39"/>
          <p:cNvSpPr/>
          <p:nvPr/>
        </p:nvSpPr>
        <p:spPr>
          <a:xfrm>
            <a:off x="2185416" y="3122676"/>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Success / Error / Warning</a:t>
            </a:r>
            <a:endParaRPr lang="en-US" sz="720" dirty="0"/>
          </a:p>
        </p:txBody>
      </p:sp>
      <p:sp>
        <p:nvSpPr>
          <p:cNvPr id="42" name="Shape 40"/>
          <p:cNvSpPr/>
          <p:nvPr/>
        </p:nvSpPr>
        <p:spPr>
          <a:xfrm>
            <a:off x="320040" y="3337560"/>
            <a:ext cx="3913632" cy="192024"/>
          </a:xfrm>
          <a:prstGeom prst="rect">
            <a:avLst/>
          </a:prstGeom>
          <a:solidFill>
            <a:srgbClr val="FFF0F0"/>
          </a:solidFill>
          <a:ln/>
        </p:spPr>
      </p:sp>
      <p:sp>
        <p:nvSpPr>
          <p:cNvPr id="43" name="Shape 41"/>
          <p:cNvSpPr/>
          <p:nvPr/>
        </p:nvSpPr>
        <p:spPr>
          <a:xfrm>
            <a:off x="320040" y="3337560"/>
            <a:ext cx="566928" cy="192024"/>
          </a:xfrm>
          <a:prstGeom prst="rect">
            <a:avLst/>
          </a:prstGeom>
          <a:solidFill>
            <a:srgbClr val="FFEBEE"/>
          </a:solidFill>
          <a:ln/>
        </p:spPr>
      </p:sp>
      <p:sp>
        <p:nvSpPr>
          <p:cNvPr id="44" name="Text 42"/>
          <p:cNvSpPr/>
          <p:nvPr/>
        </p:nvSpPr>
        <p:spPr>
          <a:xfrm>
            <a:off x="320040" y="3337560"/>
            <a:ext cx="566928" cy="192024"/>
          </a:xfrm>
          <a:prstGeom prst="rect">
            <a:avLst/>
          </a:prstGeom>
          <a:noFill/>
          <a:ln/>
        </p:spPr>
        <p:txBody>
          <a:bodyPr wrap="square" rtlCol="0" anchor="ctr"/>
          <a:lstStyle/>
          <a:p>
            <a:pPr marL="0" indent="0" algn="ctr">
              <a:buNone/>
            </a:pPr>
            <a:r>
              <a:rPr lang="en-US" sz="580" b="1" dirty="0">
                <a:solidFill>
                  <a:srgbClr val="C0392B"/>
                </a:solidFill>
                <a:latin typeface="Calibri" pitchFamily="34" charset="0"/>
                <a:ea typeface="Calibri" pitchFamily="34" charset="-122"/>
                <a:cs typeface="Calibri" pitchFamily="34" charset="-120"/>
              </a:rPr>
              <a:t>NVARCHAR(MAX)</a:t>
            </a:r>
            <a:endParaRPr lang="en-US" sz="580" dirty="0"/>
          </a:p>
        </p:txBody>
      </p:sp>
      <p:sp>
        <p:nvSpPr>
          <p:cNvPr id="45" name="Text 43"/>
          <p:cNvSpPr/>
          <p:nvPr/>
        </p:nvSpPr>
        <p:spPr>
          <a:xfrm>
            <a:off x="905256" y="3337560"/>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WFL_Message</a:t>
            </a:r>
            <a:endParaRPr lang="en-US" sz="700" dirty="0"/>
          </a:p>
        </p:txBody>
      </p:sp>
      <p:sp>
        <p:nvSpPr>
          <p:cNvPr id="46" name="Text 44"/>
          <p:cNvSpPr/>
          <p:nvPr/>
        </p:nvSpPr>
        <p:spPr>
          <a:xfrm>
            <a:off x="2185416" y="3337560"/>
            <a:ext cx="1993392" cy="192024"/>
          </a:xfrm>
          <a:prstGeom prst="rect">
            <a:avLst/>
          </a:prstGeom>
          <a:noFill/>
          <a:ln/>
        </p:spPr>
        <p:txBody>
          <a:bodyPr wrap="square" rtlCol="0" anchor="ctr"/>
          <a:lstStyle/>
          <a:p>
            <a:pPr marL="0" indent="0">
              <a:buNone/>
            </a:pPr>
            <a:r>
              <a:rPr lang="en-US" sz="720" dirty="0">
                <a:solidFill>
                  <a:srgbClr val="C0392B"/>
                </a:solidFill>
                <a:latin typeface="Calibri" pitchFamily="34" charset="0"/>
                <a:ea typeface="Calibri" pitchFamily="34" charset="-122"/>
                <a:cs typeface="Calibri" pitchFamily="34" charset="-120"/>
              </a:rPr>
              <a:t>Execution detail — may contain PII</a:t>
            </a:r>
            <a:endParaRPr lang="en-US" sz="720" dirty="0"/>
          </a:p>
        </p:txBody>
      </p:sp>
      <p:sp>
        <p:nvSpPr>
          <p:cNvPr id="47" name="Shape 45"/>
          <p:cNvSpPr/>
          <p:nvPr/>
        </p:nvSpPr>
        <p:spPr>
          <a:xfrm>
            <a:off x="320040" y="3552444"/>
            <a:ext cx="3913632" cy="192024"/>
          </a:xfrm>
          <a:prstGeom prst="rect">
            <a:avLst/>
          </a:prstGeom>
          <a:solidFill>
            <a:srgbClr val="F8FAFC"/>
          </a:solidFill>
          <a:ln/>
        </p:spPr>
      </p:sp>
      <p:sp>
        <p:nvSpPr>
          <p:cNvPr id="48" name="Shape 46"/>
          <p:cNvSpPr/>
          <p:nvPr/>
        </p:nvSpPr>
        <p:spPr>
          <a:xfrm>
            <a:off x="320040" y="3552444"/>
            <a:ext cx="566928" cy="192024"/>
          </a:xfrm>
          <a:prstGeom prst="rect">
            <a:avLst/>
          </a:prstGeom>
          <a:solidFill>
            <a:srgbClr val="FFF8E1"/>
          </a:solidFill>
          <a:ln/>
        </p:spPr>
      </p:sp>
      <p:sp>
        <p:nvSpPr>
          <p:cNvPr id="49" name="Text 47"/>
          <p:cNvSpPr/>
          <p:nvPr/>
        </p:nvSpPr>
        <p:spPr>
          <a:xfrm>
            <a:off x="320040" y="3552444"/>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DATETIME</a:t>
            </a:r>
            <a:endParaRPr lang="en-US" sz="580" dirty="0"/>
          </a:p>
        </p:txBody>
      </p:sp>
      <p:sp>
        <p:nvSpPr>
          <p:cNvPr id="50" name="Text 48"/>
          <p:cNvSpPr/>
          <p:nvPr/>
        </p:nvSpPr>
        <p:spPr>
          <a:xfrm>
            <a:off x="905256" y="3552444"/>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WFL_Timestamp</a:t>
            </a:r>
            <a:endParaRPr lang="en-US" sz="700" dirty="0"/>
          </a:p>
        </p:txBody>
      </p:sp>
      <p:sp>
        <p:nvSpPr>
          <p:cNvPr id="51" name="Text 49"/>
          <p:cNvSpPr/>
          <p:nvPr/>
        </p:nvSpPr>
        <p:spPr>
          <a:xfrm>
            <a:off x="2185416" y="3552444"/>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When action was executed</a:t>
            </a:r>
            <a:endParaRPr lang="en-US" sz="720" dirty="0"/>
          </a:p>
        </p:txBody>
      </p:sp>
      <p:sp>
        <p:nvSpPr>
          <p:cNvPr id="52" name="Shape 50"/>
          <p:cNvSpPr/>
          <p:nvPr/>
        </p:nvSpPr>
        <p:spPr>
          <a:xfrm>
            <a:off x="320040" y="3767328"/>
            <a:ext cx="3913632" cy="192024"/>
          </a:xfrm>
          <a:prstGeom prst="rect">
            <a:avLst/>
          </a:prstGeom>
          <a:solidFill>
            <a:srgbClr val="FFFFFF"/>
          </a:solidFill>
          <a:ln/>
        </p:spPr>
      </p:sp>
      <p:sp>
        <p:nvSpPr>
          <p:cNvPr id="53" name="Shape 51"/>
          <p:cNvSpPr/>
          <p:nvPr/>
        </p:nvSpPr>
        <p:spPr>
          <a:xfrm>
            <a:off x="320040" y="3767328"/>
            <a:ext cx="566928" cy="192024"/>
          </a:xfrm>
          <a:prstGeom prst="rect">
            <a:avLst/>
          </a:prstGeom>
          <a:solidFill>
            <a:srgbClr val="FFF8E1"/>
          </a:solidFill>
          <a:ln/>
        </p:spPr>
      </p:sp>
      <p:sp>
        <p:nvSpPr>
          <p:cNvPr id="54" name="Text 52"/>
          <p:cNvSpPr/>
          <p:nvPr/>
        </p:nvSpPr>
        <p:spPr>
          <a:xfrm>
            <a:off x="320040" y="3767328"/>
            <a:ext cx="566928" cy="192024"/>
          </a:xfrm>
          <a:prstGeom prst="rect">
            <a:avLst/>
          </a:prstGeom>
          <a:noFill/>
          <a:ln/>
        </p:spPr>
        <p:txBody>
          <a:bodyPr wrap="square" rtlCol="0" anchor="ctr"/>
          <a:lstStyle/>
          <a:p>
            <a:pPr marL="0" indent="0" algn="ctr">
              <a:buNone/>
            </a:pPr>
            <a:r>
              <a:rPr lang="en-US" sz="580" b="1" dirty="0">
                <a:solidFill>
                  <a:srgbClr val="E67E22"/>
                </a:solidFill>
                <a:latin typeface="Calibri" pitchFamily="34" charset="0"/>
                <a:ea typeface="Calibri" pitchFamily="34" charset="-122"/>
                <a:cs typeface="Calibri" pitchFamily="34" charset="-120"/>
              </a:rPr>
              <a:t>NVARCHAR(50)</a:t>
            </a:r>
            <a:endParaRPr lang="en-US" sz="580" dirty="0"/>
          </a:p>
        </p:txBody>
      </p:sp>
      <p:sp>
        <p:nvSpPr>
          <p:cNvPr id="55" name="Text 53"/>
          <p:cNvSpPr/>
          <p:nvPr/>
        </p:nvSpPr>
        <p:spPr>
          <a:xfrm>
            <a:off x="905256" y="3767328"/>
            <a:ext cx="1261872" cy="192024"/>
          </a:xfrm>
          <a:prstGeom prst="rect">
            <a:avLst/>
          </a:prstGeom>
          <a:noFill/>
          <a:ln/>
        </p:spPr>
        <p:txBody>
          <a:bodyPr wrap="square" rtlCol="0" anchor="ctr"/>
          <a:lstStyle/>
          <a:p>
            <a:pPr marL="0" indent="0">
              <a:buNone/>
            </a:pPr>
            <a:r>
              <a:rPr lang="en-US" sz="700" dirty="0">
                <a:solidFill>
                  <a:srgbClr val="334466"/>
                </a:solidFill>
                <a:latin typeface="Consolas" pitchFamily="34" charset="0"/>
                <a:ea typeface="Consolas" pitchFamily="34" charset="-122"/>
                <a:cs typeface="Consolas" pitchFamily="34" charset="-120"/>
              </a:rPr>
              <a:t>WFL_User</a:t>
            </a:r>
            <a:endParaRPr lang="en-US" sz="700" dirty="0"/>
          </a:p>
        </p:txBody>
      </p:sp>
      <p:sp>
        <p:nvSpPr>
          <p:cNvPr id="56" name="Text 54"/>
          <p:cNvSpPr/>
          <p:nvPr/>
        </p:nvSpPr>
        <p:spPr>
          <a:xfrm>
            <a:off x="2185416" y="3767328"/>
            <a:ext cx="1993392" cy="192024"/>
          </a:xfrm>
          <a:prstGeom prst="rect">
            <a:avLst/>
          </a:prstGeom>
          <a:noFill/>
          <a:ln/>
        </p:spPr>
        <p:txBody>
          <a:bodyPr wrap="square" rtlCol="0" anchor="ctr"/>
          <a:lstStyle/>
          <a:p>
            <a:pPr marL="0" indent="0">
              <a:buNone/>
            </a:pPr>
            <a:r>
              <a:rPr lang="en-US" sz="720" dirty="0">
                <a:solidFill>
                  <a:srgbClr val="6B7C93"/>
                </a:solidFill>
                <a:latin typeface="Calibri" pitchFamily="34" charset="0"/>
                <a:ea typeface="Calibri" pitchFamily="34" charset="-122"/>
                <a:cs typeface="Calibri" pitchFamily="34" charset="-120"/>
              </a:rPr>
              <a:t>Login who triggered the workflow</a:t>
            </a:r>
            <a:endParaRPr lang="en-US" sz="720" dirty="0"/>
          </a:p>
        </p:txBody>
      </p:sp>
      <p:sp>
        <p:nvSpPr>
          <p:cNvPr id="57" name="Shape 55"/>
          <p:cNvSpPr/>
          <p:nvPr/>
        </p:nvSpPr>
        <p:spPr>
          <a:xfrm>
            <a:off x="4572000" y="1700784"/>
            <a:ext cx="4315968" cy="2286000"/>
          </a:xfrm>
          <a:prstGeom prst="rect">
            <a:avLst/>
          </a:prstGeom>
          <a:solidFill>
            <a:srgbClr val="FFFFFF"/>
          </a:solidFill>
          <a:ln/>
          <a:effectLst>
            <a:outerShdw blurRad="101600" dist="38100" dir="8100000" algn="bl" rotWithShape="0">
              <a:srgbClr val="000000">
                <a:alpha val="12000"/>
              </a:srgbClr>
            </a:outerShdw>
          </a:effectLst>
        </p:spPr>
      </p:sp>
      <p:sp>
        <p:nvSpPr>
          <p:cNvPr id="58" name="Shape 56"/>
          <p:cNvSpPr/>
          <p:nvPr/>
        </p:nvSpPr>
        <p:spPr>
          <a:xfrm>
            <a:off x="4572000" y="1700784"/>
            <a:ext cx="4315968" cy="292608"/>
          </a:xfrm>
          <a:prstGeom prst="rect">
            <a:avLst/>
          </a:prstGeom>
          <a:solidFill>
            <a:srgbClr val="FFF3E0"/>
          </a:solidFill>
          <a:ln/>
        </p:spPr>
      </p:sp>
      <p:sp>
        <p:nvSpPr>
          <p:cNvPr id="59" name="Text 57"/>
          <p:cNvSpPr/>
          <p:nvPr/>
        </p:nvSpPr>
        <p:spPr>
          <a:xfrm>
            <a:off x="4663440" y="1700784"/>
            <a:ext cx="4160520" cy="292608"/>
          </a:xfrm>
          <a:prstGeom prst="rect">
            <a:avLst/>
          </a:prstGeom>
          <a:noFill/>
          <a:ln/>
        </p:spPr>
        <p:txBody>
          <a:bodyPr wrap="square" rtlCol="0" anchor="ctr"/>
          <a:lstStyle/>
          <a:p>
            <a:pPr marL="0" indent="0">
              <a:buNone/>
            </a:pPr>
            <a:r>
              <a:rPr lang="en-US" sz="900" b="1" dirty="0">
                <a:solidFill>
                  <a:srgbClr val="E67E22"/>
                </a:solidFill>
                <a:latin typeface="Calibri" pitchFamily="34" charset="0"/>
                <a:ea typeface="Calibri" pitchFamily="34" charset="-122"/>
                <a:cs typeface="Calibri" pitchFamily="34" charset="-120"/>
              </a:rPr>
              <a:t>WFL_Message Contents — Four Action Type Examples</a:t>
            </a:r>
            <a:endParaRPr lang="en-US" sz="900" dirty="0"/>
          </a:p>
        </p:txBody>
      </p:sp>
      <p:sp>
        <p:nvSpPr>
          <p:cNvPr id="60" name="Shape 58"/>
          <p:cNvSpPr/>
          <p:nvPr/>
        </p:nvSpPr>
        <p:spPr>
          <a:xfrm>
            <a:off x="4626864" y="2048256"/>
            <a:ext cx="4187952" cy="347472"/>
          </a:xfrm>
          <a:prstGeom prst="rect">
            <a:avLst/>
          </a:prstGeom>
          <a:solidFill>
            <a:srgbClr val="FFF0F0"/>
          </a:solidFill>
          <a:ln w="3810">
            <a:solidFill>
              <a:srgbClr val="E0E0E0"/>
            </a:solidFill>
            <a:prstDash val="solid"/>
          </a:ln>
        </p:spPr>
      </p:sp>
      <p:sp>
        <p:nvSpPr>
          <p:cNvPr id="61" name="Text 59"/>
          <p:cNvSpPr/>
          <p:nvPr/>
        </p:nvSpPr>
        <p:spPr>
          <a:xfrm>
            <a:off x="4663440" y="2057400"/>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Email Action: 🔴 Email</a:t>
            </a:r>
            <a:endParaRPr lang="en-US" sz="750" dirty="0"/>
          </a:p>
        </p:txBody>
      </p:sp>
      <p:sp>
        <p:nvSpPr>
          <p:cNvPr id="62" name="Text 60"/>
          <p:cNvSpPr/>
          <p:nvPr/>
        </p:nvSpPr>
        <p:spPr>
          <a:xfrm>
            <a:off x="4663440" y="2212848"/>
            <a:ext cx="411480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Sent to: </a:t>
            </a:r>
            <a:r>
              <a:rPr lang="en-US" sz="680" dirty="0" err="1">
                <a:solidFill>
                  <a:srgbClr val="1A1A2E"/>
                </a:solidFill>
                <a:latin typeface="Consolas" pitchFamily="34" charset="0"/>
                <a:ea typeface="Consolas" pitchFamily="34" charset="-122"/>
                <a:cs typeface="Consolas" pitchFamily="34" charset="-120"/>
              </a:rPr>
              <a:t>anna.schmidt@COMPANY</a:t>
            </a:r>
            <a:r>
              <a:rPr lang="en-US" sz="680" dirty="0">
                <a:solidFill>
                  <a:srgbClr val="1A1A2E"/>
                </a:solidFill>
                <a:latin typeface="Consolas" pitchFamily="34" charset="0"/>
                <a:ea typeface="Consolas" pitchFamily="34" charset="-122"/>
                <a:cs typeface="Consolas" pitchFamily="34" charset="-120"/>
              </a:rPr>
              <a:t> NAME.com | Subj: Leave Approved</a:t>
            </a:r>
            <a:endParaRPr lang="en-US" sz="680" dirty="0"/>
          </a:p>
        </p:txBody>
      </p:sp>
      <p:sp>
        <p:nvSpPr>
          <p:cNvPr id="63" name="Shape 61"/>
          <p:cNvSpPr/>
          <p:nvPr/>
        </p:nvSpPr>
        <p:spPr>
          <a:xfrm>
            <a:off x="4626864" y="2432304"/>
            <a:ext cx="4187952" cy="347472"/>
          </a:xfrm>
          <a:prstGeom prst="rect">
            <a:avLst/>
          </a:prstGeom>
          <a:solidFill>
            <a:srgbClr val="FFF0F0"/>
          </a:solidFill>
          <a:ln w="3810">
            <a:solidFill>
              <a:srgbClr val="E0E0E0"/>
            </a:solidFill>
            <a:prstDash val="solid"/>
          </a:ln>
        </p:spPr>
      </p:sp>
      <p:sp>
        <p:nvSpPr>
          <p:cNvPr id="64" name="Text 62"/>
          <p:cNvSpPr/>
          <p:nvPr/>
        </p:nvSpPr>
        <p:spPr>
          <a:xfrm>
            <a:off x="4663440" y="2441448"/>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SQL Action: 🔴 Salary</a:t>
            </a:r>
            <a:endParaRPr lang="en-US" sz="750" dirty="0"/>
          </a:p>
        </p:txBody>
      </p:sp>
      <p:sp>
        <p:nvSpPr>
          <p:cNvPr id="65" name="Text 63"/>
          <p:cNvSpPr/>
          <p:nvPr/>
        </p:nvSpPr>
        <p:spPr>
          <a:xfrm>
            <a:off x="4663440" y="2596896"/>
            <a:ext cx="411480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UPDATE Payroll SET salary=85000 WHERE emp='a.schmidt'</a:t>
            </a:r>
            <a:endParaRPr lang="en-US" sz="680" dirty="0"/>
          </a:p>
        </p:txBody>
      </p:sp>
      <p:sp>
        <p:nvSpPr>
          <p:cNvPr id="66" name="Shape 64"/>
          <p:cNvSpPr/>
          <p:nvPr/>
        </p:nvSpPr>
        <p:spPr>
          <a:xfrm>
            <a:off x="4626864" y="2816352"/>
            <a:ext cx="4187952" cy="347472"/>
          </a:xfrm>
          <a:prstGeom prst="rect">
            <a:avLst/>
          </a:prstGeom>
          <a:solidFill>
            <a:srgbClr val="FFF0F0"/>
          </a:solidFill>
          <a:ln w="3810">
            <a:solidFill>
              <a:srgbClr val="E0E0E0"/>
            </a:solidFill>
            <a:prstDash val="solid"/>
          </a:ln>
        </p:spPr>
      </p:sp>
      <p:sp>
        <p:nvSpPr>
          <p:cNvPr id="67" name="Text 65"/>
          <p:cNvSpPr/>
          <p:nvPr/>
        </p:nvSpPr>
        <p:spPr>
          <a:xfrm>
            <a:off x="4663440" y="2825496"/>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REST Connector: 🔴 Medical</a:t>
            </a:r>
            <a:endParaRPr lang="en-US" sz="750" dirty="0"/>
          </a:p>
        </p:txBody>
      </p:sp>
      <p:sp>
        <p:nvSpPr>
          <p:cNvPr id="68" name="Text 66"/>
          <p:cNvSpPr/>
          <p:nvPr/>
        </p:nvSpPr>
        <p:spPr>
          <a:xfrm>
            <a:off x="4663440" y="2980944"/>
            <a:ext cx="411480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POST /hr/leave Body:{name:'Anna',medical:'hypertension'}</a:t>
            </a:r>
            <a:endParaRPr lang="en-US" sz="680" dirty="0"/>
          </a:p>
        </p:txBody>
      </p:sp>
      <p:sp>
        <p:nvSpPr>
          <p:cNvPr id="69" name="Shape 67"/>
          <p:cNvSpPr/>
          <p:nvPr/>
        </p:nvSpPr>
        <p:spPr>
          <a:xfrm>
            <a:off x="4626864" y="3200400"/>
            <a:ext cx="4187952" cy="347472"/>
          </a:xfrm>
          <a:prstGeom prst="rect">
            <a:avLst/>
          </a:prstGeom>
          <a:solidFill>
            <a:srgbClr val="FFEBEE"/>
          </a:solidFill>
          <a:ln w="3810">
            <a:solidFill>
              <a:srgbClr val="E0E0E0"/>
            </a:solidFill>
            <a:prstDash val="solid"/>
          </a:ln>
        </p:spPr>
      </p:sp>
      <p:sp>
        <p:nvSpPr>
          <p:cNvPr id="70" name="Text 68"/>
          <p:cNvSpPr/>
          <p:nvPr/>
        </p:nvSpPr>
        <p:spPr>
          <a:xfrm>
            <a:off x="4663440" y="3209544"/>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Error Log: 🔴🔴 Both</a:t>
            </a:r>
            <a:endParaRPr lang="en-US" sz="750" dirty="0"/>
          </a:p>
        </p:txBody>
      </p:sp>
      <p:sp>
        <p:nvSpPr>
          <p:cNvPr id="71" name="Text 69"/>
          <p:cNvSpPr/>
          <p:nvPr/>
        </p:nvSpPr>
        <p:spPr>
          <a:xfrm>
            <a:off x="4663440" y="3364992"/>
            <a:ext cx="411480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FAIL SendNotif: rcpt=</a:t>
            </a:r>
            <a:r>
              <a:rPr lang="en-US" sz="680" dirty="0" err="1">
                <a:solidFill>
                  <a:srgbClr val="1A1A2E"/>
                </a:solidFill>
                <a:latin typeface="Consolas" pitchFamily="34" charset="0"/>
                <a:ea typeface="Consolas" pitchFamily="34" charset="-122"/>
                <a:cs typeface="Consolas" pitchFamily="34" charset="-120"/>
              </a:rPr>
              <a:t>a.schmidt@COMPANY</a:t>
            </a:r>
            <a:r>
              <a:rPr lang="en-US" sz="680" dirty="0">
                <a:solidFill>
                  <a:srgbClr val="1A1A2E"/>
                </a:solidFill>
                <a:latin typeface="Consolas" pitchFamily="34" charset="0"/>
                <a:ea typeface="Consolas" pitchFamily="34" charset="-122"/>
                <a:cs typeface="Consolas" pitchFamily="34" charset="-120"/>
              </a:rPr>
              <a:t> NAME.com, f3=Hypertension</a:t>
            </a:r>
            <a:endParaRPr lang="en-US" sz="680" dirty="0"/>
          </a:p>
        </p:txBody>
      </p:sp>
      <p:sp>
        <p:nvSpPr>
          <p:cNvPr id="72" name="Shape 70"/>
          <p:cNvSpPr/>
          <p:nvPr/>
        </p:nvSpPr>
        <p:spPr>
          <a:xfrm>
            <a:off x="4626864" y="3584448"/>
            <a:ext cx="4187952" cy="347472"/>
          </a:xfrm>
          <a:prstGeom prst="rect">
            <a:avLst/>
          </a:prstGeom>
          <a:solidFill>
            <a:srgbClr val="F0FFF4"/>
          </a:solidFill>
          <a:ln w="3810">
            <a:solidFill>
              <a:srgbClr val="E0E0E0"/>
            </a:solidFill>
            <a:prstDash val="solid"/>
          </a:ln>
        </p:spPr>
      </p:sp>
      <p:sp>
        <p:nvSpPr>
          <p:cNvPr id="73" name="Text 71"/>
          <p:cNvSpPr/>
          <p:nvPr/>
        </p:nvSpPr>
        <p:spPr>
          <a:xfrm>
            <a:off x="4663440" y="3593592"/>
            <a:ext cx="4114800" cy="128016"/>
          </a:xfrm>
          <a:prstGeom prst="rect">
            <a:avLst/>
          </a:prstGeom>
          <a:noFill/>
          <a:ln/>
        </p:spPr>
        <p:txBody>
          <a:bodyPr wrap="square" rtlCol="0" anchor="ctr"/>
          <a:lstStyle/>
          <a:p>
            <a:pPr marL="0" indent="0">
              <a:buNone/>
            </a:pPr>
            <a:r>
              <a:rPr lang="en-US" sz="750" b="1" dirty="0">
                <a:solidFill>
                  <a:srgbClr val="1A1A2E"/>
                </a:solidFill>
                <a:latin typeface="Calibri" pitchFamily="34" charset="0"/>
                <a:ea typeface="Calibri" pitchFamily="34" charset="-122"/>
                <a:cs typeface="Calibri" pitchFamily="34" charset="-120"/>
              </a:rPr>
              <a:t>IT Helpdesk: 🟡 Low</a:t>
            </a:r>
            <a:endParaRPr lang="en-US" sz="750" dirty="0"/>
          </a:p>
        </p:txBody>
      </p:sp>
      <p:sp>
        <p:nvSpPr>
          <p:cNvPr id="74" name="Text 72"/>
          <p:cNvSpPr/>
          <p:nvPr/>
        </p:nvSpPr>
        <p:spPr>
          <a:xfrm>
            <a:off x="4663440" y="3749040"/>
            <a:ext cx="411480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Ticket #4521 assigned to </a:t>
            </a:r>
            <a:r>
              <a:rPr lang="en-US" sz="680" dirty="0" err="1">
                <a:solidFill>
                  <a:srgbClr val="1A1A2E"/>
                </a:solidFill>
                <a:latin typeface="Consolas" pitchFamily="34" charset="0"/>
                <a:ea typeface="Consolas" pitchFamily="34" charset="-122"/>
                <a:cs typeface="Consolas" pitchFamily="34" charset="-120"/>
              </a:rPr>
              <a:t>b.kumar@COMPANY</a:t>
            </a:r>
            <a:r>
              <a:rPr lang="en-US" sz="680" dirty="0">
                <a:solidFill>
                  <a:srgbClr val="1A1A2E"/>
                </a:solidFill>
                <a:latin typeface="Consolas" pitchFamily="34" charset="0"/>
                <a:ea typeface="Consolas" pitchFamily="34" charset="-122"/>
                <a:cs typeface="Consolas" pitchFamily="34" charset="-120"/>
              </a:rPr>
              <a:t> NAME.com — SLA 4hr</a:t>
            </a:r>
            <a:endParaRPr lang="en-US" sz="680" dirty="0"/>
          </a:p>
        </p:txBody>
      </p:sp>
      <p:sp>
        <p:nvSpPr>
          <p:cNvPr id="75" name="Text 73"/>
          <p:cNvSpPr/>
          <p:nvPr/>
        </p:nvSpPr>
        <p:spPr>
          <a:xfrm>
            <a:off x="320040" y="4059936"/>
            <a:ext cx="8503920" cy="219456"/>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Controls — Applied in Sequence</a:t>
            </a:r>
            <a:endParaRPr lang="en-US" sz="1000" dirty="0"/>
          </a:p>
        </p:txBody>
      </p:sp>
      <p:sp>
        <p:nvSpPr>
          <p:cNvPr id="76" name="Shape 74"/>
          <p:cNvSpPr/>
          <p:nvPr/>
        </p:nvSpPr>
        <p:spPr>
          <a:xfrm>
            <a:off x="274320" y="4315968"/>
            <a:ext cx="2103120" cy="731520"/>
          </a:xfrm>
          <a:prstGeom prst="rect">
            <a:avLst/>
          </a:prstGeom>
          <a:solidFill>
            <a:srgbClr val="FFFFFF"/>
          </a:solidFill>
          <a:ln/>
          <a:effectLst>
            <a:outerShdw blurRad="101600" dist="38100" dir="8100000" algn="bl" rotWithShape="0">
              <a:srgbClr val="000000">
                <a:alpha val="12000"/>
              </a:srgbClr>
            </a:outerShdw>
          </a:effectLst>
        </p:spPr>
      </p:sp>
      <p:sp>
        <p:nvSpPr>
          <p:cNvPr id="77" name="Shape 75"/>
          <p:cNvSpPr/>
          <p:nvPr/>
        </p:nvSpPr>
        <p:spPr>
          <a:xfrm>
            <a:off x="274320" y="4315968"/>
            <a:ext cx="256032" cy="731520"/>
          </a:xfrm>
          <a:prstGeom prst="rect">
            <a:avLst/>
          </a:prstGeom>
          <a:solidFill>
            <a:srgbClr val="4A235A"/>
          </a:solidFill>
          <a:ln/>
        </p:spPr>
      </p:sp>
      <p:sp>
        <p:nvSpPr>
          <p:cNvPr id="78" name="Text 76"/>
          <p:cNvSpPr/>
          <p:nvPr/>
        </p:nvSpPr>
        <p:spPr>
          <a:xfrm>
            <a:off x="274320" y="4315968"/>
            <a:ext cx="256032" cy="7315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9" name="Text 77"/>
          <p:cNvSpPr/>
          <p:nvPr/>
        </p:nvSpPr>
        <p:spPr>
          <a:xfrm>
            <a:off x="576072" y="4334256"/>
            <a:ext cx="1755648" cy="201168"/>
          </a:xfrm>
          <a:prstGeom prst="rect">
            <a:avLst/>
          </a:prstGeom>
          <a:noFill/>
          <a:ln/>
        </p:spPr>
        <p:txBody>
          <a:bodyPr wrap="square" rtlCol="0" anchor="ctr"/>
          <a:lstStyle/>
          <a:p>
            <a:pPr marL="0" indent="0">
              <a:buNone/>
            </a:pPr>
            <a:r>
              <a:rPr lang="en-US" sz="750" b="1" dirty="0">
                <a:solidFill>
                  <a:srgbClr val="4A235A"/>
                </a:solidFill>
                <a:latin typeface="Calibri" pitchFamily="34" charset="0"/>
                <a:ea typeface="Calibri" pitchFamily="34" charset="-122"/>
                <a:cs typeface="Calibri" pitchFamily="34" charset="-120"/>
              </a:rPr>
              <a:t>RLS on WFL_FormType_ID</a:t>
            </a:r>
            <a:endParaRPr lang="en-US" sz="750" dirty="0"/>
          </a:p>
        </p:txBody>
      </p:sp>
      <p:sp>
        <p:nvSpPr>
          <p:cNvPr id="80" name="Text 78"/>
          <p:cNvSpPr/>
          <p:nvPr/>
        </p:nvSpPr>
        <p:spPr>
          <a:xfrm>
            <a:off x="576072" y="4544568"/>
            <a:ext cx="1755648" cy="457200"/>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Same cfg_SensitiveProcessIDs. HR logs absent for NonEEA.</a:t>
            </a:r>
            <a:endParaRPr lang="en-US" sz="720" dirty="0"/>
          </a:p>
        </p:txBody>
      </p:sp>
      <p:sp>
        <p:nvSpPr>
          <p:cNvPr id="81" name="Shape 79"/>
          <p:cNvSpPr/>
          <p:nvPr/>
        </p:nvSpPr>
        <p:spPr>
          <a:xfrm>
            <a:off x="2487168" y="4315968"/>
            <a:ext cx="2103120" cy="731520"/>
          </a:xfrm>
          <a:prstGeom prst="rect">
            <a:avLst/>
          </a:prstGeom>
          <a:solidFill>
            <a:srgbClr val="FFFFFF"/>
          </a:solidFill>
          <a:ln/>
          <a:effectLst>
            <a:outerShdw blurRad="101600" dist="38100" dir="8100000" algn="bl" rotWithShape="0">
              <a:srgbClr val="000000">
                <a:alpha val="12000"/>
              </a:srgbClr>
            </a:outerShdw>
          </a:effectLst>
        </p:spPr>
      </p:sp>
      <p:sp>
        <p:nvSpPr>
          <p:cNvPr id="82" name="Shape 80"/>
          <p:cNvSpPr/>
          <p:nvPr/>
        </p:nvSpPr>
        <p:spPr>
          <a:xfrm>
            <a:off x="2487168" y="4315968"/>
            <a:ext cx="256032" cy="731520"/>
          </a:xfrm>
          <a:prstGeom prst="rect">
            <a:avLst/>
          </a:prstGeom>
          <a:solidFill>
            <a:srgbClr val="C0392B"/>
          </a:solidFill>
          <a:ln/>
        </p:spPr>
      </p:sp>
      <p:sp>
        <p:nvSpPr>
          <p:cNvPr id="83" name="Text 81"/>
          <p:cNvSpPr/>
          <p:nvPr/>
        </p:nvSpPr>
        <p:spPr>
          <a:xfrm>
            <a:off x="2487168" y="4315968"/>
            <a:ext cx="256032" cy="7315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4" name="Text 82"/>
          <p:cNvSpPr/>
          <p:nvPr/>
        </p:nvSpPr>
        <p:spPr>
          <a:xfrm>
            <a:off x="2788920" y="4334256"/>
            <a:ext cx="1755648" cy="20116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DDM on WFL_Message</a:t>
            </a:r>
            <a:endParaRPr lang="en-US" sz="750" dirty="0"/>
          </a:p>
        </p:txBody>
      </p:sp>
      <p:sp>
        <p:nvSpPr>
          <p:cNvPr id="85" name="Text 83"/>
          <p:cNvSpPr/>
          <p:nvPr/>
        </p:nvSpPr>
        <p:spPr>
          <a:xfrm>
            <a:off x="2788920" y="4544568"/>
            <a:ext cx="1755648" cy="457200"/>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WFL_Message → xxxx. ActionType + Status kept clear.</a:t>
            </a:r>
            <a:endParaRPr lang="en-US" sz="720" dirty="0"/>
          </a:p>
        </p:txBody>
      </p:sp>
      <p:sp>
        <p:nvSpPr>
          <p:cNvPr id="86" name="Shape 84"/>
          <p:cNvSpPr/>
          <p:nvPr/>
        </p:nvSpPr>
        <p:spPr>
          <a:xfrm>
            <a:off x="4700016" y="4315968"/>
            <a:ext cx="2103120" cy="731520"/>
          </a:xfrm>
          <a:prstGeom prst="rect">
            <a:avLst/>
          </a:prstGeom>
          <a:solidFill>
            <a:srgbClr val="FFFFFF"/>
          </a:solidFill>
          <a:ln/>
          <a:effectLst>
            <a:outerShdw blurRad="101600" dist="38100" dir="8100000" algn="bl" rotWithShape="0">
              <a:srgbClr val="000000">
                <a:alpha val="12000"/>
              </a:srgbClr>
            </a:outerShdw>
          </a:effectLst>
        </p:spPr>
      </p:sp>
      <p:sp>
        <p:nvSpPr>
          <p:cNvPr id="87" name="Shape 85"/>
          <p:cNvSpPr/>
          <p:nvPr/>
        </p:nvSpPr>
        <p:spPr>
          <a:xfrm>
            <a:off x="4700016" y="4315968"/>
            <a:ext cx="256032" cy="731520"/>
          </a:xfrm>
          <a:prstGeom prst="rect">
            <a:avLst/>
          </a:prstGeom>
          <a:solidFill>
            <a:srgbClr val="E67E22"/>
          </a:solidFill>
          <a:ln/>
        </p:spPr>
      </p:sp>
      <p:sp>
        <p:nvSpPr>
          <p:cNvPr id="88" name="Text 86"/>
          <p:cNvSpPr/>
          <p:nvPr/>
        </p:nvSpPr>
        <p:spPr>
          <a:xfrm>
            <a:off x="4700016" y="4315968"/>
            <a:ext cx="256032" cy="7315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89" name="Text 87"/>
          <p:cNvSpPr/>
          <p:nvPr/>
        </p:nvSpPr>
        <p:spPr>
          <a:xfrm>
            <a:off x="5001768" y="4334256"/>
            <a:ext cx="1755648" cy="201168"/>
          </a:xfrm>
          <a:prstGeom prst="rect">
            <a:avLst/>
          </a:prstGeom>
          <a:noFill/>
          <a:ln/>
        </p:spPr>
        <p:txBody>
          <a:bodyPr wrap="square"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Designer Studio Log Level</a:t>
            </a:r>
            <a:endParaRPr lang="en-US" sz="750" dirty="0"/>
          </a:p>
        </p:txBody>
      </p:sp>
      <p:sp>
        <p:nvSpPr>
          <p:cNvPr id="90" name="Text 88"/>
          <p:cNvSpPr/>
          <p:nvPr/>
        </p:nvSpPr>
        <p:spPr>
          <a:xfrm>
            <a:off x="5001768" y="4544568"/>
            <a:ext cx="1755648" cy="457200"/>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HR/Payroll: Minimal. IT/Proc: Standard (full diagnosis).</a:t>
            </a:r>
            <a:endParaRPr lang="en-US" sz="720" dirty="0"/>
          </a:p>
        </p:txBody>
      </p:sp>
      <p:sp>
        <p:nvSpPr>
          <p:cNvPr id="91" name="Shape 89"/>
          <p:cNvSpPr/>
          <p:nvPr/>
        </p:nvSpPr>
        <p:spPr>
          <a:xfrm>
            <a:off x="6912864" y="4315968"/>
            <a:ext cx="2103120" cy="731520"/>
          </a:xfrm>
          <a:prstGeom prst="rect">
            <a:avLst/>
          </a:prstGeom>
          <a:solidFill>
            <a:srgbClr val="FFFFFF"/>
          </a:solidFill>
          <a:ln/>
          <a:effectLst>
            <a:outerShdw blurRad="101600" dist="38100" dir="8100000" algn="bl" rotWithShape="0">
              <a:srgbClr val="000000">
                <a:alpha val="12000"/>
              </a:srgbClr>
            </a:outerShdw>
          </a:effectLst>
        </p:spPr>
      </p:sp>
      <p:sp>
        <p:nvSpPr>
          <p:cNvPr id="92" name="Shape 90"/>
          <p:cNvSpPr/>
          <p:nvPr/>
        </p:nvSpPr>
        <p:spPr>
          <a:xfrm>
            <a:off x="6912864" y="4315968"/>
            <a:ext cx="256032" cy="731520"/>
          </a:xfrm>
          <a:prstGeom prst="rect">
            <a:avLst/>
          </a:prstGeom>
          <a:solidFill>
            <a:srgbClr val="1B7A4A"/>
          </a:solidFill>
          <a:ln/>
        </p:spPr>
      </p:sp>
      <p:sp>
        <p:nvSpPr>
          <p:cNvPr id="93" name="Text 91"/>
          <p:cNvSpPr/>
          <p:nvPr/>
        </p:nvSpPr>
        <p:spPr>
          <a:xfrm>
            <a:off x="6912864" y="4315968"/>
            <a:ext cx="256032" cy="7315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94" name="Text 92"/>
          <p:cNvSpPr/>
          <p:nvPr/>
        </p:nvSpPr>
        <p:spPr>
          <a:xfrm>
            <a:off x="7214616" y="4334256"/>
            <a:ext cx="1755648" cy="201168"/>
          </a:xfrm>
          <a:prstGeom prst="rect">
            <a:avLst/>
          </a:prstGeom>
          <a:noFill/>
          <a:ln/>
        </p:spPr>
        <p:txBody>
          <a:bodyPr wrap="square" rtlCol="0" anchor="ctr"/>
          <a:lstStyle/>
          <a:p>
            <a:pPr marL="0" indent="0">
              <a:buNone/>
            </a:pPr>
            <a:r>
              <a:rPr lang="en-US" sz="750" b="1" dirty="0">
                <a:solidFill>
                  <a:srgbClr val="1B7A4A"/>
                </a:solidFill>
                <a:latin typeface="Calibri" pitchFamily="34" charset="0"/>
                <a:ea typeface="Calibri" pitchFamily="34" charset="-122"/>
                <a:cs typeface="Calibri" pitchFamily="34" charset="-120"/>
              </a:rPr>
              <a:t>90-Day Purge Job</a:t>
            </a:r>
            <a:endParaRPr lang="en-US" sz="750" dirty="0"/>
          </a:p>
        </p:txBody>
      </p:sp>
      <p:sp>
        <p:nvSpPr>
          <p:cNvPr id="95" name="Text 93"/>
          <p:cNvSpPr/>
          <p:nvPr/>
        </p:nvSpPr>
        <p:spPr>
          <a:xfrm>
            <a:off x="7214616" y="4544568"/>
            <a:ext cx="1755648" cy="457200"/>
          </a:xfrm>
          <a:prstGeom prst="rect">
            <a:avLst/>
          </a:prstGeom>
          <a:noFill/>
          <a:ln/>
        </p:spPr>
        <p:txBody>
          <a:bodyPr wrap="square" rtlCol="0" anchor="ctr"/>
          <a:lstStyle/>
          <a:p>
            <a:pPr marL="0" indent="0">
              <a:buNone/>
            </a:pPr>
            <a:r>
              <a:rPr lang="en-US" sz="720" dirty="0">
                <a:solidFill>
                  <a:srgbClr val="1A1A2E"/>
                </a:solidFill>
                <a:latin typeface="Calibri" pitchFamily="34" charset="0"/>
                <a:ea typeface="Calibri" pitchFamily="34" charset="-122"/>
                <a:cs typeface="Calibri" pitchFamily="34" charset="-120"/>
              </a:rPr>
              <a:t>SQL Agent: DELETE sensitive logs &gt; 90 days nightly.</a:t>
            </a:r>
            <a:endParaRPr lang="en-US" sz="720" dirty="0"/>
          </a:p>
        </p:txBody>
      </p:sp>
      <p:sp>
        <p:nvSpPr>
          <p:cNvPr id="96" name="Shape 94"/>
          <p:cNvSpPr/>
          <p:nvPr/>
        </p:nvSpPr>
        <p:spPr>
          <a:xfrm>
            <a:off x="0" y="4828032"/>
            <a:ext cx="9144000" cy="315468"/>
          </a:xfrm>
          <a:prstGeom prst="rect">
            <a:avLst/>
          </a:prstGeom>
          <a:solidFill>
            <a:srgbClr val="009B9E"/>
          </a:solidFill>
          <a:ln/>
        </p:spPr>
      </p:sp>
      <p:sp>
        <p:nvSpPr>
          <p:cNvPr id="97" name="Shape 95"/>
          <p:cNvSpPr/>
          <p:nvPr/>
        </p:nvSpPr>
        <p:spPr>
          <a:xfrm>
            <a:off x="502920" y="4919472"/>
            <a:ext cx="18288" cy="128016"/>
          </a:xfrm>
          <a:prstGeom prst="rect">
            <a:avLst/>
          </a:prstGeom>
          <a:solidFill>
            <a:srgbClr val="FFFFFF"/>
          </a:solidFill>
          <a:ln/>
        </p:spPr>
      </p:sp>
      <p:sp>
        <p:nvSpPr>
          <p:cNvPr id="98" name="Text 96"/>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99" name="Text 97"/>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1976D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L2 — PROCESS-SCOPED VIEWS  ·  CONCEPT &amp; IMPLEMENTATION</a:t>
            </a:r>
            <a:endParaRPr lang="en-US" sz="1100" dirty="0"/>
          </a:p>
        </p:txBody>
      </p:sp>
      <p:sp>
        <p:nvSpPr>
          <p:cNvPr id="5" name="Text 3"/>
          <p:cNvSpPr/>
          <p:nvPr/>
        </p:nvSpPr>
        <p:spPr>
          <a:xfrm>
            <a:off x="320040" y="777240"/>
            <a:ext cx="8503920" cy="438912"/>
          </a:xfrm>
          <a:prstGeom prst="rect">
            <a:avLst/>
          </a:prstGeom>
          <a:noFill/>
          <a:ln/>
        </p:spPr>
        <p:txBody>
          <a:bodyPr wrap="square" rtlCol="0" anchor="ctr"/>
          <a:lstStyle/>
          <a:p>
            <a:pPr marL="0" indent="0">
              <a:buNone/>
            </a:pPr>
            <a:r>
              <a:rPr lang="en-US" sz="1900" b="1" dirty="0">
                <a:solidFill>
                  <a:srgbClr val="1A1A2E"/>
                </a:solidFill>
                <a:latin typeface="Calibri" pitchFamily="34" charset="0"/>
                <a:ea typeface="Calibri" pitchFamily="34" charset="-122"/>
                <a:cs typeface="Calibri" pitchFamily="34" charset="-120"/>
              </a:rPr>
              <a:t>One SQL View Per Application — Non-EEA Roles Query Views, Never Raw WFElements</a:t>
            </a:r>
            <a:endParaRPr lang="en-US" sz="1900" dirty="0"/>
          </a:p>
        </p:txBody>
      </p:sp>
      <p:sp>
        <p:nvSpPr>
          <p:cNvPr id="6" name="Shape 4"/>
          <p:cNvSpPr/>
          <p:nvPr/>
        </p:nvSpPr>
        <p:spPr>
          <a:xfrm>
            <a:off x="320040" y="1298448"/>
            <a:ext cx="8503920" cy="566928"/>
          </a:xfrm>
          <a:prstGeom prst="rect">
            <a:avLst/>
          </a:prstGeom>
          <a:solidFill>
            <a:srgbClr val="E3F0FF"/>
          </a:solidFill>
          <a:ln w="12700">
            <a:solidFill>
              <a:srgbClr val="1976D2"/>
            </a:solidFill>
            <a:prstDash val="solid"/>
          </a:ln>
        </p:spPr>
      </p:sp>
      <p:sp>
        <p:nvSpPr>
          <p:cNvPr id="7" name="Shape 5"/>
          <p:cNvSpPr/>
          <p:nvPr/>
        </p:nvSpPr>
        <p:spPr>
          <a:xfrm>
            <a:off x="320040" y="1298448"/>
            <a:ext cx="91440" cy="566928"/>
          </a:xfrm>
          <a:prstGeom prst="rect">
            <a:avLst/>
          </a:prstGeom>
          <a:solidFill>
            <a:srgbClr val="1976D2"/>
          </a:solidFill>
          <a:ln/>
        </p:spPr>
      </p:sp>
      <p:sp>
        <p:nvSpPr>
          <p:cNvPr id="8" name="Text 6"/>
          <p:cNvSpPr/>
          <p:nvPr/>
        </p:nvSpPr>
        <p:spPr>
          <a:xfrm>
            <a:off x="502920" y="1316736"/>
            <a:ext cx="8229600" cy="493776"/>
          </a:xfrm>
          <a:prstGeom prst="rect">
            <a:avLst/>
          </a:prstGeom>
          <a:noFill/>
          <a:ln/>
        </p:spPr>
        <p:txBody>
          <a:bodyPr wrap="square" rtlCol="0" anchor="ctr"/>
          <a:lstStyle/>
          <a:p>
            <a:pPr marL="0" indent="0">
              <a:buNone/>
            </a:pPr>
            <a:r>
              <a:rPr lang="en-US" sz="950" b="1" dirty="0">
                <a:solidFill>
                  <a:srgbClr val="1976D2"/>
                </a:solidFill>
                <a:latin typeface="Calibri" pitchFamily="34" charset="0"/>
                <a:ea typeface="Calibri" pitchFamily="34" charset="-122"/>
                <a:cs typeface="Calibri" pitchFamily="34" charset="-120"/>
              </a:rPr>
              <a:t>Why it exists:  </a:t>
            </a:r>
            <a:r>
              <a:rPr lang="en-US" sz="950" dirty="0">
                <a:solidFill>
                  <a:srgbClr val="1A1A2E"/>
                </a:solidFill>
                <a:latin typeface="Calibri" pitchFamily="34" charset="0"/>
                <a:ea typeface="Calibri" pitchFamily="34" charset="-122"/>
                <a:cs typeface="Calibri" pitchFamily="34" charset="-120"/>
              </a:rPr>
              <a:t>WFElements has 100+ columns — column pools WFD_AttText1–20 are reused by every application. In HR Suite, WFD_AttText3 stores a medical condition. In IT Helpdesk, the same column stores a ticket category. Without views, an IT admin querying WFElements sees the HR medical column too. Views make cross-process column leakage structurally impossible.</a:t>
            </a:r>
            <a:endParaRPr lang="en-US" sz="950" dirty="0"/>
          </a:p>
        </p:txBody>
      </p:sp>
      <p:sp>
        <p:nvSpPr>
          <p:cNvPr id="9" name="Shape 7"/>
          <p:cNvSpPr/>
          <p:nvPr/>
        </p:nvSpPr>
        <p:spPr>
          <a:xfrm>
            <a:off x="320040" y="1920240"/>
            <a:ext cx="4114800" cy="242316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320040" y="1920240"/>
            <a:ext cx="4114800" cy="310896"/>
          </a:xfrm>
          <a:prstGeom prst="rect">
            <a:avLst/>
          </a:prstGeom>
          <a:solidFill>
            <a:srgbClr val="E8F5E9"/>
          </a:solidFill>
          <a:ln/>
        </p:spPr>
      </p:sp>
      <p:sp>
        <p:nvSpPr>
          <p:cNvPr id="11" name="Text 9"/>
          <p:cNvSpPr/>
          <p:nvPr/>
        </p:nvSpPr>
        <p:spPr>
          <a:xfrm>
            <a:off x="411480" y="1920240"/>
            <a:ext cx="3931920" cy="310896"/>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  vw_IT_Helpdesk  (LOW sensitivity — full columns)</a:t>
            </a:r>
            <a:endParaRPr lang="en-US" sz="900" dirty="0"/>
          </a:p>
        </p:txBody>
      </p:sp>
      <p:sp>
        <p:nvSpPr>
          <p:cNvPr id="12" name="Shape 10"/>
          <p:cNvSpPr/>
          <p:nvPr/>
        </p:nvSpPr>
        <p:spPr>
          <a:xfrm>
            <a:off x="365760" y="2286000"/>
            <a:ext cx="3977640" cy="2011680"/>
          </a:xfrm>
          <a:prstGeom prst="rect">
            <a:avLst/>
          </a:prstGeom>
          <a:solidFill>
            <a:srgbClr val="F6F9FC"/>
          </a:solidFill>
          <a:ln/>
        </p:spPr>
      </p:sp>
      <p:sp>
        <p:nvSpPr>
          <p:cNvPr id="13" name="Text 11"/>
          <p:cNvSpPr/>
          <p:nvPr/>
        </p:nvSpPr>
        <p:spPr>
          <a:xfrm>
            <a:off x="411480" y="2286000"/>
            <a:ext cx="3886200" cy="2011680"/>
          </a:xfrm>
          <a:prstGeom prst="rect">
            <a:avLst/>
          </a:prstGeom>
          <a:noFill/>
          <a:ln/>
        </p:spPr>
        <p:txBody>
          <a:bodyPr wrap="square" rtlCol="0" anchor="t"/>
          <a:lstStyle/>
          <a:p>
            <a:pPr marL="0" indent="0">
              <a:buNone/>
            </a:pPr>
            <a:r>
              <a:rPr lang="en-US" sz="800" dirty="0">
                <a:solidFill>
                  <a:srgbClr val="1A3A5C"/>
                </a:solidFill>
                <a:latin typeface="Consolas" pitchFamily="34" charset="0"/>
                <a:ea typeface="Consolas" pitchFamily="34" charset="-122"/>
                <a:cs typeface="Consolas" pitchFamily="34" charset="-120"/>
              </a:rPr>
              <a:t>CREATE VIEW vw_IT_Helpdesk AS</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SELECT</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WFD_ID,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WFD_FormType_ID   AS ProcessID,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WFD_AttText1      AS TicketTitle,</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WFD_AttText2      AS TicketCategory,</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WFD_AttText3      AS AssignedTeam,</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WFD_AttLong1      AS Description,</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WFD_Modified      AS LastUpdated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FROM WFElements</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WHERE WFD_FormType_ID IN (201,202,203);</a:t>
            </a:r>
            <a:endParaRPr lang="en-US" sz="800" dirty="0"/>
          </a:p>
        </p:txBody>
      </p:sp>
      <p:sp>
        <p:nvSpPr>
          <p:cNvPr id="14" name="Shape 12"/>
          <p:cNvSpPr/>
          <p:nvPr/>
        </p:nvSpPr>
        <p:spPr>
          <a:xfrm>
            <a:off x="4709160" y="1920240"/>
            <a:ext cx="4114800" cy="2423160"/>
          </a:xfrm>
          <a:prstGeom prst="rect">
            <a:avLst/>
          </a:prstGeom>
          <a:solidFill>
            <a:srgbClr val="FFFFFF"/>
          </a:solidFill>
          <a:ln/>
          <a:effectLst>
            <a:outerShdw blurRad="101600" dist="38100" dir="8100000" algn="bl" rotWithShape="0">
              <a:srgbClr val="000000">
                <a:alpha val="12000"/>
              </a:srgbClr>
            </a:outerShdw>
          </a:effectLst>
        </p:spPr>
      </p:sp>
      <p:sp>
        <p:nvSpPr>
          <p:cNvPr id="15" name="Shape 13"/>
          <p:cNvSpPr/>
          <p:nvPr/>
        </p:nvSpPr>
        <p:spPr>
          <a:xfrm>
            <a:off x="4709160" y="1920240"/>
            <a:ext cx="4114800" cy="310896"/>
          </a:xfrm>
          <a:prstGeom prst="rect">
            <a:avLst/>
          </a:prstGeom>
          <a:solidFill>
            <a:srgbClr val="FFEBEE"/>
          </a:solidFill>
          <a:ln/>
        </p:spPr>
      </p:sp>
      <p:sp>
        <p:nvSpPr>
          <p:cNvPr id="16" name="Text 14"/>
          <p:cNvSpPr/>
          <p:nvPr/>
        </p:nvSpPr>
        <p:spPr>
          <a:xfrm>
            <a:off x="4800600" y="1920240"/>
            <a:ext cx="3931920" cy="310896"/>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vw_HR_Operational  (HIGH sensitivity — PII columns excluded)</a:t>
            </a:r>
            <a:endParaRPr lang="en-US" sz="900" dirty="0"/>
          </a:p>
        </p:txBody>
      </p:sp>
      <p:sp>
        <p:nvSpPr>
          <p:cNvPr id="17" name="Shape 15"/>
          <p:cNvSpPr/>
          <p:nvPr/>
        </p:nvSpPr>
        <p:spPr>
          <a:xfrm>
            <a:off x="4754880" y="2286000"/>
            <a:ext cx="3977640" cy="2011680"/>
          </a:xfrm>
          <a:prstGeom prst="rect">
            <a:avLst/>
          </a:prstGeom>
          <a:solidFill>
            <a:srgbClr val="F6F9FC"/>
          </a:solidFill>
          <a:ln/>
        </p:spPr>
      </p:sp>
      <p:sp>
        <p:nvSpPr>
          <p:cNvPr id="18" name="Text 16"/>
          <p:cNvSpPr/>
          <p:nvPr/>
        </p:nvSpPr>
        <p:spPr>
          <a:xfrm>
            <a:off x="4800600" y="2286000"/>
            <a:ext cx="3886200" cy="2011680"/>
          </a:xfrm>
          <a:prstGeom prst="rect">
            <a:avLst/>
          </a:prstGeom>
          <a:noFill/>
          <a:ln/>
        </p:spPr>
        <p:txBody>
          <a:bodyPr wrap="square" rtlCol="0" anchor="t"/>
          <a:lstStyle/>
          <a:p>
            <a:pPr marL="0" indent="0">
              <a:buNone/>
            </a:pPr>
            <a:r>
              <a:rPr lang="en-US" sz="800" dirty="0">
                <a:solidFill>
                  <a:srgbClr val="1A3A5C"/>
                </a:solidFill>
                <a:latin typeface="Consolas" pitchFamily="34" charset="0"/>
                <a:ea typeface="Consolas" pitchFamily="34" charset="-122"/>
                <a:cs typeface="Consolas" pitchFamily="34" charset="-120"/>
              </a:rPr>
              <a:t>CREATE VIEW vw_HR_Operational AS</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SELECT</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WFD_ID,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WFD_FormType_ID   AS ProcessID,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WFD_AttText1      AS RequestType,</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WFD_Modified      AS LastUpdated,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WFD_Status        AS WorkflowStatus</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 WFD_AttText3 (Medical)  → EXCLUDED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 WFD_AttText5 (Salary)   → EXCLUDED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  -- WFD_AttText4 (Email)    → EXCLUDED</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FROM WFElements</a:t>
            </a:r>
            <a:endParaRPr lang="en-US" sz="800" dirty="0"/>
          </a:p>
          <a:p>
            <a:pPr marL="0" indent="0">
              <a:buNone/>
            </a:pPr>
            <a:r>
              <a:rPr lang="en-US" sz="800" dirty="0">
                <a:solidFill>
                  <a:srgbClr val="1A3A5C"/>
                </a:solidFill>
                <a:latin typeface="Consolas" pitchFamily="34" charset="0"/>
                <a:ea typeface="Consolas" pitchFamily="34" charset="-122"/>
                <a:cs typeface="Consolas" pitchFamily="34" charset="-120"/>
              </a:rPr>
              <a:t>WHERE WFD_FormType_ID IN (101,102);</a:t>
            </a:r>
            <a:endParaRPr lang="en-US" sz="800" dirty="0"/>
          </a:p>
        </p:txBody>
      </p:sp>
      <p:sp>
        <p:nvSpPr>
          <p:cNvPr id="19" name="Shape 17"/>
          <p:cNvSpPr/>
          <p:nvPr/>
        </p:nvSpPr>
        <p:spPr>
          <a:xfrm>
            <a:off x="320040" y="4416552"/>
            <a:ext cx="8503920" cy="420624"/>
          </a:xfrm>
          <a:prstGeom prst="rect">
            <a:avLst/>
          </a:prstGeom>
          <a:solidFill>
            <a:srgbClr val="1A1A2E"/>
          </a:solidFill>
          <a:ln/>
        </p:spPr>
      </p:sp>
      <p:sp>
        <p:nvSpPr>
          <p:cNvPr id="20" name="Text 18"/>
          <p:cNvSpPr/>
          <p:nvPr/>
        </p:nvSpPr>
        <p:spPr>
          <a:xfrm>
            <a:off x="457200" y="4416552"/>
            <a:ext cx="8321040" cy="420624"/>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Key insight: The COMPANY NAME DBA given access to vw_IT_Helpdesk literally cannot see HR columns — they do not exist in the view. No masking needed. The PII is structurally absent.</a:t>
            </a:r>
            <a:endParaRPr lang="en-US" sz="950" dirty="0"/>
          </a:p>
        </p:txBody>
      </p:sp>
      <p:sp>
        <p:nvSpPr>
          <p:cNvPr id="21" name="Shape 19"/>
          <p:cNvSpPr/>
          <p:nvPr/>
        </p:nvSpPr>
        <p:spPr>
          <a:xfrm>
            <a:off x="0" y="4828032"/>
            <a:ext cx="9144000" cy="315468"/>
          </a:xfrm>
          <a:prstGeom prst="rect">
            <a:avLst/>
          </a:prstGeom>
          <a:solidFill>
            <a:srgbClr val="009B9E"/>
          </a:solidFill>
          <a:ln/>
        </p:spPr>
      </p:sp>
      <p:sp>
        <p:nvSpPr>
          <p:cNvPr id="22" name="Text 20"/>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23" name="Shape 21"/>
          <p:cNvSpPr/>
          <p:nvPr/>
        </p:nvSpPr>
        <p:spPr>
          <a:xfrm>
            <a:off x="502920" y="4919472"/>
            <a:ext cx="18288" cy="128016"/>
          </a:xfrm>
          <a:prstGeom prst="rect">
            <a:avLst/>
          </a:prstGeom>
          <a:solidFill>
            <a:srgbClr val="FFFFFF"/>
          </a:solidFill>
          <a:ln/>
        </p:spPr>
      </p:sp>
      <p:sp>
        <p:nvSpPr>
          <p:cNvPr id="24" name="Text 22"/>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25" name="Text 23"/>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1976D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L2 — PROCESS-SCOPED VIEWS  ·  ROLE MAPPING &amp; COLUMN POOL LOGIC</a:t>
            </a:r>
            <a:endParaRPr lang="en-US" sz="1100" dirty="0"/>
          </a:p>
        </p:txBody>
      </p:sp>
      <p:sp>
        <p:nvSpPr>
          <p:cNvPr id="5" name="Text 3"/>
          <p:cNvSpPr/>
          <p:nvPr/>
        </p:nvSpPr>
        <p:spPr>
          <a:xfrm>
            <a:off x="320040" y="777240"/>
            <a:ext cx="8503920" cy="420624"/>
          </a:xfrm>
          <a:prstGeom prst="rect">
            <a:avLst/>
          </a:prstGeom>
          <a:noFill/>
          <a:ln/>
        </p:spPr>
        <p:txBody>
          <a:bodyPr wrap="square" rtlCol="0" anchor="ctr"/>
          <a:lstStyle/>
          <a:p>
            <a:pPr marL="0" indent="0">
              <a:buNone/>
            </a:pPr>
            <a:r>
              <a:rPr lang="en-US" sz="1900" b="1" dirty="0">
                <a:solidFill>
                  <a:srgbClr val="1A1A2E"/>
                </a:solidFill>
                <a:latin typeface="Calibri" pitchFamily="34" charset="0"/>
                <a:ea typeface="Calibri" pitchFamily="34" charset="-122"/>
                <a:cs typeface="Calibri" pitchFamily="34" charset="-120"/>
              </a:rPr>
              <a:t>Who Gets Which View — and the Column Pool Problem Explained</a:t>
            </a:r>
            <a:endParaRPr lang="en-US" sz="1900" dirty="0"/>
          </a:p>
        </p:txBody>
      </p:sp>
      <p:sp>
        <p:nvSpPr>
          <p:cNvPr id="6" name="Shape 4"/>
          <p:cNvSpPr/>
          <p:nvPr/>
        </p:nvSpPr>
        <p:spPr>
          <a:xfrm>
            <a:off x="274320" y="1298448"/>
            <a:ext cx="4160520" cy="320040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274320" y="1298448"/>
            <a:ext cx="4160520" cy="329184"/>
          </a:xfrm>
          <a:prstGeom prst="rect">
            <a:avLst/>
          </a:prstGeom>
          <a:solidFill>
            <a:srgbClr val="E3F0FF"/>
          </a:solidFill>
          <a:ln/>
        </p:spPr>
      </p:sp>
      <p:sp>
        <p:nvSpPr>
          <p:cNvPr id="8" name="Text 6"/>
          <p:cNvSpPr/>
          <p:nvPr/>
        </p:nvSpPr>
        <p:spPr>
          <a:xfrm>
            <a:off x="384048" y="1298448"/>
            <a:ext cx="3931920" cy="329184"/>
          </a:xfrm>
          <a:prstGeom prst="rect">
            <a:avLst/>
          </a:prstGeom>
          <a:noFill/>
          <a:ln/>
        </p:spPr>
        <p:txBody>
          <a:bodyPr wrap="square" rtlCol="0" anchor="ctr"/>
          <a:lstStyle/>
          <a:p>
            <a:pPr marL="0" indent="0">
              <a:buNone/>
            </a:pPr>
            <a:r>
              <a:rPr lang="en-US" sz="1050" b="1" dirty="0">
                <a:solidFill>
                  <a:srgbClr val="1976D2"/>
                </a:solidFill>
                <a:latin typeface="Calibri" pitchFamily="34" charset="0"/>
                <a:ea typeface="Calibri" pitchFamily="34" charset="-122"/>
                <a:cs typeface="Calibri" pitchFamily="34" charset="-120"/>
              </a:rPr>
              <a:t>Role → View Grant Matrix</a:t>
            </a:r>
            <a:endParaRPr lang="en-US" sz="1050" dirty="0"/>
          </a:p>
        </p:txBody>
      </p:sp>
      <p:sp>
        <p:nvSpPr>
          <p:cNvPr id="9" name="Shape 7"/>
          <p:cNvSpPr/>
          <p:nvPr/>
        </p:nvSpPr>
        <p:spPr>
          <a:xfrm>
            <a:off x="320040" y="1664208"/>
            <a:ext cx="1554480" cy="274320"/>
          </a:xfrm>
          <a:prstGeom prst="rect">
            <a:avLst/>
          </a:prstGeom>
          <a:solidFill>
            <a:srgbClr val="1A1A2E"/>
          </a:solidFill>
          <a:ln/>
        </p:spPr>
      </p:sp>
      <p:sp>
        <p:nvSpPr>
          <p:cNvPr id="10" name="Text 8"/>
          <p:cNvSpPr/>
          <p:nvPr/>
        </p:nvSpPr>
        <p:spPr>
          <a:xfrm>
            <a:off x="320040" y="1664208"/>
            <a:ext cx="1554480" cy="27432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AD Role / Login</a:t>
            </a:r>
            <a:endParaRPr lang="en-US" sz="800" dirty="0"/>
          </a:p>
        </p:txBody>
      </p:sp>
      <p:sp>
        <p:nvSpPr>
          <p:cNvPr id="11" name="Shape 9"/>
          <p:cNvSpPr/>
          <p:nvPr/>
        </p:nvSpPr>
        <p:spPr>
          <a:xfrm>
            <a:off x="1874520" y="1664208"/>
            <a:ext cx="1417320" cy="274320"/>
          </a:xfrm>
          <a:prstGeom prst="rect">
            <a:avLst/>
          </a:prstGeom>
          <a:solidFill>
            <a:srgbClr val="1A1A2E"/>
          </a:solidFill>
          <a:ln/>
        </p:spPr>
      </p:sp>
      <p:sp>
        <p:nvSpPr>
          <p:cNvPr id="12" name="Text 10"/>
          <p:cNvSpPr/>
          <p:nvPr/>
        </p:nvSpPr>
        <p:spPr>
          <a:xfrm>
            <a:off x="1874520" y="1664208"/>
            <a:ext cx="1417320" cy="27432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View Granted</a:t>
            </a:r>
            <a:endParaRPr lang="en-US" sz="800" dirty="0"/>
          </a:p>
        </p:txBody>
      </p:sp>
      <p:sp>
        <p:nvSpPr>
          <p:cNvPr id="13" name="Shape 11"/>
          <p:cNvSpPr/>
          <p:nvPr/>
        </p:nvSpPr>
        <p:spPr>
          <a:xfrm>
            <a:off x="3291840" y="1664208"/>
            <a:ext cx="438912" cy="274320"/>
          </a:xfrm>
          <a:prstGeom prst="rect">
            <a:avLst/>
          </a:prstGeom>
          <a:solidFill>
            <a:srgbClr val="1A1A2E"/>
          </a:solidFill>
          <a:ln/>
        </p:spPr>
      </p:sp>
      <p:sp>
        <p:nvSpPr>
          <p:cNvPr id="14" name="Text 12"/>
          <p:cNvSpPr/>
          <p:nvPr/>
        </p:nvSpPr>
        <p:spPr>
          <a:xfrm>
            <a:off x="3291840" y="1664208"/>
            <a:ext cx="438912" cy="27432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Raw WFElements</a:t>
            </a:r>
            <a:endParaRPr lang="en-US" sz="800" dirty="0"/>
          </a:p>
        </p:txBody>
      </p:sp>
      <p:sp>
        <p:nvSpPr>
          <p:cNvPr id="15" name="Shape 13"/>
          <p:cNvSpPr/>
          <p:nvPr/>
        </p:nvSpPr>
        <p:spPr>
          <a:xfrm>
            <a:off x="3730752" y="1664208"/>
            <a:ext cx="713232" cy="274320"/>
          </a:xfrm>
          <a:prstGeom prst="rect">
            <a:avLst/>
          </a:prstGeom>
          <a:solidFill>
            <a:srgbClr val="1A1A2E"/>
          </a:solidFill>
          <a:ln/>
        </p:spPr>
      </p:sp>
      <p:sp>
        <p:nvSpPr>
          <p:cNvPr id="16" name="Text 14"/>
          <p:cNvSpPr/>
          <p:nvPr/>
        </p:nvSpPr>
        <p:spPr>
          <a:xfrm>
            <a:off x="3730752" y="1664208"/>
            <a:ext cx="713232" cy="27432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Access Level</a:t>
            </a:r>
            <a:endParaRPr lang="en-US" sz="800" dirty="0"/>
          </a:p>
        </p:txBody>
      </p:sp>
      <p:sp>
        <p:nvSpPr>
          <p:cNvPr id="17" name="Shape 15"/>
          <p:cNvSpPr/>
          <p:nvPr/>
        </p:nvSpPr>
        <p:spPr>
          <a:xfrm>
            <a:off x="320040" y="1938528"/>
            <a:ext cx="1554480" cy="438912"/>
          </a:xfrm>
          <a:prstGeom prst="rect">
            <a:avLst/>
          </a:prstGeom>
          <a:solidFill>
            <a:srgbClr val="FFFFFF"/>
          </a:solidFill>
          <a:ln w="5080">
            <a:solidFill>
              <a:srgbClr val="DDE4EF"/>
            </a:solidFill>
            <a:prstDash val="solid"/>
          </a:ln>
        </p:spPr>
      </p:sp>
      <p:sp>
        <p:nvSpPr>
          <p:cNvPr id="18" name="Text 16"/>
          <p:cNvSpPr/>
          <p:nvPr/>
        </p:nvSpPr>
        <p:spPr>
          <a:xfrm>
            <a:off x="356616" y="1938528"/>
            <a:ext cx="1499616" cy="438912"/>
          </a:xfrm>
          <a:prstGeom prst="rect">
            <a:avLst/>
          </a:prstGeom>
          <a:noFill/>
          <a:ln/>
        </p:spPr>
        <p:txBody>
          <a:bodyPr wrap="square" rtlCol="0" anchor="ctr"/>
          <a:lstStyle/>
          <a:p>
            <a:pPr marL="0" indent="0" algn="l">
              <a:buNone/>
            </a:pPr>
            <a:r>
              <a:rPr lang="en-US" sz="850" b="1" dirty="0">
                <a:solidFill>
                  <a:srgbClr val="1A1A2E"/>
                </a:solidFill>
                <a:latin typeface="Calibri" pitchFamily="34" charset="0"/>
                <a:ea typeface="Calibri" pitchFamily="34" charset="-122"/>
                <a:cs typeface="Calibri" pitchFamily="34" charset="-120"/>
              </a:rPr>
              <a:t>COMPANY NAME IT Support</a:t>
            </a:r>
            <a:endParaRPr lang="en-US" sz="850" dirty="0"/>
          </a:p>
        </p:txBody>
      </p:sp>
      <p:sp>
        <p:nvSpPr>
          <p:cNvPr id="19" name="Shape 17"/>
          <p:cNvSpPr/>
          <p:nvPr/>
        </p:nvSpPr>
        <p:spPr>
          <a:xfrm>
            <a:off x="1874520" y="1938528"/>
            <a:ext cx="1417320" cy="438912"/>
          </a:xfrm>
          <a:prstGeom prst="rect">
            <a:avLst/>
          </a:prstGeom>
          <a:solidFill>
            <a:srgbClr val="FFFFFF"/>
          </a:solidFill>
          <a:ln w="5080">
            <a:solidFill>
              <a:srgbClr val="DDE4EF"/>
            </a:solidFill>
            <a:prstDash val="solid"/>
          </a:ln>
        </p:spPr>
      </p:sp>
      <p:sp>
        <p:nvSpPr>
          <p:cNvPr id="20" name="Text 18"/>
          <p:cNvSpPr/>
          <p:nvPr/>
        </p:nvSpPr>
        <p:spPr>
          <a:xfrm>
            <a:off x="1911096" y="1938528"/>
            <a:ext cx="1362456" cy="438912"/>
          </a:xfrm>
          <a:prstGeom prst="rect">
            <a:avLst/>
          </a:prstGeom>
          <a:noFill/>
          <a:ln/>
        </p:spPr>
        <p:txBody>
          <a:bodyPr wrap="square" rtlCol="0" anchor="ctr"/>
          <a:lstStyle/>
          <a:p>
            <a:pPr marL="0" indent="0" algn="l">
              <a:buNone/>
            </a:pPr>
            <a:r>
              <a:rPr lang="en-US" sz="900" dirty="0">
                <a:solidFill>
                  <a:srgbClr val="1A1A2E"/>
                </a:solidFill>
                <a:latin typeface="Calibri" pitchFamily="34" charset="0"/>
                <a:ea typeface="Calibri" pitchFamily="34" charset="-122"/>
                <a:cs typeface="Calibri" pitchFamily="34" charset="-120"/>
              </a:rPr>
              <a:t>vw_IT_Helpdesk</a:t>
            </a:r>
            <a:endParaRPr lang="en-US" sz="900" dirty="0"/>
          </a:p>
        </p:txBody>
      </p:sp>
      <p:sp>
        <p:nvSpPr>
          <p:cNvPr id="21" name="Shape 19"/>
          <p:cNvSpPr/>
          <p:nvPr/>
        </p:nvSpPr>
        <p:spPr>
          <a:xfrm>
            <a:off x="3291840" y="1938528"/>
            <a:ext cx="438912" cy="438912"/>
          </a:xfrm>
          <a:prstGeom prst="rect">
            <a:avLst/>
          </a:prstGeom>
          <a:solidFill>
            <a:srgbClr val="FFFFFF"/>
          </a:solidFill>
          <a:ln w="5080">
            <a:solidFill>
              <a:srgbClr val="DDE4EF"/>
            </a:solidFill>
            <a:prstDash val="solid"/>
          </a:ln>
        </p:spPr>
      </p:sp>
      <p:sp>
        <p:nvSpPr>
          <p:cNvPr id="22" name="Text 20"/>
          <p:cNvSpPr/>
          <p:nvPr/>
        </p:nvSpPr>
        <p:spPr>
          <a:xfrm>
            <a:off x="3328416" y="1938528"/>
            <a:ext cx="384048" cy="438912"/>
          </a:xfrm>
          <a:prstGeom prst="rect">
            <a:avLst/>
          </a:prstGeom>
          <a:noFill/>
          <a:ln/>
        </p:spPr>
        <p:txBody>
          <a:bodyPr wrap="square" rtlCol="0" anchor="ctr"/>
          <a:lstStyle/>
          <a:p>
            <a:pPr marL="0" indent="0" algn="ctr">
              <a:buNone/>
            </a:pPr>
            <a:r>
              <a:rPr lang="en-US" sz="900" dirty="0">
                <a:solidFill>
                  <a:srgbClr val="C0392B"/>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3730752" y="1938528"/>
            <a:ext cx="713232" cy="438912"/>
          </a:xfrm>
          <a:prstGeom prst="rect">
            <a:avLst/>
          </a:prstGeom>
          <a:solidFill>
            <a:srgbClr val="FFFFFF"/>
          </a:solidFill>
          <a:ln w="5080">
            <a:solidFill>
              <a:srgbClr val="DDE4EF"/>
            </a:solidFill>
            <a:prstDash val="solid"/>
          </a:ln>
        </p:spPr>
      </p:sp>
      <p:sp>
        <p:nvSpPr>
          <p:cNvPr id="24" name="Text 22"/>
          <p:cNvSpPr/>
          <p:nvPr/>
        </p:nvSpPr>
        <p:spPr>
          <a:xfrm>
            <a:off x="3767328" y="1938528"/>
            <a:ext cx="658368" cy="438912"/>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 Operational</a:t>
            </a:r>
            <a:endParaRPr lang="en-US" sz="900" dirty="0"/>
          </a:p>
        </p:txBody>
      </p:sp>
      <p:sp>
        <p:nvSpPr>
          <p:cNvPr id="25" name="Shape 23"/>
          <p:cNvSpPr/>
          <p:nvPr/>
        </p:nvSpPr>
        <p:spPr>
          <a:xfrm>
            <a:off x="320040" y="2414016"/>
            <a:ext cx="1554480" cy="438912"/>
          </a:xfrm>
          <a:prstGeom prst="rect">
            <a:avLst/>
          </a:prstGeom>
          <a:solidFill>
            <a:srgbClr val="F7F9FC"/>
          </a:solidFill>
          <a:ln w="5080">
            <a:solidFill>
              <a:srgbClr val="DDE4EF"/>
            </a:solidFill>
            <a:prstDash val="solid"/>
          </a:ln>
        </p:spPr>
      </p:sp>
      <p:sp>
        <p:nvSpPr>
          <p:cNvPr id="26" name="Text 24"/>
          <p:cNvSpPr/>
          <p:nvPr/>
        </p:nvSpPr>
        <p:spPr>
          <a:xfrm>
            <a:off x="356616" y="2414016"/>
            <a:ext cx="1499616" cy="438912"/>
          </a:xfrm>
          <a:prstGeom prst="rect">
            <a:avLst/>
          </a:prstGeom>
          <a:noFill/>
          <a:ln/>
        </p:spPr>
        <p:txBody>
          <a:bodyPr wrap="square" rtlCol="0" anchor="ctr"/>
          <a:lstStyle/>
          <a:p>
            <a:pPr marL="0" indent="0" algn="l">
              <a:buNone/>
            </a:pPr>
            <a:r>
              <a:rPr lang="en-US" sz="850" b="1" dirty="0">
                <a:solidFill>
                  <a:srgbClr val="1A1A2E"/>
                </a:solidFill>
                <a:latin typeface="Calibri" pitchFamily="34" charset="0"/>
                <a:ea typeface="Calibri" pitchFamily="34" charset="-122"/>
                <a:cs typeface="Calibri" pitchFamily="34" charset="-120"/>
              </a:rPr>
              <a:t>COMPANY NAME Procurement</a:t>
            </a:r>
            <a:endParaRPr lang="en-US" sz="850" dirty="0"/>
          </a:p>
        </p:txBody>
      </p:sp>
      <p:sp>
        <p:nvSpPr>
          <p:cNvPr id="27" name="Shape 25"/>
          <p:cNvSpPr/>
          <p:nvPr/>
        </p:nvSpPr>
        <p:spPr>
          <a:xfrm>
            <a:off x="1874520" y="2414016"/>
            <a:ext cx="1417320" cy="438912"/>
          </a:xfrm>
          <a:prstGeom prst="rect">
            <a:avLst/>
          </a:prstGeom>
          <a:solidFill>
            <a:srgbClr val="F7F9FC"/>
          </a:solidFill>
          <a:ln w="5080">
            <a:solidFill>
              <a:srgbClr val="DDE4EF"/>
            </a:solidFill>
            <a:prstDash val="solid"/>
          </a:ln>
        </p:spPr>
      </p:sp>
      <p:sp>
        <p:nvSpPr>
          <p:cNvPr id="28" name="Text 26"/>
          <p:cNvSpPr/>
          <p:nvPr/>
        </p:nvSpPr>
        <p:spPr>
          <a:xfrm>
            <a:off x="1911096" y="2414016"/>
            <a:ext cx="1362456" cy="438912"/>
          </a:xfrm>
          <a:prstGeom prst="rect">
            <a:avLst/>
          </a:prstGeom>
          <a:noFill/>
          <a:ln/>
        </p:spPr>
        <p:txBody>
          <a:bodyPr wrap="square" rtlCol="0" anchor="ctr"/>
          <a:lstStyle/>
          <a:p>
            <a:pPr marL="0" indent="0" algn="l">
              <a:buNone/>
            </a:pPr>
            <a:r>
              <a:rPr lang="en-US" sz="900" dirty="0">
                <a:solidFill>
                  <a:srgbClr val="1A1A2E"/>
                </a:solidFill>
                <a:latin typeface="Calibri" pitchFamily="34" charset="0"/>
                <a:ea typeface="Calibri" pitchFamily="34" charset="-122"/>
                <a:cs typeface="Calibri" pitchFamily="34" charset="-120"/>
              </a:rPr>
              <a:t>vw_Procurement_All</a:t>
            </a:r>
            <a:endParaRPr lang="en-US" sz="900" dirty="0"/>
          </a:p>
        </p:txBody>
      </p:sp>
      <p:sp>
        <p:nvSpPr>
          <p:cNvPr id="29" name="Shape 27"/>
          <p:cNvSpPr/>
          <p:nvPr/>
        </p:nvSpPr>
        <p:spPr>
          <a:xfrm>
            <a:off x="3291840" y="2414016"/>
            <a:ext cx="438912" cy="438912"/>
          </a:xfrm>
          <a:prstGeom prst="rect">
            <a:avLst/>
          </a:prstGeom>
          <a:solidFill>
            <a:srgbClr val="F7F9FC"/>
          </a:solidFill>
          <a:ln w="5080">
            <a:solidFill>
              <a:srgbClr val="DDE4EF"/>
            </a:solidFill>
            <a:prstDash val="solid"/>
          </a:ln>
        </p:spPr>
      </p:sp>
      <p:sp>
        <p:nvSpPr>
          <p:cNvPr id="30" name="Text 28"/>
          <p:cNvSpPr/>
          <p:nvPr/>
        </p:nvSpPr>
        <p:spPr>
          <a:xfrm>
            <a:off x="3328416" y="2414016"/>
            <a:ext cx="384048" cy="438912"/>
          </a:xfrm>
          <a:prstGeom prst="rect">
            <a:avLst/>
          </a:prstGeom>
          <a:noFill/>
          <a:ln/>
        </p:spPr>
        <p:txBody>
          <a:bodyPr wrap="square" rtlCol="0" anchor="ctr"/>
          <a:lstStyle/>
          <a:p>
            <a:pPr marL="0" indent="0" algn="ctr">
              <a:buNone/>
            </a:pPr>
            <a:r>
              <a:rPr lang="en-US" sz="900" dirty="0">
                <a:solidFill>
                  <a:srgbClr val="C0392B"/>
                </a:solidFill>
                <a:latin typeface="Calibri" pitchFamily="34" charset="0"/>
                <a:ea typeface="Calibri" pitchFamily="34" charset="-122"/>
                <a:cs typeface="Calibri" pitchFamily="34" charset="-120"/>
              </a:rPr>
              <a:t>❌</a:t>
            </a:r>
            <a:endParaRPr lang="en-US" sz="900" dirty="0"/>
          </a:p>
        </p:txBody>
      </p:sp>
      <p:sp>
        <p:nvSpPr>
          <p:cNvPr id="31" name="Shape 29"/>
          <p:cNvSpPr/>
          <p:nvPr/>
        </p:nvSpPr>
        <p:spPr>
          <a:xfrm>
            <a:off x="3730752" y="2414016"/>
            <a:ext cx="713232" cy="438912"/>
          </a:xfrm>
          <a:prstGeom prst="rect">
            <a:avLst/>
          </a:prstGeom>
          <a:solidFill>
            <a:srgbClr val="F7F9FC"/>
          </a:solidFill>
          <a:ln w="5080">
            <a:solidFill>
              <a:srgbClr val="DDE4EF"/>
            </a:solidFill>
            <a:prstDash val="solid"/>
          </a:ln>
        </p:spPr>
      </p:sp>
      <p:sp>
        <p:nvSpPr>
          <p:cNvPr id="32" name="Text 30"/>
          <p:cNvSpPr/>
          <p:nvPr/>
        </p:nvSpPr>
        <p:spPr>
          <a:xfrm>
            <a:off x="3767328" y="2414016"/>
            <a:ext cx="658368" cy="438912"/>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 Operational</a:t>
            </a:r>
            <a:endParaRPr lang="en-US" sz="900" dirty="0"/>
          </a:p>
        </p:txBody>
      </p:sp>
      <p:sp>
        <p:nvSpPr>
          <p:cNvPr id="33" name="Shape 31"/>
          <p:cNvSpPr/>
          <p:nvPr/>
        </p:nvSpPr>
        <p:spPr>
          <a:xfrm>
            <a:off x="320040" y="2889504"/>
            <a:ext cx="1554480" cy="438912"/>
          </a:xfrm>
          <a:prstGeom prst="rect">
            <a:avLst/>
          </a:prstGeom>
          <a:solidFill>
            <a:srgbClr val="FFFFFF"/>
          </a:solidFill>
          <a:ln w="5080">
            <a:solidFill>
              <a:srgbClr val="DDE4EF"/>
            </a:solidFill>
            <a:prstDash val="solid"/>
          </a:ln>
        </p:spPr>
      </p:sp>
      <p:sp>
        <p:nvSpPr>
          <p:cNvPr id="34" name="Text 32"/>
          <p:cNvSpPr/>
          <p:nvPr/>
        </p:nvSpPr>
        <p:spPr>
          <a:xfrm>
            <a:off x="356616" y="2889504"/>
            <a:ext cx="1499616" cy="438912"/>
          </a:xfrm>
          <a:prstGeom prst="rect">
            <a:avLst/>
          </a:prstGeom>
          <a:noFill/>
          <a:ln/>
        </p:spPr>
        <p:txBody>
          <a:bodyPr wrap="square" rtlCol="0" anchor="ctr"/>
          <a:lstStyle/>
          <a:p>
            <a:pPr marL="0" indent="0" algn="l">
              <a:buNone/>
            </a:pPr>
            <a:r>
              <a:rPr lang="en-US" sz="850" b="1" dirty="0">
                <a:solidFill>
                  <a:srgbClr val="1A1A2E"/>
                </a:solidFill>
                <a:latin typeface="Calibri" pitchFamily="34" charset="0"/>
                <a:ea typeface="Calibri" pitchFamily="34" charset="-122"/>
                <a:cs typeface="Calibri" pitchFamily="34" charset="-120"/>
              </a:rPr>
              <a:t>COMPANY NAME DB Admin</a:t>
            </a:r>
            <a:endParaRPr lang="en-US" sz="850" dirty="0"/>
          </a:p>
        </p:txBody>
      </p:sp>
      <p:sp>
        <p:nvSpPr>
          <p:cNvPr id="35" name="Shape 33"/>
          <p:cNvSpPr/>
          <p:nvPr/>
        </p:nvSpPr>
        <p:spPr>
          <a:xfrm>
            <a:off x="1874520" y="2889504"/>
            <a:ext cx="1417320" cy="438912"/>
          </a:xfrm>
          <a:prstGeom prst="rect">
            <a:avLst/>
          </a:prstGeom>
          <a:solidFill>
            <a:srgbClr val="FFFFFF"/>
          </a:solidFill>
          <a:ln w="5080">
            <a:solidFill>
              <a:srgbClr val="DDE4EF"/>
            </a:solidFill>
            <a:prstDash val="solid"/>
          </a:ln>
        </p:spPr>
      </p:sp>
      <p:sp>
        <p:nvSpPr>
          <p:cNvPr id="36" name="Text 34"/>
          <p:cNvSpPr/>
          <p:nvPr/>
        </p:nvSpPr>
        <p:spPr>
          <a:xfrm>
            <a:off x="1911096" y="2889504"/>
            <a:ext cx="1362456" cy="438912"/>
          </a:xfrm>
          <a:prstGeom prst="rect">
            <a:avLst/>
          </a:prstGeom>
          <a:noFill/>
          <a:ln/>
        </p:spPr>
        <p:txBody>
          <a:bodyPr wrap="square" rtlCol="0" anchor="ctr"/>
          <a:lstStyle/>
          <a:p>
            <a:pPr marL="0" indent="0" algn="l">
              <a:buNone/>
            </a:pPr>
            <a:r>
              <a:rPr lang="en-US" sz="900" dirty="0">
                <a:solidFill>
                  <a:srgbClr val="1A1A2E"/>
                </a:solidFill>
                <a:latin typeface="Calibri" pitchFamily="34" charset="0"/>
                <a:ea typeface="Calibri" pitchFamily="34" charset="-122"/>
                <a:cs typeface="Calibri" pitchFamily="34" charset="-120"/>
              </a:rPr>
              <a:t>vw_Operational_All</a:t>
            </a:r>
            <a:endParaRPr lang="en-US" sz="900" dirty="0"/>
          </a:p>
        </p:txBody>
      </p:sp>
      <p:sp>
        <p:nvSpPr>
          <p:cNvPr id="37" name="Shape 35"/>
          <p:cNvSpPr/>
          <p:nvPr/>
        </p:nvSpPr>
        <p:spPr>
          <a:xfrm>
            <a:off x="3291840" y="2889504"/>
            <a:ext cx="438912" cy="438912"/>
          </a:xfrm>
          <a:prstGeom prst="rect">
            <a:avLst/>
          </a:prstGeom>
          <a:solidFill>
            <a:srgbClr val="FFFFFF"/>
          </a:solidFill>
          <a:ln w="5080">
            <a:solidFill>
              <a:srgbClr val="DDE4EF"/>
            </a:solidFill>
            <a:prstDash val="solid"/>
          </a:ln>
        </p:spPr>
      </p:sp>
      <p:sp>
        <p:nvSpPr>
          <p:cNvPr id="38" name="Text 36"/>
          <p:cNvSpPr/>
          <p:nvPr/>
        </p:nvSpPr>
        <p:spPr>
          <a:xfrm>
            <a:off x="3328416" y="2889504"/>
            <a:ext cx="384048" cy="438912"/>
          </a:xfrm>
          <a:prstGeom prst="rect">
            <a:avLst/>
          </a:prstGeom>
          <a:noFill/>
          <a:ln/>
        </p:spPr>
        <p:txBody>
          <a:bodyPr wrap="square" rtlCol="0" anchor="ctr"/>
          <a:lstStyle/>
          <a:p>
            <a:pPr marL="0" indent="0" algn="ctr">
              <a:buNone/>
            </a:pPr>
            <a:r>
              <a:rPr lang="en-US" sz="900" dirty="0">
                <a:solidFill>
                  <a:srgbClr val="C0392B"/>
                </a:solidFill>
                <a:latin typeface="Calibri" pitchFamily="34" charset="0"/>
                <a:ea typeface="Calibri" pitchFamily="34" charset="-122"/>
                <a:cs typeface="Calibri" pitchFamily="34" charset="-120"/>
              </a:rPr>
              <a:t>❌</a:t>
            </a:r>
            <a:endParaRPr lang="en-US" sz="900" dirty="0"/>
          </a:p>
        </p:txBody>
      </p:sp>
      <p:sp>
        <p:nvSpPr>
          <p:cNvPr id="39" name="Shape 37"/>
          <p:cNvSpPr/>
          <p:nvPr/>
        </p:nvSpPr>
        <p:spPr>
          <a:xfrm>
            <a:off x="3730752" y="2889504"/>
            <a:ext cx="713232" cy="438912"/>
          </a:xfrm>
          <a:prstGeom prst="rect">
            <a:avLst/>
          </a:prstGeom>
          <a:solidFill>
            <a:srgbClr val="FFFFFF"/>
          </a:solidFill>
          <a:ln w="5080">
            <a:solidFill>
              <a:srgbClr val="DDE4EF"/>
            </a:solidFill>
            <a:prstDash val="solid"/>
          </a:ln>
        </p:spPr>
      </p:sp>
      <p:sp>
        <p:nvSpPr>
          <p:cNvPr id="40" name="Text 38"/>
          <p:cNvSpPr/>
          <p:nvPr/>
        </p:nvSpPr>
        <p:spPr>
          <a:xfrm>
            <a:off x="3767328" y="2889504"/>
            <a:ext cx="658368" cy="438912"/>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 Read-only</a:t>
            </a:r>
            <a:endParaRPr lang="en-US" sz="900" dirty="0"/>
          </a:p>
        </p:txBody>
      </p:sp>
      <p:sp>
        <p:nvSpPr>
          <p:cNvPr id="41" name="Shape 39"/>
          <p:cNvSpPr/>
          <p:nvPr/>
        </p:nvSpPr>
        <p:spPr>
          <a:xfrm>
            <a:off x="320040" y="3364992"/>
            <a:ext cx="1554480" cy="438912"/>
          </a:xfrm>
          <a:prstGeom prst="rect">
            <a:avLst/>
          </a:prstGeom>
          <a:solidFill>
            <a:srgbClr val="F7F9FC"/>
          </a:solidFill>
          <a:ln w="5080">
            <a:solidFill>
              <a:srgbClr val="DDE4EF"/>
            </a:solidFill>
            <a:prstDash val="solid"/>
          </a:ln>
        </p:spPr>
      </p:sp>
      <p:sp>
        <p:nvSpPr>
          <p:cNvPr id="42" name="Text 40"/>
          <p:cNvSpPr/>
          <p:nvPr/>
        </p:nvSpPr>
        <p:spPr>
          <a:xfrm>
            <a:off x="356616" y="3364992"/>
            <a:ext cx="1499616" cy="438912"/>
          </a:xfrm>
          <a:prstGeom prst="rect">
            <a:avLst/>
          </a:prstGeom>
          <a:noFill/>
          <a:ln/>
        </p:spPr>
        <p:txBody>
          <a:bodyPr wrap="square" rtlCol="0" anchor="ctr"/>
          <a:lstStyle/>
          <a:p>
            <a:pPr marL="0" indent="0" algn="l">
              <a:buNone/>
            </a:pPr>
            <a:r>
              <a:rPr lang="en-US" sz="850" b="1" dirty="0">
                <a:solidFill>
                  <a:srgbClr val="1A1A2E"/>
                </a:solidFill>
                <a:latin typeface="Calibri" pitchFamily="34" charset="0"/>
                <a:ea typeface="Calibri" pitchFamily="34" charset="-122"/>
                <a:cs typeface="Calibri" pitchFamily="34" charset="-120"/>
              </a:rPr>
              <a:t>EEA HR Admin</a:t>
            </a:r>
            <a:endParaRPr lang="en-US" sz="850" dirty="0"/>
          </a:p>
        </p:txBody>
      </p:sp>
      <p:sp>
        <p:nvSpPr>
          <p:cNvPr id="43" name="Shape 41"/>
          <p:cNvSpPr/>
          <p:nvPr/>
        </p:nvSpPr>
        <p:spPr>
          <a:xfrm>
            <a:off x="1874520" y="3364992"/>
            <a:ext cx="1417320" cy="438912"/>
          </a:xfrm>
          <a:prstGeom prst="rect">
            <a:avLst/>
          </a:prstGeom>
          <a:solidFill>
            <a:srgbClr val="F7F9FC"/>
          </a:solidFill>
          <a:ln w="5080">
            <a:solidFill>
              <a:srgbClr val="DDE4EF"/>
            </a:solidFill>
            <a:prstDash val="solid"/>
          </a:ln>
        </p:spPr>
      </p:sp>
      <p:sp>
        <p:nvSpPr>
          <p:cNvPr id="44" name="Text 42"/>
          <p:cNvSpPr/>
          <p:nvPr/>
        </p:nvSpPr>
        <p:spPr>
          <a:xfrm>
            <a:off x="1911096" y="3364992"/>
            <a:ext cx="1362456" cy="438912"/>
          </a:xfrm>
          <a:prstGeom prst="rect">
            <a:avLst/>
          </a:prstGeom>
          <a:noFill/>
          <a:ln/>
        </p:spPr>
        <p:txBody>
          <a:bodyPr wrap="square" rtlCol="0" anchor="ctr"/>
          <a:lstStyle/>
          <a:p>
            <a:pPr marL="0" indent="0" algn="l">
              <a:buNone/>
            </a:pPr>
            <a:r>
              <a:rPr lang="en-US" sz="900" dirty="0">
                <a:solidFill>
                  <a:srgbClr val="1A1A2E"/>
                </a:solidFill>
                <a:latin typeface="Calibri" pitchFamily="34" charset="0"/>
                <a:ea typeface="Calibri" pitchFamily="34" charset="-122"/>
                <a:cs typeface="Calibri" pitchFamily="34" charset="-120"/>
              </a:rPr>
              <a:t>vw_HR_Full (all cols)</a:t>
            </a:r>
            <a:endParaRPr lang="en-US" sz="900" dirty="0"/>
          </a:p>
        </p:txBody>
      </p:sp>
      <p:sp>
        <p:nvSpPr>
          <p:cNvPr id="45" name="Shape 43"/>
          <p:cNvSpPr/>
          <p:nvPr/>
        </p:nvSpPr>
        <p:spPr>
          <a:xfrm>
            <a:off x="3291840" y="3364992"/>
            <a:ext cx="438912" cy="438912"/>
          </a:xfrm>
          <a:prstGeom prst="rect">
            <a:avLst/>
          </a:prstGeom>
          <a:solidFill>
            <a:srgbClr val="F7F9FC"/>
          </a:solidFill>
          <a:ln w="5080">
            <a:solidFill>
              <a:srgbClr val="DDE4EF"/>
            </a:solidFill>
            <a:prstDash val="solid"/>
          </a:ln>
        </p:spPr>
      </p:sp>
      <p:sp>
        <p:nvSpPr>
          <p:cNvPr id="46" name="Text 44"/>
          <p:cNvSpPr/>
          <p:nvPr/>
        </p:nvSpPr>
        <p:spPr>
          <a:xfrm>
            <a:off x="3328416" y="3364992"/>
            <a:ext cx="384048" cy="438912"/>
          </a:xfrm>
          <a:prstGeom prst="rect">
            <a:avLst/>
          </a:prstGeom>
          <a:noFill/>
          <a:ln/>
        </p:spPr>
        <p:txBody>
          <a:bodyPr wrap="square" rtlCol="0" anchor="ctr"/>
          <a:lstStyle/>
          <a:p>
            <a:pPr marL="0" indent="0" algn="ctr">
              <a:buNone/>
            </a:pPr>
            <a:r>
              <a:rPr lang="en-US" sz="900" dirty="0">
                <a:solidFill>
                  <a:srgbClr val="1B7A4A"/>
                </a:solidFill>
                <a:latin typeface="Calibri" pitchFamily="34" charset="0"/>
                <a:ea typeface="Calibri" pitchFamily="34" charset="-122"/>
                <a:cs typeface="Calibri" pitchFamily="34" charset="-120"/>
              </a:rPr>
              <a:t>✅</a:t>
            </a:r>
            <a:endParaRPr lang="en-US" sz="900" dirty="0"/>
          </a:p>
        </p:txBody>
      </p:sp>
      <p:sp>
        <p:nvSpPr>
          <p:cNvPr id="47" name="Shape 45"/>
          <p:cNvSpPr/>
          <p:nvPr/>
        </p:nvSpPr>
        <p:spPr>
          <a:xfrm>
            <a:off x="3730752" y="3364992"/>
            <a:ext cx="713232" cy="438912"/>
          </a:xfrm>
          <a:prstGeom prst="rect">
            <a:avLst/>
          </a:prstGeom>
          <a:solidFill>
            <a:srgbClr val="F7F9FC"/>
          </a:solidFill>
          <a:ln w="5080">
            <a:solidFill>
              <a:srgbClr val="DDE4EF"/>
            </a:solidFill>
            <a:prstDash val="solid"/>
          </a:ln>
        </p:spPr>
      </p:sp>
      <p:sp>
        <p:nvSpPr>
          <p:cNvPr id="48" name="Text 46"/>
          <p:cNvSpPr/>
          <p:nvPr/>
        </p:nvSpPr>
        <p:spPr>
          <a:xfrm>
            <a:off x="3767328" y="3364992"/>
            <a:ext cx="658368" cy="438912"/>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 Full access</a:t>
            </a:r>
            <a:endParaRPr lang="en-US" sz="900" dirty="0"/>
          </a:p>
        </p:txBody>
      </p:sp>
      <p:sp>
        <p:nvSpPr>
          <p:cNvPr id="49" name="Shape 47"/>
          <p:cNvSpPr/>
          <p:nvPr/>
        </p:nvSpPr>
        <p:spPr>
          <a:xfrm>
            <a:off x="320040" y="3840480"/>
            <a:ext cx="1554480" cy="438912"/>
          </a:xfrm>
          <a:prstGeom prst="rect">
            <a:avLst/>
          </a:prstGeom>
          <a:solidFill>
            <a:srgbClr val="FFFFFF"/>
          </a:solidFill>
          <a:ln w="5080">
            <a:solidFill>
              <a:srgbClr val="DDE4EF"/>
            </a:solidFill>
            <a:prstDash val="solid"/>
          </a:ln>
        </p:spPr>
      </p:sp>
      <p:sp>
        <p:nvSpPr>
          <p:cNvPr id="50" name="Text 48"/>
          <p:cNvSpPr/>
          <p:nvPr/>
        </p:nvSpPr>
        <p:spPr>
          <a:xfrm>
            <a:off x="356616" y="3840480"/>
            <a:ext cx="1499616" cy="438912"/>
          </a:xfrm>
          <a:prstGeom prst="rect">
            <a:avLst/>
          </a:prstGeom>
          <a:noFill/>
          <a:ln/>
        </p:spPr>
        <p:txBody>
          <a:bodyPr wrap="square" rtlCol="0" anchor="ctr"/>
          <a:lstStyle/>
          <a:p>
            <a:pPr marL="0" indent="0" algn="l">
              <a:buNone/>
            </a:pPr>
            <a:r>
              <a:rPr lang="en-US" sz="850" b="1" dirty="0">
                <a:solidFill>
                  <a:srgbClr val="1A1A2E"/>
                </a:solidFill>
                <a:latin typeface="Calibri" pitchFamily="34" charset="0"/>
                <a:ea typeface="Calibri" pitchFamily="34" charset="-122"/>
                <a:cs typeface="Calibri" pitchFamily="34" charset="-120"/>
              </a:rPr>
              <a:t>COMPANY NAME HR Ops</a:t>
            </a:r>
            <a:endParaRPr lang="en-US" sz="850" dirty="0"/>
          </a:p>
        </p:txBody>
      </p:sp>
      <p:sp>
        <p:nvSpPr>
          <p:cNvPr id="51" name="Shape 49"/>
          <p:cNvSpPr/>
          <p:nvPr/>
        </p:nvSpPr>
        <p:spPr>
          <a:xfrm>
            <a:off x="1874520" y="3840480"/>
            <a:ext cx="1417320" cy="438912"/>
          </a:xfrm>
          <a:prstGeom prst="rect">
            <a:avLst/>
          </a:prstGeom>
          <a:solidFill>
            <a:srgbClr val="FFFFFF"/>
          </a:solidFill>
          <a:ln w="5080">
            <a:solidFill>
              <a:srgbClr val="DDE4EF"/>
            </a:solidFill>
            <a:prstDash val="solid"/>
          </a:ln>
        </p:spPr>
      </p:sp>
      <p:sp>
        <p:nvSpPr>
          <p:cNvPr id="52" name="Text 50"/>
          <p:cNvSpPr/>
          <p:nvPr/>
        </p:nvSpPr>
        <p:spPr>
          <a:xfrm>
            <a:off x="1911096" y="3840480"/>
            <a:ext cx="1362456" cy="438912"/>
          </a:xfrm>
          <a:prstGeom prst="rect">
            <a:avLst/>
          </a:prstGeom>
          <a:noFill/>
          <a:ln/>
        </p:spPr>
        <p:txBody>
          <a:bodyPr wrap="square" rtlCol="0" anchor="ctr"/>
          <a:lstStyle/>
          <a:p>
            <a:pPr marL="0" indent="0" algn="l">
              <a:buNone/>
            </a:pPr>
            <a:r>
              <a:rPr lang="en-US" sz="900" dirty="0">
                <a:solidFill>
                  <a:srgbClr val="1A1A2E"/>
                </a:solidFill>
                <a:latin typeface="Calibri" pitchFamily="34" charset="0"/>
                <a:ea typeface="Calibri" pitchFamily="34" charset="-122"/>
                <a:cs typeface="Calibri" pitchFamily="34" charset="-120"/>
              </a:rPr>
              <a:t>vw_HR_Operational</a:t>
            </a:r>
            <a:endParaRPr lang="en-US" sz="900" dirty="0"/>
          </a:p>
        </p:txBody>
      </p:sp>
      <p:sp>
        <p:nvSpPr>
          <p:cNvPr id="53" name="Shape 51"/>
          <p:cNvSpPr/>
          <p:nvPr/>
        </p:nvSpPr>
        <p:spPr>
          <a:xfrm>
            <a:off x="3291840" y="3840480"/>
            <a:ext cx="438912" cy="438912"/>
          </a:xfrm>
          <a:prstGeom prst="rect">
            <a:avLst/>
          </a:prstGeom>
          <a:solidFill>
            <a:srgbClr val="FFFFFF"/>
          </a:solidFill>
          <a:ln w="5080">
            <a:solidFill>
              <a:srgbClr val="DDE4EF"/>
            </a:solidFill>
            <a:prstDash val="solid"/>
          </a:ln>
        </p:spPr>
      </p:sp>
      <p:sp>
        <p:nvSpPr>
          <p:cNvPr id="54" name="Text 52"/>
          <p:cNvSpPr/>
          <p:nvPr/>
        </p:nvSpPr>
        <p:spPr>
          <a:xfrm>
            <a:off x="3328416" y="3840480"/>
            <a:ext cx="384048" cy="438912"/>
          </a:xfrm>
          <a:prstGeom prst="rect">
            <a:avLst/>
          </a:prstGeom>
          <a:noFill/>
          <a:ln/>
        </p:spPr>
        <p:txBody>
          <a:bodyPr wrap="square" rtlCol="0" anchor="ctr"/>
          <a:lstStyle/>
          <a:p>
            <a:pPr marL="0" indent="0" algn="ctr">
              <a:buNone/>
            </a:pPr>
            <a:r>
              <a:rPr lang="en-US" sz="900" dirty="0">
                <a:solidFill>
                  <a:srgbClr val="C0392B"/>
                </a:solidFill>
                <a:latin typeface="Calibri" pitchFamily="34" charset="0"/>
                <a:ea typeface="Calibri" pitchFamily="34" charset="-122"/>
                <a:cs typeface="Calibri" pitchFamily="34" charset="-120"/>
              </a:rPr>
              <a:t>❌</a:t>
            </a:r>
            <a:endParaRPr lang="en-US" sz="900" dirty="0"/>
          </a:p>
        </p:txBody>
      </p:sp>
      <p:sp>
        <p:nvSpPr>
          <p:cNvPr id="55" name="Shape 53"/>
          <p:cNvSpPr/>
          <p:nvPr/>
        </p:nvSpPr>
        <p:spPr>
          <a:xfrm>
            <a:off x="3730752" y="3840480"/>
            <a:ext cx="713232" cy="438912"/>
          </a:xfrm>
          <a:prstGeom prst="rect">
            <a:avLst/>
          </a:prstGeom>
          <a:solidFill>
            <a:srgbClr val="FFFFFF"/>
          </a:solidFill>
          <a:ln w="5080">
            <a:solidFill>
              <a:srgbClr val="DDE4EF"/>
            </a:solidFill>
            <a:prstDash val="solid"/>
          </a:ln>
        </p:spPr>
      </p:sp>
      <p:sp>
        <p:nvSpPr>
          <p:cNvPr id="56" name="Text 54"/>
          <p:cNvSpPr/>
          <p:nvPr/>
        </p:nvSpPr>
        <p:spPr>
          <a:xfrm>
            <a:off x="3767328" y="3840480"/>
            <a:ext cx="658368" cy="438912"/>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 No PII cols</a:t>
            </a:r>
            <a:endParaRPr lang="en-US" sz="900" dirty="0"/>
          </a:p>
        </p:txBody>
      </p:sp>
      <p:sp>
        <p:nvSpPr>
          <p:cNvPr id="57" name="Shape 55"/>
          <p:cNvSpPr/>
          <p:nvPr/>
        </p:nvSpPr>
        <p:spPr>
          <a:xfrm>
            <a:off x="320040" y="4325112"/>
            <a:ext cx="4114800" cy="347472"/>
          </a:xfrm>
          <a:prstGeom prst="rect">
            <a:avLst/>
          </a:prstGeom>
          <a:solidFill>
            <a:srgbClr val="FFF8E1"/>
          </a:solidFill>
          <a:ln w="10160">
            <a:solidFill>
              <a:srgbClr val="E67E22"/>
            </a:solidFill>
            <a:prstDash val="solid"/>
          </a:ln>
        </p:spPr>
      </p:sp>
      <p:sp>
        <p:nvSpPr>
          <p:cNvPr id="58" name="Text 56"/>
          <p:cNvSpPr/>
          <p:nvPr/>
        </p:nvSpPr>
        <p:spPr>
          <a:xfrm>
            <a:off x="411480" y="4325112"/>
            <a:ext cx="3931920" cy="347472"/>
          </a:xfrm>
          <a:prstGeom prst="rect">
            <a:avLst/>
          </a:prstGeom>
          <a:noFill/>
          <a:ln/>
        </p:spPr>
        <p:txBody>
          <a:bodyPr wrap="square" rtlCol="0" anchor="ctr"/>
          <a:lstStyle/>
          <a:p>
            <a:pPr marL="0" indent="0">
              <a:buNone/>
            </a:pPr>
            <a:r>
              <a:rPr lang="en-US" sz="850" dirty="0">
                <a:solidFill>
                  <a:srgbClr val="7B4800"/>
                </a:solidFill>
                <a:latin typeface="Calibri" pitchFamily="34" charset="0"/>
                <a:ea typeface="Calibri" pitchFamily="34" charset="-122"/>
                <a:cs typeface="Calibri" pitchFamily="34" charset="-120"/>
              </a:rPr>
              <a:t>⚠  Direct SELECT on dbo.WFElements is REVOKED from all Non-EEA roles after views are deployed.</a:t>
            </a:r>
            <a:endParaRPr lang="en-US" sz="850" dirty="0"/>
          </a:p>
        </p:txBody>
      </p:sp>
      <p:sp>
        <p:nvSpPr>
          <p:cNvPr id="59" name="Shape 57"/>
          <p:cNvSpPr/>
          <p:nvPr/>
        </p:nvSpPr>
        <p:spPr>
          <a:xfrm>
            <a:off x="4709160" y="1298448"/>
            <a:ext cx="4160520" cy="3383280"/>
          </a:xfrm>
          <a:prstGeom prst="rect">
            <a:avLst/>
          </a:prstGeom>
          <a:solidFill>
            <a:srgbClr val="FFFFFF"/>
          </a:solidFill>
          <a:ln/>
          <a:effectLst>
            <a:outerShdw blurRad="101600" dist="38100" dir="8100000" algn="bl" rotWithShape="0">
              <a:srgbClr val="000000">
                <a:alpha val="12000"/>
              </a:srgbClr>
            </a:outerShdw>
          </a:effectLst>
        </p:spPr>
      </p:sp>
      <p:sp>
        <p:nvSpPr>
          <p:cNvPr id="60" name="Shape 58"/>
          <p:cNvSpPr/>
          <p:nvPr/>
        </p:nvSpPr>
        <p:spPr>
          <a:xfrm>
            <a:off x="4709160" y="1298448"/>
            <a:ext cx="4160520" cy="329184"/>
          </a:xfrm>
          <a:prstGeom prst="rect">
            <a:avLst/>
          </a:prstGeom>
          <a:solidFill>
            <a:srgbClr val="F3E5F5"/>
          </a:solidFill>
          <a:ln/>
        </p:spPr>
      </p:sp>
      <p:sp>
        <p:nvSpPr>
          <p:cNvPr id="61" name="Text 59"/>
          <p:cNvSpPr/>
          <p:nvPr/>
        </p:nvSpPr>
        <p:spPr>
          <a:xfrm>
            <a:off x="4800600" y="1298448"/>
            <a:ext cx="3931920" cy="329184"/>
          </a:xfrm>
          <a:prstGeom prst="rect">
            <a:avLst/>
          </a:prstGeom>
          <a:noFill/>
          <a:ln/>
        </p:spPr>
        <p:txBody>
          <a:bodyPr wrap="square" rtlCol="0" anchor="ctr"/>
          <a:lstStyle/>
          <a:p>
            <a:pPr marL="0" indent="0">
              <a:buNone/>
            </a:pPr>
            <a:r>
              <a:rPr lang="en-US" sz="1000" b="1" dirty="0">
                <a:solidFill>
                  <a:srgbClr val="4A235A"/>
                </a:solidFill>
                <a:latin typeface="Calibri" pitchFamily="34" charset="0"/>
                <a:ea typeface="Calibri" pitchFamily="34" charset="-122"/>
                <a:cs typeface="Calibri" pitchFamily="34" charset="-120"/>
              </a:rPr>
              <a:t>Column Pool Problem — WFD_AttText3 Collision</a:t>
            </a:r>
            <a:endParaRPr lang="en-US" sz="1000" dirty="0"/>
          </a:p>
        </p:txBody>
      </p:sp>
      <p:sp>
        <p:nvSpPr>
          <p:cNvPr id="62" name="Text 60"/>
          <p:cNvSpPr/>
          <p:nvPr/>
        </p:nvSpPr>
        <p:spPr>
          <a:xfrm>
            <a:off x="4800600" y="1700784"/>
            <a:ext cx="3931920" cy="237744"/>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Same physical column — different meaning per process:</a:t>
            </a:r>
            <a:endParaRPr lang="en-US" sz="950" dirty="0"/>
          </a:p>
        </p:txBody>
      </p:sp>
      <p:sp>
        <p:nvSpPr>
          <p:cNvPr id="63" name="Shape 61"/>
          <p:cNvSpPr/>
          <p:nvPr/>
        </p:nvSpPr>
        <p:spPr>
          <a:xfrm>
            <a:off x="4773168" y="2011680"/>
            <a:ext cx="3977640" cy="548640"/>
          </a:xfrm>
          <a:prstGeom prst="rect">
            <a:avLst/>
          </a:prstGeom>
          <a:solidFill>
            <a:srgbClr val="FFEBEE"/>
          </a:solidFill>
          <a:ln w="5080">
            <a:solidFill>
              <a:srgbClr val="DDDDDD"/>
            </a:solidFill>
            <a:prstDash val="solid"/>
          </a:ln>
        </p:spPr>
      </p:sp>
      <p:sp>
        <p:nvSpPr>
          <p:cNvPr id="64" name="Text 62"/>
          <p:cNvSpPr/>
          <p:nvPr/>
        </p:nvSpPr>
        <p:spPr>
          <a:xfrm>
            <a:off x="4846320" y="2048256"/>
            <a:ext cx="1828800" cy="219456"/>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HR Suite (101)</a:t>
            </a:r>
            <a:endParaRPr lang="en-US" sz="850" dirty="0"/>
          </a:p>
        </p:txBody>
      </p:sp>
      <p:sp>
        <p:nvSpPr>
          <p:cNvPr id="65" name="Text 63"/>
          <p:cNvSpPr/>
          <p:nvPr/>
        </p:nvSpPr>
        <p:spPr>
          <a:xfrm>
            <a:off x="4846320" y="2286000"/>
            <a:ext cx="2194560" cy="201168"/>
          </a:xfrm>
          <a:prstGeom prst="rect">
            <a:avLst/>
          </a:prstGeom>
          <a:noFill/>
          <a:ln/>
        </p:spPr>
        <p:txBody>
          <a:bodyPr wrap="square" rtlCol="0" anchor="ctr"/>
          <a:lstStyle/>
          <a:p>
            <a:pPr marL="0" indent="0">
              <a:buNone/>
            </a:pPr>
            <a:r>
              <a:rPr lang="en-US" sz="750" dirty="0">
                <a:solidFill>
                  <a:srgbClr val="5B6B85"/>
                </a:solidFill>
                <a:latin typeface="Consolas" pitchFamily="34" charset="0"/>
                <a:ea typeface="Consolas" pitchFamily="34" charset="-122"/>
                <a:cs typeface="Consolas" pitchFamily="34" charset="-120"/>
              </a:rPr>
              <a:t>WFD_AttText3 = "Hypertension"</a:t>
            </a:r>
            <a:endParaRPr lang="en-US" sz="750" dirty="0"/>
          </a:p>
        </p:txBody>
      </p:sp>
      <p:sp>
        <p:nvSpPr>
          <p:cNvPr id="66" name="Shape 64"/>
          <p:cNvSpPr/>
          <p:nvPr/>
        </p:nvSpPr>
        <p:spPr>
          <a:xfrm>
            <a:off x="7178040" y="2103120"/>
            <a:ext cx="1417320" cy="347472"/>
          </a:xfrm>
          <a:prstGeom prst="rect">
            <a:avLst/>
          </a:prstGeom>
          <a:solidFill>
            <a:srgbClr val="FFFFFF"/>
          </a:solidFill>
          <a:ln/>
        </p:spPr>
      </p:sp>
      <p:sp>
        <p:nvSpPr>
          <p:cNvPr id="67" name="Text 65"/>
          <p:cNvSpPr/>
          <p:nvPr/>
        </p:nvSpPr>
        <p:spPr>
          <a:xfrm>
            <a:off x="7196328" y="2103120"/>
            <a:ext cx="1371600" cy="347472"/>
          </a:xfrm>
          <a:prstGeom prst="rect">
            <a:avLst/>
          </a:prstGeom>
          <a:noFill/>
          <a:ln/>
        </p:spPr>
        <p:txBody>
          <a:bodyPr wrap="square"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Medical Condition 🔴</a:t>
            </a:r>
            <a:endParaRPr lang="en-US" sz="800" dirty="0"/>
          </a:p>
        </p:txBody>
      </p:sp>
      <p:sp>
        <p:nvSpPr>
          <p:cNvPr id="68" name="Shape 66"/>
          <p:cNvSpPr/>
          <p:nvPr/>
        </p:nvSpPr>
        <p:spPr>
          <a:xfrm>
            <a:off x="4773168" y="2651760"/>
            <a:ext cx="3977640" cy="548640"/>
          </a:xfrm>
          <a:prstGeom prst="rect">
            <a:avLst/>
          </a:prstGeom>
          <a:solidFill>
            <a:srgbClr val="E8F5E9"/>
          </a:solidFill>
          <a:ln w="5080">
            <a:solidFill>
              <a:srgbClr val="DDDDDD"/>
            </a:solidFill>
            <a:prstDash val="solid"/>
          </a:ln>
        </p:spPr>
      </p:sp>
      <p:sp>
        <p:nvSpPr>
          <p:cNvPr id="69" name="Text 67"/>
          <p:cNvSpPr/>
          <p:nvPr/>
        </p:nvSpPr>
        <p:spPr>
          <a:xfrm>
            <a:off x="4846320" y="2688336"/>
            <a:ext cx="1828800" cy="219456"/>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IT Helpdesk (201)</a:t>
            </a:r>
            <a:endParaRPr lang="en-US" sz="850" dirty="0"/>
          </a:p>
        </p:txBody>
      </p:sp>
      <p:sp>
        <p:nvSpPr>
          <p:cNvPr id="70" name="Text 68"/>
          <p:cNvSpPr/>
          <p:nvPr/>
        </p:nvSpPr>
        <p:spPr>
          <a:xfrm>
            <a:off x="4846320" y="2926080"/>
            <a:ext cx="2194560" cy="201168"/>
          </a:xfrm>
          <a:prstGeom prst="rect">
            <a:avLst/>
          </a:prstGeom>
          <a:noFill/>
          <a:ln/>
        </p:spPr>
        <p:txBody>
          <a:bodyPr wrap="square" rtlCol="0" anchor="ctr"/>
          <a:lstStyle/>
          <a:p>
            <a:pPr marL="0" indent="0">
              <a:buNone/>
            </a:pPr>
            <a:r>
              <a:rPr lang="en-US" sz="750" dirty="0">
                <a:solidFill>
                  <a:srgbClr val="5B6B85"/>
                </a:solidFill>
                <a:latin typeface="Consolas" pitchFamily="34" charset="0"/>
                <a:ea typeface="Consolas" pitchFamily="34" charset="-122"/>
                <a:cs typeface="Consolas" pitchFamily="34" charset="-120"/>
              </a:rPr>
              <a:t>WFD_AttText3 = "Hardware"</a:t>
            </a:r>
            <a:endParaRPr lang="en-US" sz="750" dirty="0"/>
          </a:p>
        </p:txBody>
      </p:sp>
      <p:sp>
        <p:nvSpPr>
          <p:cNvPr id="71" name="Shape 69"/>
          <p:cNvSpPr/>
          <p:nvPr/>
        </p:nvSpPr>
        <p:spPr>
          <a:xfrm>
            <a:off x="7178040" y="2743200"/>
            <a:ext cx="1417320" cy="347472"/>
          </a:xfrm>
          <a:prstGeom prst="rect">
            <a:avLst/>
          </a:prstGeom>
          <a:solidFill>
            <a:srgbClr val="FFFFFF"/>
          </a:solidFill>
          <a:ln/>
        </p:spPr>
      </p:sp>
      <p:sp>
        <p:nvSpPr>
          <p:cNvPr id="72" name="Text 70"/>
          <p:cNvSpPr/>
          <p:nvPr/>
        </p:nvSpPr>
        <p:spPr>
          <a:xfrm>
            <a:off x="7196328" y="2743200"/>
            <a:ext cx="1371600" cy="347472"/>
          </a:xfrm>
          <a:prstGeom prst="rect">
            <a:avLst/>
          </a:prstGeom>
          <a:noFill/>
          <a:ln/>
        </p:spPr>
        <p:txBody>
          <a:bodyPr wrap="square" rtlCol="0" anchor="ctr"/>
          <a:lstStyle/>
          <a:p>
            <a:pPr marL="0" indent="0">
              <a:buNone/>
            </a:pPr>
            <a:r>
              <a:rPr lang="en-US" sz="800" b="1" dirty="0">
                <a:solidFill>
                  <a:srgbClr val="1B7A4A"/>
                </a:solidFill>
                <a:latin typeface="Calibri" pitchFamily="34" charset="0"/>
                <a:ea typeface="Calibri" pitchFamily="34" charset="-122"/>
                <a:cs typeface="Calibri" pitchFamily="34" charset="-120"/>
              </a:rPr>
              <a:t>Ticket Category 🟢</a:t>
            </a:r>
            <a:endParaRPr lang="en-US" sz="800" dirty="0"/>
          </a:p>
        </p:txBody>
      </p:sp>
      <p:sp>
        <p:nvSpPr>
          <p:cNvPr id="73" name="Shape 71"/>
          <p:cNvSpPr/>
          <p:nvPr/>
        </p:nvSpPr>
        <p:spPr>
          <a:xfrm>
            <a:off x="4773168" y="3291840"/>
            <a:ext cx="3977640" cy="548640"/>
          </a:xfrm>
          <a:prstGeom prst="rect">
            <a:avLst/>
          </a:prstGeom>
          <a:solidFill>
            <a:srgbClr val="E3F0FF"/>
          </a:solidFill>
          <a:ln w="5080">
            <a:solidFill>
              <a:srgbClr val="DDDDDD"/>
            </a:solidFill>
            <a:prstDash val="solid"/>
          </a:ln>
        </p:spPr>
      </p:sp>
      <p:sp>
        <p:nvSpPr>
          <p:cNvPr id="74" name="Text 72"/>
          <p:cNvSpPr/>
          <p:nvPr/>
        </p:nvSpPr>
        <p:spPr>
          <a:xfrm>
            <a:off x="4846320" y="3328416"/>
            <a:ext cx="1828800" cy="219456"/>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Procurement (301)</a:t>
            </a:r>
            <a:endParaRPr lang="en-US" sz="850" dirty="0"/>
          </a:p>
        </p:txBody>
      </p:sp>
      <p:sp>
        <p:nvSpPr>
          <p:cNvPr id="75" name="Text 73"/>
          <p:cNvSpPr/>
          <p:nvPr/>
        </p:nvSpPr>
        <p:spPr>
          <a:xfrm>
            <a:off x="4846320" y="3566160"/>
            <a:ext cx="2194560" cy="201168"/>
          </a:xfrm>
          <a:prstGeom prst="rect">
            <a:avLst/>
          </a:prstGeom>
          <a:noFill/>
          <a:ln/>
        </p:spPr>
        <p:txBody>
          <a:bodyPr wrap="square" rtlCol="0" anchor="ctr"/>
          <a:lstStyle/>
          <a:p>
            <a:pPr marL="0" indent="0">
              <a:buNone/>
            </a:pPr>
            <a:r>
              <a:rPr lang="en-US" sz="750" dirty="0">
                <a:solidFill>
                  <a:srgbClr val="5B6B85"/>
                </a:solidFill>
                <a:latin typeface="Consolas" pitchFamily="34" charset="0"/>
                <a:ea typeface="Consolas" pitchFamily="34" charset="-122"/>
                <a:cs typeface="Consolas" pitchFamily="34" charset="-120"/>
              </a:rPr>
              <a:t>WFD_AttText3 = "Q2-2026"</a:t>
            </a:r>
            <a:endParaRPr lang="en-US" sz="750" dirty="0"/>
          </a:p>
        </p:txBody>
      </p:sp>
      <p:sp>
        <p:nvSpPr>
          <p:cNvPr id="76" name="Shape 74"/>
          <p:cNvSpPr/>
          <p:nvPr/>
        </p:nvSpPr>
        <p:spPr>
          <a:xfrm>
            <a:off x="7178040" y="3383280"/>
            <a:ext cx="1417320" cy="347472"/>
          </a:xfrm>
          <a:prstGeom prst="rect">
            <a:avLst/>
          </a:prstGeom>
          <a:solidFill>
            <a:srgbClr val="FFFFFF"/>
          </a:solidFill>
          <a:ln/>
        </p:spPr>
      </p:sp>
      <p:sp>
        <p:nvSpPr>
          <p:cNvPr id="77" name="Text 75"/>
          <p:cNvSpPr/>
          <p:nvPr/>
        </p:nvSpPr>
        <p:spPr>
          <a:xfrm>
            <a:off x="7196328" y="3383280"/>
            <a:ext cx="1371600" cy="347472"/>
          </a:xfrm>
          <a:prstGeom prst="rect">
            <a:avLst/>
          </a:prstGeom>
          <a:noFill/>
          <a:ln/>
        </p:spPr>
        <p:txBody>
          <a:bodyPr wrap="square" rtlCol="0" anchor="ctr"/>
          <a:lstStyle/>
          <a:p>
            <a:pPr marL="0" indent="0">
              <a:buNone/>
            </a:pPr>
            <a:r>
              <a:rPr lang="en-US" sz="800" b="1" dirty="0">
                <a:solidFill>
                  <a:srgbClr val="009B9E"/>
                </a:solidFill>
                <a:latin typeface="Calibri" pitchFamily="34" charset="0"/>
                <a:ea typeface="Calibri" pitchFamily="34" charset="-122"/>
                <a:cs typeface="Calibri" pitchFamily="34" charset="-120"/>
              </a:rPr>
              <a:t>PO Quarter 🟢</a:t>
            </a:r>
            <a:endParaRPr lang="en-US" sz="800" dirty="0"/>
          </a:p>
        </p:txBody>
      </p:sp>
      <p:sp>
        <p:nvSpPr>
          <p:cNvPr id="78" name="Shape 76"/>
          <p:cNvSpPr/>
          <p:nvPr/>
        </p:nvSpPr>
        <p:spPr>
          <a:xfrm>
            <a:off x="4773168" y="3931920"/>
            <a:ext cx="3977640" cy="548640"/>
          </a:xfrm>
          <a:prstGeom prst="rect">
            <a:avLst/>
          </a:prstGeom>
          <a:solidFill>
            <a:srgbClr val="FFEBEE"/>
          </a:solidFill>
          <a:ln w="5080">
            <a:solidFill>
              <a:srgbClr val="DDDDDD"/>
            </a:solidFill>
            <a:prstDash val="solid"/>
          </a:ln>
        </p:spPr>
      </p:sp>
      <p:sp>
        <p:nvSpPr>
          <p:cNvPr id="79" name="Text 77"/>
          <p:cNvSpPr/>
          <p:nvPr/>
        </p:nvSpPr>
        <p:spPr>
          <a:xfrm>
            <a:off x="4846320" y="3968496"/>
            <a:ext cx="1828800" cy="219456"/>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Payroll (302)</a:t>
            </a:r>
            <a:endParaRPr lang="en-US" sz="850" dirty="0"/>
          </a:p>
        </p:txBody>
      </p:sp>
      <p:sp>
        <p:nvSpPr>
          <p:cNvPr id="80" name="Text 78"/>
          <p:cNvSpPr/>
          <p:nvPr/>
        </p:nvSpPr>
        <p:spPr>
          <a:xfrm>
            <a:off x="4846320" y="4206240"/>
            <a:ext cx="2194560" cy="201168"/>
          </a:xfrm>
          <a:prstGeom prst="rect">
            <a:avLst/>
          </a:prstGeom>
          <a:noFill/>
          <a:ln/>
        </p:spPr>
        <p:txBody>
          <a:bodyPr wrap="square" rtlCol="0" anchor="ctr"/>
          <a:lstStyle/>
          <a:p>
            <a:pPr marL="0" indent="0">
              <a:buNone/>
            </a:pPr>
            <a:r>
              <a:rPr lang="en-US" sz="750" dirty="0">
                <a:solidFill>
                  <a:srgbClr val="5B6B85"/>
                </a:solidFill>
                <a:latin typeface="Consolas" pitchFamily="34" charset="0"/>
                <a:ea typeface="Consolas" pitchFamily="34" charset="-122"/>
                <a:cs typeface="Consolas" pitchFamily="34" charset="-120"/>
              </a:rPr>
              <a:t>WFD_AttText3 = "NL29 ABNA 0473"</a:t>
            </a:r>
            <a:endParaRPr lang="en-US" sz="750" dirty="0"/>
          </a:p>
        </p:txBody>
      </p:sp>
      <p:sp>
        <p:nvSpPr>
          <p:cNvPr id="81" name="Shape 79"/>
          <p:cNvSpPr/>
          <p:nvPr/>
        </p:nvSpPr>
        <p:spPr>
          <a:xfrm>
            <a:off x="7178040" y="4023360"/>
            <a:ext cx="1417320" cy="347472"/>
          </a:xfrm>
          <a:prstGeom prst="rect">
            <a:avLst/>
          </a:prstGeom>
          <a:solidFill>
            <a:srgbClr val="FFFFFF"/>
          </a:solidFill>
          <a:ln/>
        </p:spPr>
      </p:sp>
      <p:sp>
        <p:nvSpPr>
          <p:cNvPr id="82" name="Text 80"/>
          <p:cNvSpPr/>
          <p:nvPr/>
        </p:nvSpPr>
        <p:spPr>
          <a:xfrm>
            <a:off x="7196328" y="4023360"/>
            <a:ext cx="1371600" cy="347472"/>
          </a:xfrm>
          <a:prstGeom prst="rect">
            <a:avLst/>
          </a:prstGeom>
          <a:noFill/>
          <a:ln/>
        </p:spPr>
        <p:txBody>
          <a:bodyPr wrap="square"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Bank Account 🔴</a:t>
            </a:r>
            <a:endParaRPr lang="en-US" sz="800" dirty="0"/>
          </a:p>
        </p:txBody>
      </p:sp>
      <p:sp>
        <p:nvSpPr>
          <p:cNvPr id="83" name="Shape 81"/>
          <p:cNvSpPr/>
          <p:nvPr/>
        </p:nvSpPr>
        <p:spPr>
          <a:xfrm>
            <a:off x="4773168" y="4572000"/>
            <a:ext cx="3977640" cy="347472"/>
          </a:xfrm>
          <a:prstGeom prst="rect">
            <a:avLst/>
          </a:prstGeom>
          <a:solidFill>
            <a:srgbClr val="E3F0FF"/>
          </a:solidFill>
          <a:ln w="10160">
            <a:solidFill>
              <a:srgbClr val="1976D2"/>
            </a:solidFill>
            <a:prstDash val="solid"/>
          </a:ln>
        </p:spPr>
      </p:sp>
      <p:sp>
        <p:nvSpPr>
          <p:cNvPr id="84" name="Text 82"/>
          <p:cNvSpPr/>
          <p:nvPr/>
        </p:nvSpPr>
        <p:spPr>
          <a:xfrm>
            <a:off x="4846320" y="4572000"/>
            <a:ext cx="3840480" cy="347472"/>
          </a:xfrm>
          <a:prstGeom prst="rect">
            <a:avLst/>
          </a:prstGeom>
          <a:noFill/>
          <a:ln/>
        </p:spPr>
        <p:txBody>
          <a:bodyPr wrap="square" rtlCol="0" anchor="ctr"/>
          <a:lstStyle/>
          <a:p>
            <a:pPr marL="0" indent="0">
              <a:buNone/>
            </a:pPr>
            <a:r>
              <a:rPr lang="en-US" sz="850" dirty="0">
                <a:solidFill>
                  <a:srgbClr val="1976D2"/>
                </a:solidFill>
                <a:latin typeface="Calibri" pitchFamily="34" charset="0"/>
                <a:ea typeface="Calibri" pitchFamily="34" charset="-122"/>
                <a:cs typeface="Calibri" pitchFamily="34" charset="-120"/>
              </a:rPr>
              <a:t>✔  Views alias columns with meaningful names and exclude cross-process PII columns entirely.</a:t>
            </a:r>
            <a:endParaRPr lang="en-US" sz="850" dirty="0"/>
          </a:p>
        </p:txBody>
      </p:sp>
      <p:sp>
        <p:nvSpPr>
          <p:cNvPr id="85" name="Shape 83"/>
          <p:cNvSpPr/>
          <p:nvPr/>
        </p:nvSpPr>
        <p:spPr>
          <a:xfrm>
            <a:off x="0" y="4828032"/>
            <a:ext cx="9144000" cy="315468"/>
          </a:xfrm>
          <a:prstGeom prst="rect">
            <a:avLst/>
          </a:prstGeom>
          <a:solidFill>
            <a:srgbClr val="009B9E"/>
          </a:solidFill>
          <a:ln/>
        </p:spPr>
      </p:sp>
      <p:sp>
        <p:nvSpPr>
          <p:cNvPr id="86" name="Text 84"/>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87" name="Shape 85"/>
          <p:cNvSpPr/>
          <p:nvPr/>
        </p:nvSpPr>
        <p:spPr>
          <a:xfrm>
            <a:off x="502920" y="4919472"/>
            <a:ext cx="18288" cy="128016"/>
          </a:xfrm>
          <a:prstGeom prst="rect">
            <a:avLst/>
          </a:prstGeom>
          <a:solidFill>
            <a:srgbClr val="FFFFFF"/>
          </a:solidFill>
          <a:ln/>
        </p:spPr>
      </p:sp>
      <p:sp>
        <p:nvSpPr>
          <p:cNvPr id="88" name="Text 86"/>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89" name="Text 87"/>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SAMPLE APPLICATION LANDSCAPE</a:t>
            </a:r>
            <a:endParaRPr lang="en-US" sz="1100" dirty="0"/>
          </a:p>
        </p:txBody>
      </p:sp>
      <p:sp>
        <p:nvSpPr>
          <p:cNvPr id="4" name="Text 2"/>
          <p:cNvSpPr/>
          <p:nvPr/>
        </p:nvSpPr>
        <p:spPr>
          <a:xfrm>
            <a:off x="365760" y="822960"/>
            <a:ext cx="8412480" cy="457200"/>
          </a:xfrm>
          <a:prstGeom prst="rect">
            <a:avLst/>
          </a:prstGeom>
          <a:noFill/>
          <a:ln/>
        </p:spPr>
        <p:txBody>
          <a:bodyPr wrap="square" rtlCol="0" anchor="ctr"/>
          <a:lstStyle/>
          <a:p>
            <a:pPr marL="0" indent="0">
              <a:buNone/>
            </a:pPr>
            <a:r>
              <a:rPr lang="en-US" sz="2400" b="1" dirty="0">
                <a:solidFill>
                  <a:srgbClr val="1A1A2E"/>
                </a:solidFill>
                <a:latin typeface="Calibri" pitchFamily="34" charset="0"/>
                <a:ea typeface="Calibri" pitchFamily="34" charset="-122"/>
                <a:cs typeface="Calibri" pitchFamily="34" charset="-120"/>
              </a:rPr>
              <a:t>Five Applications — Two Sensitivity Tiers</a:t>
            </a:r>
            <a:endParaRPr lang="en-US" sz="2400" dirty="0"/>
          </a:p>
        </p:txBody>
      </p:sp>
      <p:sp>
        <p:nvSpPr>
          <p:cNvPr id="5" name="Shape 3"/>
          <p:cNvSpPr/>
          <p:nvPr/>
        </p:nvSpPr>
        <p:spPr>
          <a:xfrm>
            <a:off x="274320" y="1463040"/>
            <a:ext cx="1371600" cy="347472"/>
          </a:xfrm>
          <a:prstGeom prst="rect">
            <a:avLst/>
          </a:prstGeom>
          <a:solidFill>
            <a:srgbClr val="1A1A2E"/>
          </a:solidFill>
          <a:ln/>
        </p:spPr>
      </p:sp>
      <p:sp>
        <p:nvSpPr>
          <p:cNvPr id="6" name="Text 4"/>
          <p:cNvSpPr/>
          <p:nvPr/>
        </p:nvSpPr>
        <p:spPr>
          <a:xfrm>
            <a:off x="274320" y="1463040"/>
            <a:ext cx="13716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Application</a:t>
            </a:r>
            <a:endParaRPr lang="en-US" sz="1000" dirty="0"/>
          </a:p>
        </p:txBody>
      </p:sp>
      <p:sp>
        <p:nvSpPr>
          <p:cNvPr id="7" name="Shape 5"/>
          <p:cNvSpPr/>
          <p:nvPr/>
        </p:nvSpPr>
        <p:spPr>
          <a:xfrm>
            <a:off x="1645920" y="1463040"/>
            <a:ext cx="2560320" cy="347472"/>
          </a:xfrm>
          <a:prstGeom prst="rect">
            <a:avLst/>
          </a:prstGeom>
          <a:solidFill>
            <a:srgbClr val="1A1A2E"/>
          </a:solidFill>
          <a:ln/>
        </p:spPr>
      </p:sp>
      <p:sp>
        <p:nvSpPr>
          <p:cNvPr id="8" name="Text 6"/>
          <p:cNvSpPr/>
          <p:nvPr/>
        </p:nvSpPr>
        <p:spPr>
          <a:xfrm>
            <a:off x="1645920" y="1463040"/>
            <a:ext cx="256032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EEA Personal Data</a:t>
            </a:r>
            <a:endParaRPr lang="en-US" sz="1000" dirty="0"/>
          </a:p>
        </p:txBody>
      </p:sp>
      <p:sp>
        <p:nvSpPr>
          <p:cNvPr id="9" name="Shape 7"/>
          <p:cNvSpPr/>
          <p:nvPr/>
        </p:nvSpPr>
        <p:spPr>
          <a:xfrm>
            <a:off x="4206240" y="1463040"/>
            <a:ext cx="2011680" cy="347472"/>
          </a:xfrm>
          <a:prstGeom prst="rect">
            <a:avLst/>
          </a:prstGeom>
          <a:solidFill>
            <a:srgbClr val="1A1A2E"/>
          </a:solidFill>
          <a:ln/>
        </p:spPr>
      </p:sp>
      <p:sp>
        <p:nvSpPr>
          <p:cNvPr id="10" name="Text 8"/>
          <p:cNvSpPr/>
          <p:nvPr/>
        </p:nvSpPr>
        <p:spPr>
          <a:xfrm>
            <a:off x="4206240" y="1463040"/>
            <a:ext cx="20116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Sensitivity</a:t>
            </a:r>
            <a:endParaRPr lang="en-US" sz="1000" dirty="0"/>
          </a:p>
        </p:txBody>
      </p:sp>
      <p:sp>
        <p:nvSpPr>
          <p:cNvPr id="11" name="Shape 9"/>
          <p:cNvSpPr/>
          <p:nvPr/>
        </p:nvSpPr>
        <p:spPr>
          <a:xfrm>
            <a:off x="6217920" y="1463040"/>
            <a:ext cx="2880360" cy="347472"/>
          </a:xfrm>
          <a:prstGeom prst="rect">
            <a:avLst/>
          </a:prstGeom>
          <a:solidFill>
            <a:srgbClr val="1A1A2E"/>
          </a:solidFill>
          <a:ln/>
        </p:spPr>
      </p:sp>
      <p:sp>
        <p:nvSpPr>
          <p:cNvPr id="12" name="Text 10"/>
          <p:cNvSpPr/>
          <p:nvPr/>
        </p:nvSpPr>
        <p:spPr>
          <a:xfrm>
            <a:off x="6217920" y="1463040"/>
            <a:ext cx="28803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COMPANY NAME Access</a:t>
            </a:r>
            <a:endParaRPr lang="en-US" sz="1000" dirty="0"/>
          </a:p>
        </p:txBody>
      </p:sp>
      <p:sp>
        <p:nvSpPr>
          <p:cNvPr id="13" name="Shape 11"/>
          <p:cNvSpPr/>
          <p:nvPr/>
        </p:nvSpPr>
        <p:spPr>
          <a:xfrm>
            <a:off x="274320" y="1810512"/>
            <a:ext cx="1371600" cy="475488"/>
          </a:xfrm>
          <a:prstGeom prst="rect">
            <a:avLst/>
          </a:prstGeom>
          <a:solidFill>
            <a:srgbClr val="FFEBEE"/>
          </a:solidFill>
          <a:ln w="6350">
            <a:solidFill>
              <a:srgbClr val="DDE4EF"/>
            </a:solidFill>
            <a:prstDash val="solid"/>
          </a:ln>
        </p:spPr>
      </p:sp>
      <p:sp>
        <p:nvSpPr>
          <p:cNvPr id="14" name="Text 12"/>
          <p:cNvSpPr/>
          <p:nvPr/>
        </p:nvSpPr>
        <p:spPr>
          <a:xfrm>
            <a:off x="347472" y="1810512"/>
            <a:ext cx="1280160" cy="475488"/>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HR Suite</a:t>
            </a:r>
            <a:endParaRPr lang="en-US" sz="1000" dirty="0"/>
          </a:p>
        </p:txBody>
      </p:sp>
      <p:sp>
        <p:nvSpPr>
          <p:cNvPr id="15" name="Shape 13"/>
          <p:cNvSpPr/>
          <p:nvPr/>
        </p:nvSpPr>
        <p:spPr>
          <a:xfrm>
            <a:off x="1645920" y="1810512"/>
            <a:ext cx="2560320" cy="475488"/>
          </a:xfrm>
          <a:prstGeom prst="rect">
            <a:avLst/>
          </a:prstGeom>
          <a:solidFill>
            <a:srgbClr val="FFFFFF"/>
          </a:solidFill>
          <a:ln w="6350">
            <a:solidFill>
              <a:srgbClr val="DDE4EF"/>
            </a:solidFill>
            <a:prstDash val="solid"/>
          </a:ln>
        </p:spPr>
      </p:sp>
      <p:sp>
        <p:nvSpPr>
          <p:cNvPr id="16" name="Text 14"/>
          <p:cNvSpPr/>
          <p:nvPr/>
        </p:nvSpPr>
        <p:spPr>
          <a:xfrm>
            <a:off x="1719072" y="1810512"/>
            <a:ext cx="246888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Salary, Medical Notes, Performance</a:t>
            </a:r>
            <a:endParaRPr lang="en-US" sz="1000" dirty="0"/>
          </a:p>
        </p:txBody>
      </p:sp>
      <p:sp>
        <p:nvSpPr>
          <p:cNvPr id="17" name="Shape 15"/>
          <p:cNvSpPr/>
          <p:nvPr/>
        </p:nvSpPr>
        <p:spPr>
          <a:xfrm>
            <a:off x="4206240" y="1810512"/>
            <a:ext cx="2011680" cy="475488"/>
          </a:xfrm>
          <a:prstGeom prst="rect">
            <a:avLst/>
          </a:prstGeom>
          <a:solidFill>
            <a:srgbClr val="FFFFFF"/>
          </a:solidFill>
          <a:ln w="6350">
            <a:solidFill>
              <a:srgbClr val="DDE4EF"/>
            </a:solidFill>
            <a:prstDash val="solid"/>
          </a:ln>
        </p:spPr>
      </p:sp>
      <p:sp>
        <p:nvSpPr>
          <p:cNvPr id="18" name="Text 16"/>
          <p:cNvSpPr/>
          <p:nvPr/>
        </p:nvSpPr>
        <p:spPr>
          <a:xfrm>
            <a:off x="4279392" y="1810512"/>
            <a:ext cx="192024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HIGH</a:t>
            </a:r>
            <a:endParaRPr lang="en-US" sz="1000" dirty="0"/>
          </a:p>
        </p:txBody>
      </p:sp>
      <p:sp>
        <p:nvSpPr>
          <p:cNvPr id="19" name="Shape 17"/>
          <p:cNvSpPr/>
          <p:nvPr/>
        </p:nvSpPr>
        <p:spPr>
          <a:xfrm>
            <a:off x="6217920" y="1810512"/>
            <a:ext cx="2880360" cy="475488"/>
          </a:xfrm>
          <a:prstGeom prst="rect">
            <a:avLst/>
          </a:prstGeom>
          <a:solidFill>
            <a:srgbClr val="FFFFFF"/>
          </a:solidFill>
          <a:ln w="6350">
            <a:solidFill>
              <a:srgbClr val="DDE4EF"/>
            </a:solidFill>
            <a:prstDash val="solid"/>
          </a:ln>
        </p:spPr>
      </p:sp>
      <p:sp>
        <p:nvSpPr>
          <p:cNvPr id="20" name="Text 18"/>
          <p:cNvSpPr/>
          <p:nvPr/>
        </p:nvSpPr>
        <p:spPr>
          <a:xfrm>
            <a:off x="6291072" y="1810512"/>
            <a:ext cx="278892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Operational only — no PII rows</a:t>
            </a:r>
            <a:endParaRPr lang="en-US" sz="1000" dirty="0"/>
          </a:p>
        </p:txBody>
      </p:sp>
      <p:sp>
        <p:nvSpPr>
          <p:cNvPr id="21" name="Shape 19"/>
          <p:cNvSpPr/>
          <p:nvPr/>
        </p:nvSpPr>
        <p:spPr>
          <a:xfrm>
            <a:off x="274320" y="2313432"/>
            <a:ext cx="1371600" cy="475488"/>
          </a:xfrm>
          <a:prstGeom prst="rect">
            <a:avLst/>
          </a:prstGeom>
          <a:solidFill>
            <a:srgbClr val="FFEBEE"/>
          </a:solidFill>
          <a:ln w="6350">
            <a:solidFill>
              <a:srgbClr val="DDE4EF"/>
            </a:solidFill>
            <a:prstDash val="solid"/>
          </a:ln>
        </p:spPr>
      </p:sp>
      <p:sp>
        <p:nvSpPr>
          <p:cNvPr id="22" name="Text 20"/>
          <p:cNvSpPr/>
          <p:nvPr/>
        </p:nvSpPr>
        <p:spPr>
          <a:xfrm>
            <a:off x="347472" y="2313432"/>
            <a:ext cx="1280160" cy="475488"/>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Payroll Approval</a:t>
            </a:r>
            <a:endParaRPr lang="en-US" sz="1000" dirty="0"/>
          </a:p>
        </p:txBody>
      </p:sp>
      <p:sp>
        <p:nvSpPr>
          <p:cNvPr id="23" name="Shape 21"/>
          <p:cNvSpPr/>
          <p:nvPr/>
        </p:nvSpPr>
        <p:spPr>
          <a:xfrm>
            <a:off x="1645920" y="2313432"/>
            <a:ext cx="2560320" cy="475488"/>
          </a:xfrm>
          <a:prstGeom prst="rect">
            <a:avLst/>
          </a:prstGeom>
          <a:solidFill>
            <a:srgbClr val="F9FBFC"/>
          </a:solidFill>
          <a:ln w="6350">
            <a:solidFill>
              <a:srgbClr val="DDE4EF"/>
            </a:solidFill>
            <a:prstDash val="solid"/>
          </a:ln>
        </p:spPr>
      </p:sp>
      <p:sp>
        <p:nvSpPr>
          <p:cNvPr id="24" name="Text 22"/>
          <p:cNvSpPr/>
          <p:nvPr/>
        </p:nvSpPr>
        <p:spPr>
          <a:xfrm>
            <a:off x="1719072" y="2313432"/>
            <a:ext cx="246888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Bank details, Salary bands, Tax codes</a:t>
            </a:r>
            <a:endParaRPr lang="en-US" sz="1000" dirty="0"/>
          </a:p>
        </p:txBody>
      </p:sp>
      <p:sp>
        <p:nvSpPr>
          <p:cNvPr id="25" name="Shape 23"/>
          <p:cNvSpPr/>
          <p:nvPr/>
        </p:nvSpPr>
        <p:spPr>
          <a:xfrm>
            <a:off x="4206240" y="2313432"/>
            <a:ext cx="2011680" cy="475488"/>
          </a:xfrm>
          <a:prstGeom prst="rect">
            <a:avLst/>
          </a:prstGeom>
          <a:solidFill>
            <a:srgbClr val="F9FBFC"/>
          </a:solidFill>
          <a:ln w="6350">
            <a:solidFill>
              <a:srgbClr val="DDE4EF"/>
            </a:solidFill>
            <a:prstDash val="solid"/>
          </a:ln>
        </p:spPr>
      </p:sp>
      <p:sp>
        <p:nvSpPr>
          <p:cNvPr id="26" name="Text 24"/>
          <p:cNvSpPr/>
          <p:nvPr/>
        </p:nvSpPr>
        <p:spPr>
          <a:xfrm>
            <a:off x="4279392" y="2313432"/>
            <a:ext cx="192024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HIGH</a:t>
            </a:r>
            <a:endParaRPr lang="en-US" sz="1000" dirty="0"/>
          </a:p>
        </p:txBody>
      </p:sp>
      <p:sp>
        <p:nvSpPr>
          <p:cNvPr id="27" name="Shape 25"/>
          <p:cNvSpPr/>
          <p:nvPr/>
        </p:nvSpPr>
        <p:spPr>
          <a:xfrm>
            <a:off x="6217920" y="2313432"/>
            <a:ext cx="2880360" cy="475488"/>
          </a:xfrm>
          <a:prstGeom prst="rect">
            <a:avLst/>
          </a:prstGeom>
          <a:solidFill>
            <a:srgbClr val="F9FBFC"/>
          </a:solidFill>
          <a:ln w="6350">
            <a:solidFill>
              <a:srgbClr val="DDE4EF"/>
            </a:solidFill>
            <a:prstDash val="solid"/>
          </a:ln>
        </p:spPr>
      </p:sp>
      <p:sp>
        <p:nvSpPr>
          <p:cNvPr id="28" name="Text 26"/>
          <p:cNvSpPr/>
          <p:nvPr/>
        </p:nvSpPr>
        <p:spPr>
          <a:xfrm>
            <a:off x="6291072" y="2313432"/>
            <a:ext cx="278892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No access — fully blocked</a:t>
            </a:r>
            <a:endParaRPr lang="en-US" sz="1000" dirty="0"/>
          </a:p>
        </p:txBody>
      </p:sp>
      <p:sp>
        <p:nvSpPr>
          <p:cNvPr id="29" name="Shape 27"/>
          <p:cNvSpPr/>
          <p:nvPr/>
        </p:nvSpPr>
        <p:spPr>
          <a:xfrm>
            <a:off x="274320" y="2816352"/>
            <a:ext cx="1371600" cy="475488"/>
          </a:xfrm>
          <a:prstGeom prst="rect">
            <a:avLst/>
          </a:prstGeom>
          <a:solidFill>
            <a:srgbClr val="FFF8E1"/>
          </a:solidFill>
          <a:ln w="6350">
            <a:solidFill>
              <a:srgbClr val="DDE4EF"/>
            </a:solidFill>
            <a:prstDash val="solid"/>
          </a:ln>
        </p:spPr>
      </p:sp>
      <p:sp>
        <p:nvSpPr>
          <p:cNvPr id="30" name="Text 28"/>
          <p:cNvSpPr/>
          <p:nvPr/>
        </p:nvSpPr>
        <p:spPr>
          <a:xfrm>
            <a:off x="347472" y="2816352"/>
            <a:ext cx="1280160" cy="475488"/>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IT Helpdesk</a:t>
            </a:r>
            <a:endParaRPr lang="en-US" sz="1000" dirty="0"/>
          </a:p>
        </p:txBody>
      </p:sp>
      <p:sp>
        <p:nvSpPr>
          <p:cNvPr id="31" name="Shape 29"/>
          <p:cNvSpPr/>
          <p:nvPr/>
        </p:nvSpPr>
        <p:spPr>
          <a:xfrm>
            <a:off x="1645920" y="2816352"/>
            <a:ext cx="2560320" cy="475488"/>
          </a:xfrm>
          <a:prstGeom prst="rect">
            <a:avLst/>
          </a:prstGeom>
          <a:solidFill>
            <a:srgbClr val="FFFFFF"/>
          </a:solidFill>
          <a:ln w="6350">
            <a:solidFill>
              <a:srgbClr val="DDE4EF"/>
            </a:solidFill>
            <a:prstDash val="solid"/>
          </a:ln>
        </p:spPr>
      </p:sp>
      <p:sp>
        <p:nvSpPr>
          <p:cNvPr id="32" name="Text 30"/>
          <p:cNvSpPr/>
          <p:nvPr/>
        </p:nvSpPr>
        <p:spPr>
          <a:xfrm>
            <a:off x="1719072" y="2816352"/>
            <a:ext cx="246888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Email (routing), Device info</a:t>
            </a:r>
            <a:endParaRPr lang="en-US" sz="1000" dirty="0"/>
          </a:p>
        </p:txBody>
      </p:sp>
      <p:sp>
        <p:nvSpPr>
          <p:cNvPr id="33" name="Shape 31"/>
          <p:cNvSpPr/>
          <p:nvPr/>
        </p:nvSpPr>
        <p:spPr>
          <a:xfrm>
            <a:off x="4206240" y="2816352"/>
            <a:ext cx="2011680" cy="475488"/>
          </a:xfrm>
          <a:prstGeom prst="rect">
            <a:avLst/>
          </a:prstGeom>
          <a:solidFill>
            <a:srgbClr val="FFFFFF"/>
          </a:solidFill>
          <a:ln w="6350">
            <a:solidFill>
              <a:srgbClr val="DDE4EF"/>
            </a:solidFill>
            <a:prstDash val="solid"/>
          </a:ln>
        </p:spPr>
      </p:sp>
      <p:sp>
        <p:nvSpPr>
          <p:cNvPr id="34" name="Text 32"/>
          <p:cNvSpPr/>
          <p:nvPr/>
        </p:nvSpPr>
        <p:spPr>
          <a:xfrm>
            <a:off x="4279392" y="2816352"/>
            <a:ext cx="192024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MEDIUM</a:t>
            </a:r>
            <a:endParaRPr lang="en-US" sz="1000" dirty="0"/>
          </a:p>
        </p:txBody>
      </p:sp>
      <p:sp>
        <p:nvSpPr>
          <p:cNvPr id="35" name="Shape 33"/>
          <p:cNvSpPr/>
          <p:nvPr/>
        </p:nvSpPr>
        <p:spPr>
          <a:xfrm>
            <a:off x="6217920" y="2816352"/>
            <a:ext cx="2880360" cy="475488"/>
          </a:xfrm>
          <a:prstGeom prst="rect">
            <a:avLst/>
          </a:prstGeom>
          <a:solidFill>
            <a:srgbClr val="FFFFFF"/>
          </a:solidFill>
          <a:ln w="6350">
            <a:solidFill>
              <a:srgbClr val="DDE4EF"/>
            </a:solidFill>
            <a:prstDash val="solid"/>
          </a:ln>
        </p:spPr>
      </p:sp>
      <p:sp>
        <p:nvSpPr>
          <p:cNvPr id="36" name="Text 34"/>
          <p:cNvSpPr/>
          <p:nvPr/>
        </p:nvSpPr>
        <p:spPr>
          <a:xfrm>
            <a:off x="6291072" y="2816352"/>
            <a:ext cx="278892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Full access — masked email</a:t>
            </a:r>
            <a:endParaRPr lang="en-US" sz="1000" dirty="0"/>
          </a:p>
        </p:txBody>
      </p:sp>
      <p:sp>
        <p:nvSpPr>
          <p:cNvPr id="37" name="Shape 35"/>
          <p:cNvSpPr/>
          <p:nvPr/>
        </p:nvSpPr>
        <p:spPr>
          <a:xfrm>
            <a:off x="274320" y="3319272"/>
            <a:ext cx="1371600" cy="475488"/>
          </a:xfrm>
          <a:prstGeom prst="rect">
            <a:avLst/>
          </a:prstGeom>
          <a:solidFill>
            <a:srgbClr val="E8F5E9"/>
          </a:solidFill>
          <a:ln w="6350">
            <a:solidFill>
              <a:srgbClr val="DDE4EF"/>
            </a:solidFill>
            <a:prstDash val="solid"/>
          </a:ln>
        </p:spPr>
      </p:sp>
      <p:sp>
        <p:nvSpPr>
          <p:cNvPr id="38" name="Text 36"/>
          <p:cNvSpPr/>
          <p:nvPr/>
        </p:nvSpPr>
        <p:spPr>
          <a:xfrm>
            <a:off x="347472" y="3319272"/>
            <a:ext cx="1280160" cy="475488"/>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Procurement</a:t>
            </a:r>
            <a:endParaRPr lang="en-US" sz="1000" dirty="0"/>
          </a:p>
        </p:txBody>
      </p:sp>
      <p:sp>
        <p:nvSpPr>
          <p:cNvPr id="39" name="Shape 37"/>
          <p:cNvSpPr/>
          <p:nvPr/>
        </p:nvSpPr>
        <p:spPr>
          <a:xfrm>
            <a:off x="1645920" y="3319272"/>
            <a:ext cx="2560320" cy="475488"/>
          </a:xfrm>
          <a:prstGeom prst="rect">
            <a:avLst/>
          </a:prstGeom>
          <a:solidFill>
            <a:srgbClr val="F9FBFC"/>
          </a:solidFill>
          <a:ln w="6350">
            <a:solidFill>
              <a:srgbClr val="DDE4EF"/>
            </a:solidFill>
            <a:prstDash val="solid"/>
          </a:ln>
        </p:spPr>
      </p:sp>
      <p:sp>
        <p:nvSpPr>
          <p:cNvPr id="40" name="Text 38"/>
          <p:cNvSpPr/>
          <p:nvPr/>
        </p:nvSpPr>
        <p:spPr>
          <a:xfrm>
            <a:off x="1719072" y="3319272"/>
            <a:ext cx="246888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Vendor names, PO amounts</a:t>
            </a:r>
            <a:endParaRPr lang="en-US" sz="1000" dirty="0"/>
          </a:p>
        </p:txBody>
      </p:sp>
      <p:sp>
        <p:nvSpPr>
          <p:cNvPr id="41" name="Shape 39"/>
          <p:cNvSpPr/>
          <p:nvPr/>
        </p:nvSpPr>
        <p:spPr>
          <a:xfrm>
            <a:off x="4206240" y="3319272"/>
            <a:ext cx="2011680" cy="475488"/>
          </a:xfrm>
          <a:prstGeom prst="rect">
            <a:avLst/>
          </a:prstGeom>
          <a:solidFill>
            <a:srgbClr val="F9FBFC"/>
          </a:solidFill>
          <a:ln w="6350">
            <a:solidFill>
              <a:srgbClr val="DDE4EF"/>
            </a:solidFill>
            <a:prstDash val="solid"/>
          </a:ln>
        </p:spPr>
      </p:sp>
      <p:sp>
        <p:nvSpPr>
          <p:cNvPr id="42" name="Text 40"/>
          <p:cNvSpPr/>
          <p:nvPr/>
        </p:nvSpPr>
        <p:spPr>
          <a:xfrm>
            <a:off x="4279392" y="3319272"/>
            <a:ext cx="192024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LOW</a:t>
            </a:r>
            <a:endParaRPr lang="en-US" sz="1000" dirty="0"/>
          </a:p>
        </p:txBody>
      </p:sp>
      <p:sp>
        <p:nvSpPr>
          <p:cNvPr id="43" name="Shape 41"/>
          <p:cNvSpPr/>
          <p:nvPr/>
        </p:nvSpPr>
        <p:spPr>
          <a:xfrm>
            <a:off x="6217920" y="3319272"/>
            <a:ext cx="2880360" cy="475488"/>
          </a:xfrm>
          <a:prstGeom prst="rect">
            <a:avLst/>
          </a:prstGeom>
          <a:solidFill>
            <a:srgbClr val="F9FBFC"/>
          </a:solidFill>
          <a:ln w="6350">
            <a:solidFill>
              <a:srgbClr val="DDE4EF"/>
            </a:solidFill>
            <a:prstDash val="solid"/>
          </a:ln>
        </p:spPr>
      </p:sp>
      <p:sp>
        <p:nvSpPr>
          <p:cNvPr id="44" name="Text 42"/>
          <p:cNvSpPr/>
          <p:nvPr/>
        </p:nvSpPr>
        <p:spPr>
          <a:xfrm>
            <a:off x="6291072" y="3319272"/>
            <a:ext cx="278892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Full access — no masks needed</a:t>
            </a:r>
            <a:endParaRPr lang="en-US" sz="1000" dirty="0"/>
          </a:p>
        </p:txBody>
      </p:sp>
      <p:sp>
        <p:nvSpPr>
          <p:cNvPr id="45" name="Shape 43"/>
          <p:cNvSpPr/>
          <p:nvPr/>
        </p:nvSpPr>
        <p:spPr>
          <a:xfrm>
            <a:off x="274320" y="3822192"/>
            <a:ext cx="1371600" cy="475488"/>
          </a:xfrm>
          <a:prstGeom prst="rect">
            <a:avLst/>
          </a:prstGeom>
          <a:solidFill>
            <a:srgbClr val="E8F5E9"/>
          </a:solidFill>
          <a:ln w="6350">
            <a:solidFill>
              <a:srgbClr val="DDE4EF"/>
            </a:solidFill>
            <a:prstDash val="solid"/>
          </a:ln>
        </p:spPr>
      </p:sp>
      <p:sp>
        <p:nvSpPr>
          <p:cNvPr id="46" name="Text 44"/>
          <p:cNvSpPr/>
          <p:nvPr/>
        </p:nvSpPr>
        <p:spPr>
          <a:xfrm>
            <a:off x="347472" y="3822192"/>
            <a:ext cx="1280160" cy="475488"/>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Operational Approvals</a:t>
            </a:r>
            <a:endParaRPr lang="en-US" sz="1000" dirty="0"/>
          </a:p>
        </p:txBody>
      </p:sp>
      <p:sp>
        <p:nvSpPr>
          <p:cNvPr id="47" name="Shape 45"/>
          <p:cNvSpPr/>
          <p:nvPr/>
        </p:nvSpPr>
        <p:spPr>
          <a:xfrm>
            <a:off x="1645920" y="3822192"/>
            <a:ext cx="2560320" cy="475488"/>
          </a:xfrm>
          <a:prstGeom prst="rect">
            <a:avLst/>
          </a:prstGeom>
          <a:solidFill>
            <a:srgbClr val="FFFFFF"/>
          </a:solidFill>
          <a:ln w="6350">
            <a:solidFill>
              <a:srgbClr val="DDE4EF"/>
            </a:solidFill>
            <a:prstDash val="solid"/>
          </a:ln>
        </p:spPr>
      </p:sp>
      <p:sp>
        <p:nvSpPr>
          <p:cNvPr id="48" name="Text 46"/>
          <p:cNvSpPr/>
          <p:nvPr/>
        </p:nvSpPr>
        <p:spPr>
          <a:xfrm>
            <a:off x="1719072" y="3822192"/>
            <a:ext cx="246888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Approver name, Dates</a:t>
            </a:r>
            <a:endParaRPr lang="en-US" sz="1000" dirty="0"/>
          </a:p>
        </p:txBody>
      </p:sp>
      <p:sp>
        <p:nvSpPr>
          <p:cNvPr id="49" name="Shape 47"/>
          <p:cNvSpPr/>
          <p:nvPr/>
        </p:nvSpPr>
        <p:spPr>
          <a:xfrm>
            <a:off x="4206240" y="3822192"/>
            <a:ext cx="2011680" cy="475488"/>
          </a:xfrm>
          <a:prstGeom prst="rect">
            <a:avLst/>
          </a:prstGeom>
          <a:solidFill>
            <a:srgbClr val="FFFFFF"/>
          </a:solidFill>
          <a:ln w="6350">
            <a:solidFill>
              <a:srgbClr val="DDE4EF"/>
            </a:solidFill>
            <a:prstDash val="solid"/>
          </a:ln>
        </p:spPr>
      </p:sp>
      <p:sp>
        <p:nvSpPr>
          <p:cNvPr id="50" name="Text 48"/>
          <p:cNvSpPr/>
          <p:nvPr/>
        </p:nvSpPr>
        <p:spPr>
          <a:xfrm>
            <a:off x="4279392" y="3822192"/>
            <a:ext cx="192024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LOW</a:t>
            </a:r>
            <a:endParaRPr lang="en-US" sz="1000" dirty="0"/>
          </a:p>
        </p:txBody>
      </p:sp>
      <p:sp>
        <p:nvSpPr>
          <p:cNvPr id="51" name="Shape 49"/>
          <p:cNvSpPr/>
          <p:nvPr/>
        </p:nvSpPr>
        <p:spPr>
          <a:xfrm>
            <a:off x="6217920" y="3822192"/>
            <a:ext cx="2880360" cy="475488"/>
          </a:xfrm>
          <a:prstGeom prst="rect">
            <a:avLst/>
          </a:prstGeom>
          <a:solidFill>
            <a:srgbClr val="FFFFFF"/>
          </a:solidFill>
          <a:ln w="6350">
            <a:solidFill>
              <a:srgbClr val="DDE4EF"/>
            </a:solidFill>
            <a:prstDash val="solid"/>
          </a:ln>
        </p:spPr>
      </p:sp>
      <p:sp>
        <p:nvSpPr>
          <p:cNvPr id="52" name="Text 50"/>
          <p:cNvSpPr/>
          <p:nvPr/>
        </p:nvSpPr>
        <p:spPr>
          <a:xfrm>
            <a:off x="6291072" y="3822192"/>
            <a:ext cx="2788920" cy="47548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Full access — no masks needed</a:t>
            </a:r>
            <a:endParaRPr lang="en-US" sz="1000" dirty="0"/>
          </a:p>
        </p:txBody>
      </p:sp>
      <p:sp>
        <p:nvSpPr>
          <p:cNvPr id="53" name="Text 51"/>
          <p:cNvSpPr/>
          <p:nvPr/>
        </p:nvSpPr>
        <p:spPr>
          <a:xfrm>
            <a:off x="274320" y="4709160"/>
            <a:ext cx="8595360" cy="256032"/>
          </a:xfrm>
          <a:prstGeom prst="rect">
            <a:avLst/>
          </a:prstGeom>
          <a:noFill/>
          <a:ln/>
        </p:spPr>
        <p:txBody>
          <a:bodyPr wrap="square" rtlCol="0" anchor="ctr"/>
          <a:lstStyle/>
          <a:p>
            <a:pPr marL="0" indent="0">
              <a:buNone/>
            </a:pPr>
            <a:r>
              <a:rPr lang="en-US" sz="900" i="1" dirty="0">
                <a:solidFill>
                  <a:srgbClr val="6B7C93"/>
                </a:solidFill>
                <a:latin typeface="Calibri" pitchFamily="34" charset="0"/>
                <a:ea typeface="Calibri" pitchFamily="34" charset="-122"/>
                <a:cs typeface="Calibri" pitchFamily="34" charset="-120"/>
              </a:rPr>
              <a:t>Anna Schmidt (Amsterdam) is the sample EEA employee referenced in all examples throughout this deck.</a:t>
            </a:r>
            <a:endParaRPr lang="en-US" sz="900" dirty="0"/>
          </a:p>
        </p:txBody>
      </p:sp>
      <p:sp>
        <p:nvSpPr>
          <p:cNvPr id="54" name="Shape 52"/>
          <p:cNvSpPr/>
          <p:nvPr/>
        </p:nvSpPr>
        <p:spPr>
          <a:xfrm>
            <a:off x="0" y="4828032"/>
            <a:ext cx="9144000" cy="315468"/>
          </a:xfrm>
          <a:prstGeom prst="rect">
            <a:avLst/>
          </a:prstGeom>
          <a:solidFill>
            <a:srgbClr val="009B9E"/>
          </a:solidFill>
          <a:ln/>
        </p:spPr>
      </p:sp>
      <p:sp>
        <p:nvSpPr>
          <p:cNvPr id="55" name="Shape 53"/>
          <p:cNvSpPr/>
          <p:nvPr/>
        </p:nvSpPr>
        <p:spPr>
          <a:xfrm>
            <a:off x="502920" y="4919472"/>
            <a:ext cx="18288" cy="128016"/>
          </a:xfrm>
          <a:prstGeom prst="rect">
            <a:avLst/>
          </a:prstGeom>
          <a:solidFill>
            <a:srgbClr val="FFFFFF"/>
          </a:solidFill>
          <a:ln/>
        </p:spPr>
      </p:sp>
      <p:sp>
        <p:nvSpPr>
          <p:cNvPr id="56" name="Text 54"/>
          <p:cNvSpPr/>
          <p:nvPr/>
        </p:nvSpPr>
        <p:spPr>
          <a:xfrm>
            <a:off x="594360" y="4828032"/>
            <a:ext cx="54864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57" name="Text 55"/>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009B9E"/>
          </a:solidFill>
          <a:ln/>
        </p:spPr>
      </p:sp>
      <p:sp>
        <p:nvSpPr>
          <p:cNvPr id="4" name="Text 2"/>
          <p:cNvSpPr/>
          <p:nvPr/>
        </p:nvSpPr>
        <p:spPr>
          <a:xfrm>
            <a:off x="411480" y="0"/>
            <a:ext cx="822960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TABLE 1  —  WFElements  (Main Form Data)</a:t>
            </a:r>
            <a:endParaRPr lang="en-US" sz="1100" dirty="0"/>
          </a:p>
        </p:txBody>
      </p:sp>
      <p:sp>
        <p:nvSpPr>
          <p:cNvPr id="5" name="Shape 3"/>
          <p:cNvSpPr/>
          <p:nvPr/>
        </p:nvSpPr>
        <p:spPr>
          <a:xfrm>
            <a:off x="274320" y="777240"/>
            <a:ext cx="4114800" cy="338328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777240"/>
            <a:ext cx="4114800" cy="347472"/>
          </a:xfrm>
          <a:prstGeom prst="rect">
            <a:avLst/>
          </a:prstGeom>
          <a:solidFill>
            <a:srgbClr val="EBF3FF"/>
          </a:solidFill>
          <a:ln/>
        </p:spPr>
      </p:sp>
      <p:sp>
        <p:nvSpPr>
          <p:cNvPr id="7" name="Text 5"/>
          <p:cNvSpPr/>
          <p:nvPr/>
        </p:nvSpPr>
        <p:spPr>
          <a:xfrm>
            <a:off x="365760" y="777240"/>
            <a:ext cx="3931920" cy="347472"/>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What Anna's leave request stores</a:t>
            </a:r>
            <a:endParaRPr lang="en-US" sz="1000" dirty="0"/>
          </a:p>
        </p:txBody>
      </p:sp>
      <p:sp>
        <p:nvSpPr>
          <p:cNvPr id="8" name="Text 6"/>
          <p:cNvSpPr/>
          <p:nvPr/>
        </p:nvSpPr>
        <p:spPr>
          <a:xfrm>
            <a:off x="365760" y="118872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WFD_FormType_ID</a:t>
            </a:r>
            <a:endParaRPr lang="en-US" sz="900" dirty="0"/>
          </a:p>
        </p:txBody>
      </p:sp>
      <p:sp>
        <p:nvSpPr>
          <p:cNvPr id="9" name="Shape 7"/>
          <p:cNvSpPr/>
          <p:nvPr/>
        </p:nvSpPr>
        <p:spPr>
          <a:xfrm>
            <a:off x="2331720" y="1207008"/>
            <a:ext cx="1920240" cy="219456"/>
          </a:xfrm>
          <a:prstGeom prst="rect">
            <a:avLst/>
          </a:prstGeom>
          <a:solidFill>
            <a:srgbClr val="F0F4FF"/>
          </a:solidFill>
          <a:ln/>
        </p:spPr>
      </p:sp>
      <p:sp>
        <p:nvSpPr>
          <p:cNvPr id="10" name="Text 8"/>
          <p:cNvSpPr/>
          <p:nvPr/>
        </p:nvSpPr>
        <p:spPr>
          <a:xfrm>
            <a:off x="2359152" y="1188720"/>
            <a:ext cx="1874520" cy="24688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101</a:t>
            </a:r>
            <a:endParaRPr lang="en-US" sz="900" dirty="0"/>
          </a:p>
        </p:txBody>
      </p:sp>
      <p:sp>
        <p:nvSpPr>
          <p:cNvPr id="11" name="Text 9"/>
          <p:cNvSpPr/>
          <p:nvPr/>
        </p:nvSpPr>
        <p:spPr>
          <a:xfrm>
            <a:off x="365760" y="146304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WFD_AttText1</a:t>
            </a:r>
            <a:endParaRPr lang="en-US" sz="900" dirty="0"/>
          </a:p>
        </p:txBody>
      </p:sp>
      <p:sp>
        <p:nvSpPr>
          <p:cNvPr id="12" name="Shape 10"/>
          <p:cNvSpPr/>
          <p:nvPr/>
        </p:nvSpPr>
        <p:spPr>
          <a:xfrm>
            <a:off x="2331720" y="1481328"/>
            <a:ext cx="1920240" cy="219456"/>
          </a:xfrm>
          <a:prstGeom prst="rect">
            <a:avLst/>
          </a:prstGeom>
          <a:solidFill>
            <a:srgbClr val="F0F4FF"/>
          </a:solidFill>
          <a:ln/>
        </p:spPr>
      </p:sp>
      <p:sp>
        <p:nvSpPr>
          <p:cNvPr id="13" name="Text 11"/>
          <p:cNvSpPr/>
          <p:nvPr/>
        </p:nvSpPr>
        <p:spPr>
          <a:xfrm>
            <a:off x="2359152" y="1463040"/>
            <a:ext cx="1874520" cy="24688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Annual Leave</a:t>
            </a:r>
            <a:endParaRPr lang="en-US" sz="900" dirty="0"/>
          </a:p>
        </p:txBody>
      </p:sp>
      <p:sp>
        <p:nvSpPr>
          <p:cNvPr id="14" name="Text 12"/>
          <p:cNvSpPr/>
          <p:nvPr/>
        </p:nvSpPr>
        <p:spPr>
          <a:xfrm>
            <a:off x="365760" y="173736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WFD_AttText2</a:t>
            </a:r>
            <a:endParaRPr lang="en-US" sz="900" dirty="0"/>
          </a:p>
        </p:txBody>
      </p:sp>
      <p:sp>
        <p:nvSpPr>
          <p:cNvPr id="15" name="Shape 13"/>
          <p:cNvSpPr/>
          <p:nvPr/>
        </p:nvSpPr>
        <p:spPr>
          <a:xfrm>
            <a:off x="2331720" y="1755648"/>
            <a:ext cx="1920240" cy="219456"/>
          </a:xfrm>
          <a:prstGeom prst="rect">
            <a:avLst/>
          </a:prstGeom>
          <a:solidFill>
            <a:srgbClr val="FFEBEE"/>
          </a:solidFill>
          <a:ln/>
        </p:spPr>
      </p:sp>
      <p:sp>
        <p:nvSpPr>
          <p:cNvPr id="16" name="Text 14"/>
          <p:cNvSpPr/>
          <p:nvPr/>
        </p:nvSpPr>
        <p:spPr>
          <a:xfrm>
            <a:off x="2359152" y="1737360"/>
            <a:ext cx="1874520" cy="246888"/>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Anna Schmidt  🔴</a:t>
            </a:r>
            <a:endParaRPr lang="en-US" sz="900" dirty="0"/>
          </a:p>
        </p:txBody>
      </p:sp>
      <p:sp>
        <p:nvSpPr>
          <p:cNvPr id="17" name="Text 15"/>
          <p:cNvSpPr/>
          <p:nvPr/>
        </p:nvSpPr>
        <p:spPr>
          <a:xfrm>
            <a:off x="365760" y="201168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WFD_AttText3</a:t>
            </a:r>
            <a:endParaRPr lang="en-US" sz="900" dirty="0"/>
          </a:p>
        </p:txBody>
      </p:sp>
      <p:sp>
        <p:nvSpPr>
          <p:cNvPr id="18" name="Shape 16"/>
          <p:cNvSpPr/>
          <p:nvPr/>
        </p:nvSpPr>
        <p:spPr>
          <a:xfrm>
            <a:off x="2331720" y="2029968"/>
            <a:ext cx="1920240" cy="219456"/>
          </a:xfrm>
          <a:prstGeom prst="rect">
            <a:avLst/>
          </a:prstGeom>
          <a:solidFill>
            <a:srgbClr val="FFEBEE"/>
          </a:solidFill>
          <a:ln/>
        </p:spPr>
      </p:sp>
      <p:sp>
        <p:nvSpPr>
          <p:cNvPr id="19" name="Text 17"/>
          <p:cNvSpPr/>
          <p:nvPr/>
        </p:nvSpPr>
        <p:spPr>
          <a:xfrm>
            <a:off x="2359152" y="2011680"/>
            <a:ext cx="1874520" cy="246888"/>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Hypertension  🔴</a:t>
            </a:r>
            <a:endParaRPr lang="en-US" sz="900" dirty="0"/>
          </a:p>
        </p:txBody>
      </p:sp>
      <p:sp>
        <p:nvSpPr>
          <p:cNvPr id="20" name="Text 18"/>
          <p:cNvSpPr/>
          <p:nvPr/>
        </p:nvSpPr>
        <p:spPr>
          <a:xfrm>
            <a:off x="365760" y="228600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WFD_AttDecimal1</a:t>
            </a:r>
            <a:endParaRPr lang="en-US" sz="900" dirty="0"/>
          </a:p>
        </p:txBody>
      </p:sp>
      <p:sp>
        <p:nvSpPr>
          <p:cNvPr id="21" name="Shape 19"/>
          <p:cNvSpPr/>
          <p:nvPr/>
        </p:nvSpPr>
        <p:spPr>
          <a:xfrm>
            <a:off x="2331720" y="2304288"/>
            <a:ext cx="1920240" cy="219456"/>
          </a:xfrm>
          <a:prstGeom prst="rect">
            <a:avLst/>
          </a:prstGeom>
          <a:solidFill>
            <a:srgbClr val="FFEBEE"/>
          </a:solidFill>
          <a:ln/>
        </p:spPr>
      </p:sp>
      <p:sp>
        <p:nvSpPr>
          <p:cNvPr id="22" name="Text 20"/>
          <p:cNvSpPr/>
          <p:nvPr/>
        </p:nvSpPr>
        <p:spPr>
          <a:xfrm>
            <a:off x="2359152" y="2286000"/>
            <a:ext cx="1874520" cy="246888"/>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85,000 EUR  🔴</a:t>
            </a:r>
            <a:endParaRPr lang="en-US" sz="900" dirty="0"/>
          </a:p>
        </p:txBody>
      </p:sp>
      <p:sp>
        <p:nvSpPr>
          <p:cNvPr id="23" name="Text 21"/>
          <p:cNvSpPr/>
          <p:nvPr/>
        </p:nvSpPr>
        <p:spPr>
          <a:xfrm>
            <a:off x="365760" y="256032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WFD_AttText4</a:t>
            </a:r>
            <a:endParaRPr lang="en-US" sz="900" dirty="0"/>
          </a:p>
        </p:txBody>
      </p:sp>
      <p:sp>
        <p:nvSpPr>
          <p:cNvPr id="24" name="Shape 22"/>
          <p:cNvSpPr/>
          <p:nvPr/>
        </p:nvSpPr>
        <p:spPr>
          <a:xfrm>
            <a:off x="2331720" y="2578608"/>
            <a:ext cx="1920240" cy="219456"/>
          </a:xfrm>
          <a:prstGeom prst="rect">
            <a:avLst/>
          </a:prstGeom>
          <a:solidFill>
            <a:srgbClr val="FFEBEE"/>
          </a:solidFill>
          <a:ln/>
        </p:spPr>
      </p:sp>
      <p:sp>
        <p:nvSpPr>
          <p:cNvPr id="25" name="Text 23"/>
          <p:cNvSpPr/>
          <p:nvPr/>
        </p:nvSpPr>
        <p:spPr>
          <a:xfrm>
            <a:off x="2359152" y="2560320"/>
            <a:ext cx="1874520" cy="246888"/>
          </a:xfrm>
          <a:prstGeom prst="rect">
            <a:avLst/>
          </a:prstGeom>
          <a:noFill/>
          <a:ln/>
        </p:spPr>
        <p:txBody>
          <a:bodyPr wrap="square" rtlCol="0" anchor="ctr"/>
          <a:lstStyle/>
          <a:p>
            <a:pPr marL="0" indent="0">
              <a:buNone/>
            </a:pPr>
            <a:r>
              <a:rPr lang="en-US" sz="900" dirty="0" err="1">
                <a:solidFill>
                  <a:srgbClr val="C0392B"/>
                </a:solidFill>
                <a:latin typeface="Calibri" pitchFamily="34" charset="0"/>
                <a:ea typeface="Calibri" pitchFamily="34" charset="-122"/>
                <a:cs typeface="Calibri" pitchFamily="34" charset="-120"/>
              </a:rPr>
              <a:t>a.schmidt@COMPANY</a:t>
            </a:r>
            <a:r>
              <a:rPr lang="en-US" sz="900" dirty="0">
                <a:solidFill>
                  <a:srgbClr val="C0392B"/>
                </a:solidFill>
                <a:latin typeface="Calibri" pitchFamily="34" charset="0"/>
                <a:ea typeface="Calibri" pitchFamily="34" charset="-122"/>
                <a:cs typeface="Calibri" pitchFamily="34" charset="-120"/>
              </a:rPr>
              <a:t> NAME.com  🔴</a:t>
            </a:r>
            <a:endParaRPr lang="en-US" sz="900" dirty="0"/>
          </a:p>
        </p:txBody>
      </p:sp>
      <p:sp>
        <p:nvSpPr>
          <p:cNvPr id="26" name="Text 24"/>
          <p:cNvSpPr/>
          <p:nvPr/>
        </p:nvSpPr>
        <p:spPr>
          <a:xfrm>
            <a:off x="365760" y="283464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WFD_AttDate1</a:t>
            </a:r>
            <a:endParaRPr lang="en-US" sz="900" dirty="0"/>
          </a:p>
        </p:txBody>
      </p:sp>
      <p:sp>
        <p:nvSpPr>
          <p:cNvPr id="27" name="Shape 25"/>
          <p:cNvSpPr/>
          <p:nvPr/>
        </p:nvSpPr>
        <p:spPr>
          <a:xfrm>
            <a:off x="2331720" y="2852928"/>
            <a:ext cx="1920240" cy="219456"/>
          </a:xfrm>
          <a:prstGeom prst="rect">
            <a:avLst/>
          </a:prstGeom>
          <a:solidFill>
            <a:srgbClr val="F0F4FF"/>
          </a:solidFill>
          <a:ln/>
        </p:spPr>
      </p:sp>
      <p:sp>
        <p:nvSpPr>
          <p:cNvPr id="28" name="Text 26"/>
          <p:cNvSpPr/>
          <p:nvPr/>
        </p:nvSpPr>
        <p:spPr>
          <a:xfrm>
            <a:off x="2359152" y="2834640"/>
            <a:ext cx="1874520" cy="24688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2026-04-14</a:t>
            </a:r>
            <a:endParaRPr lang="en-US" sz="900" dirty="0"/>
          </a:p>
        </p:txBody>
      </p:sp>
      <p:sp>
        <p:nvSpPr>
          <p:cNvPr id="29" name="Text 27"/>
          <p:cNvSpPr/>
          <p:nvPr/>
        </p:nvSpPr>
        <p:spPr>
          <a:xfrm>
            <a:off x="365760" y="3108960"/>
            <a:ext cx="1920240" cy="246888"/>
          </a:xfrm>
          <a:prstGeom prst="rect">
            <a:avLst/>
          </a:prstGeom>
          <a:noFill/>
          <a:ln/>
        </p:spPr>
        <p:txBody>
          <a:bodyPr wrap="square" rtlCol="0" anchor="ctr"/>
          <a:lstStyle/>
          <a:p>
            <a:pPr marL="0" indent="0">
              <a:buNone/>
            </a:pPr>
            <a:r>
              <a:rPr lang="en-US" sz="900" dirty="0">
                <a:solidFill>
                  <a:srgbClr val="5B6B85"/>
                </a:solidFill>
                <a:latin typeface="Consolas" pitchFamily="34" charset="0"/>
                <a:ea typeface="Consolas" pitchFamily="34" charset="-122"/>
                <a:cs typeface="Consolas" pitchFamily="34" charset="-120"/>
              </a:rPr>
              <a:t>WFD_AttDate2</a:t>
            </a:r>
            <a:endParaRPr lang="en-US" sz="900" dirty="0"/>
          </a:p>
        </p:txBody>
      </p:sp>
      <p:sp>
        <p:nvSpPr>
          <p:cNvPr id="30" name="Shape 28"/>
          <p:cNvSpPr/>
          <p:nvPr/>
        </p:nvSpPr>
        <p:spPr>
          <a:xfrm>
            <a:off x="2331720" y="3127248"/>
            <a:ext cx="1920240" cy="219456"/>
          </a:xfrm>
          <a:prstGeom prst="rect">
            <a:avLst/>
          </a:prstGeom>
          <a:solidFill>
            <a:srgbClr val="F0F4FF"/>
          </a:solidFill>
          <a:ln/>
        </p:spPr>
      </p:sp>
      <p:sp>
        <p:nvSpPr>
          <p:cNvPr id="31" name="Text 29"/>
          <p:cNvSpPr/>
          <p:nvPr/>
        </p:nvSpPr>
        <p:spPr>
          <a:xfrm>
            <a:off x="2359152" y="3108960"/>
            <a:ext cx="1874520" cy="24688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2026-04-25</a:t>
            </a:r>
            <a:endParaRPr lang="en-US" sz="900" dirty="0"/>
          </a:p>
        </p:txBody>
      </p:sp>
      <p:sp>
        <p:nvSpPr>
          <p:cNvPr id="32" name="Shape 30"/>
          <p:cNvSpPr/>
          <p:nvPr/>
        </p:nvSpPr>
        <p:spPr>
          <a:xfrm>
            <a:off x="4663440" y="777240"/>
            <a:ext cx="4206240" cy="3383280"/>
          </a:xfrm>
          <a:prstGeom prst="rect">
            <a:avLst/>
          </a:prstGeom>
          <a:solidFill>
            <a:srgbClr val="FFFFFF"/>
          </a:solidFill>
          <a:ln/>
          <a:effectLst>
            <a:outerShdw blurRad="101600" dist="38100" dir="8100000" algn="bl" rotWithShape="0">
              <a:srgbClr val="000000">
                <a:alpha val="12000"/>
              </a:srgbClr>
            </a:outerShdw>
          </a:effectLst>
        </p:spPr>
      </p:sp>
      <p:sp>
        <p:nvSpPr>
          <p:cNvPr id="33" name="Shape 31"/>
          <p:cNvSpPr/>
          <p:nvPr/>
        </p:nvSpPr>
        <p:spPr>
          <a:xfrm>
            <a:off x="4663440" y="777240"/>
            <a:ext cx="4206240" cy="347472"/>
          </a:xfrm>
          <a:prstGeom prst="rect">
            <a:avLst/>
          </a:prstGeom>
          <a:solidFill>
            <a:srgbClr val="E8F5E9"/>
          </a:solidFill>
          <a:ln/>
        </p:spPr>
      </p:sp>
      <p:sp>
        <p:nvSpPr>
          <p:cNvPr id="34" name="Text 32"/>
          <p:cNvSpPr/>
          <p:nvPr/>
        </p:nvSpPr>
        <p:spPr>
          <a:xfrm>
            <a:off x="4754880" y="777240"/>
            <a:ext cx="4023360" cy="347472"/>
          </a:xfrm>
          <a:prstGeom prst="rect">
            <a:avLst/>
          </a:prstGeom>
          <a:noFill/>
          <a:ln/>
        </p:spPr>
        <p:txBody>
          <a:bodyPr wrap="square" rtlCol="0" anchor="ctr"/>
          <a:lstStyle/>
          <a:p>
            <a:pPr marL="0" indent="0">
              <a:buNone/>
            </a:pPr>
            <a:r>
              <a:rPr lang="en-US" sz="1000" b="1" dirty="0">
                <a:solidFill>
                  <a:srgbClr val="1B7A4A"/>
                </a:solidFill>
                <a:latin typeface="Calibri" pitchFamily="34" charset="0"/>
                <a:ea typeface="Calibri" pitchFamily="34" charset="-122"/>
                <a:cs typeface="Calibri" pitchFamily="34" charset="-120"/>
              </a:rPr>
              <a:t>What COMPANY NAME sees after all layers</a:t>
            </a:r>
            <a:endParaRPr lang="en-US" sz="1000" dirty="0"/>
          </a:p>
        </p:txBody>
      </p:sp>
      <p:sp>
        <p:nvSpPr>
          <p:cNvPr id="35" name="Shape 33"/>
          <p:cNvSpPr/>
          <p:nvPr/>
        </p:nvSpPr>
        <p:spPr>
          <a:xfrm>
            <a:off x="4846320" y="1325880"/>
            <a:ext cx="3840480" cy="457200"/>
          </a:xfrm>
          <a:prstGeom prst="rect">
            <a:avLst/>
          </a:prstGeom>
          <a:solidFill>
            <a:srgbClr val="F1F8FF"/>
          </a:solidFill>
          <a:ln w="12700">
            <a:solidFill>
              <a:srgbClr val="007A7D"/>
            </a:solidFill>
            <a:prstDash val="solid"/>
          </a:ln>
        </p:spPr>
      </p:sp>
      <p:sp>
        <p:nvSpPr>
          <p:cNvPr id="36" name="Text 34"/>
          <p:cNvSpPr/>
          <p:nvPr/>
        </p:nvSpPr>
        <p:spPr>
          <a:xfrm>
            <a:off x="4937760" y="1325880"/>
            <a:ext cx="3657600" cy="457200"/>
          </a:xfrm>
          <a:prstGeom prst="rect">
            <a:avLst/>
          </a:prstGeom>
          <a:noFill/>
          <a:ln/>
        </p:spPr>
        <p:txBody>
          <a:bodyPr wrap="square" rtlCol="0" anchor="ctr"/>
          <a:lstStyle/>
          <a:p>
            <a:pPr marL="0" indent="0">
              <a:buNone/>
            </a:pPr>
            <a:r>
              <a:rPr lang="en-US" sz="1050" b="1" dirty="0">
                <a:solidFill>
                  <a:srgbClr val="009B9E"/>
                </a:solidFill>
                <a:latin typeface="Calibri" pitchFamily="34" charset="0"/>
                <a:ea typeface="Calibri" pitchFamily="34" charset="-122"/>
                <a:cs typeface="Calibri" pitchFamily="34" charset="-120"/>
              </a:rPr>
              <a:t>L3 — RLS fires on FormType_ID = 101</a:t>
            </a:r>
            <a:endParaRPr lang="en-US" sz="1050" dirty="0"/>
          </a:p>
        </p:txBody>
      </p:sp>
      <p:sp>
        <p:nvSpPr>
          <p:cNvPr id="37" name="Shape 35"/>
          <p:cNvSpPr/>
          <p:nvPr/>
        </p:nvSpPr>
        <p:spPr>
          <a:xfrm>
            <a:off x="4846320" y="1920240"/>
            <a:ext cx="3840480" cy="1097280"/>
          </a:xfrm>
          <a:prstGeom prst="rect">
            <a:avLst/>
          </a:prstGeom>
          <a:solidFill>
            <a:srgbClr val="FAFAFA"/>
          </a:solidFill>
          <a:ln w="6350">
            <a:solidFill>
              <a:srgbClr val="DDDDDD"/>
            </a:solidFill>
            <a:prstDash val="solid"/>
          </a:ln>
        </p:spPr>
      </p:sp>
      <p:sp>
        <p:nvSpPr>
          <p:cNvPr id="38" name="Text 36"/>
          <p:cNvSpPr/>
          <p:nvPr/>
        </p:nvSpPr>
        <p:spPr>
          <a:xfrm>
            <a:off x="4937760" y="1920240"/>
            <a:ext cx="3657600" cy="1097280"/>
          </a:xfrm>
          <a:prstGeom prst="rect">
            <a:avLst/>
          </a:prstGeom>
          <a:noFill/>
          <a:ln/>
        </p:spPr>
        <p:txBody>
          <a:bodyPr wrap="square" rtlCol="0" anchor="ctr"/>
          <a:lstStyle/>
          <a:p>
            <a:pPr marL="0" indent="0">
              <a:buNone/>
            </a:pPr>
            <a:r>
              <a:rPr lang="en-US" sz="950" dirty="0">
                <a:solidFill>
                  <a:srgbClr val="335577"/>
                </a:solidFill>
                <a:latin typeface="Consolas" pitchFamily="34" charset="0"/>
                <a:ea typeface="Consolas" pitchFamily="34" charset="-122"/>
                <a:cs typeface="Consolas" pitchFamily="34" charset="-120"/>
              </a:rPr>
              <a:t>SELECT * FROM WFElements</a:t>
            </a:r>
            <a:endParaRPr lang="en-US" sz="950" dirty="0"/>
          </a:p>
          <a:p>
            <a:pPr marL="0" indent="0">
              <a:buNone/>
            </a:pPr>
            <a:r>
              <a:rPr lang="en-US" sz="950" dirty="0">
                <a:solidFill>
                  <a:srgbClr val="335577"/>
                </a:solidFill>
                <a:latin typeface="Consolas" pitchFamily="34" charset="0"/>
                <a:ea typeface="Consolas" pitchFamily="34" charset="-122"/>
                <a:cs typeface="Consolas" pitchFamily="34" charset="-120"/>
              </a:rPr>
              <a:t>WHERE WFD_FormType_ID = 101;</a:t>
            </a:r>
            <a:endParaRPr lang="en-US" sz="950" dirty="0"/>
          </a:p>
          <a:p>
            <a:pPr marL="0" indent="0">
              <a:buNone/>
            </a:pPr>
            <a:endParaRPr lang="en-US" sz="950" dirty="0"/>
          </a:p>
          <a:p>
            <a:pPr marL="0" indent="0">
              <a:buNone/>
            </a:pPr>
            <a:r>
              <a:rPr lang="en-US" sz="950" dirty="0">
                <a:solidFill>
                  <a:srgbClr val="335577"/>
                </a:solidFill>
                <a:latin typeface="Consolas" pitchFamily="34" charset="0"/>
                <a:ea typeface="Consolas" pitchFamily="34" charset="-122"/>
                <a:cs typeface="Consolas" pitchFamily="34" charset="-120"/>
              </a:rPr>
              <a:t>-- Result: 0 rows</a:t>
            </a:r>
            <a:endParaRPr lang="en-US" sz="950" dirty="0"/>
          </a:p>
        </p:txBody>
      </p:sp>
      <p:sp>
        <p:nvSpPr>
          <p:cNvPr id="39" name="Shape 37"/>
          <p:cNvSpPr/>
          <p:nvPr/>
        </p:nvSpPr>
        <p:spPr>
          <a:xfrm>
            <a:off x="4846320" y="3154680"/>
            <a:ext cx="3840480" cy="640080"/>
          </a:xfrm>
          <a:prstGeom prst="rect">
            <a:avLst/>
          </a:prstGeom>
          <a:solidFill>
            <a:srgbClr val="E8F5E9"/>
          </a:solidFill>
          <a:ln w="12700">
            <a:solidFill>
              <a:srgbClr val="1B7A4A"/>
            </a:solidFill>
            <a:prstDash val="solid"/>
          </a:ln>
        </p:spPr>
      </p:sp>
      <p:sp>
        <p:nvSpPr>
          <p:cNvPr id="40" name="Text 38"/>
          <p:cNvSpPr/>
          <p:nvPr/>
        </p:nvSpPr>
        <p:spPr>
          <a:xfrm>
            <a:off x="4937760" y="3154680"/>
            <a:ext cx="3657600" cy="640080"/>
          </a:xfrm>
          <a:prstGeom prst="rect">
            <a:avLst/>
          </a:prstGeom>
          <a:noFill/>
          <a:ln/>
        </p:spPr>
        <p:txBody>
          <a:bodyPr wrap="square" rtlCol="0" anchor="ctr"/>
          <a:lstStyle/>
          <a:p>
            <a:pPr marL="0" indent="0">
              <a:buNone/>
            </a:pPr>
            <a:r>
              <a:rPr lang="en-US" sz="1000" dirty="0">
                <a:solidFill>
                  <a:srgbClr val="1B7A4A"/>
                </a:solidFill>
                <a:latin typeface="Calibri" pitchFamily="34" charset="0"/>
                <a:ea typeface="Calibri" pitchFamily="34" charset="-122"/>
                <a:cs typeface="Calibri" pitchFamily="34" charset="-120"/>
              </a:rPr>
              <a:t>✔  Row is absent — not masked. No metadata, no count, no date range leakage.</a:t>
            </a:r>
            <a:endParaRPr lang="en-US" sz="1000" dirty="0"/>
          </a:p>
        </p:txBody>
      </p:sp>
      <p:sp>
        <p:nvSpPr>
          <p:cNvPr id="41" name="Shape 39"/>
          <p:cNvSpPr/>
          <p:nvPr/>
        </p:nvSpPr>
        <p:spPr>
          <a:xfrm>
            <a:off x="274320" y="4251960"/>
            <a:ext cx="8595360" cy="502920"/>
          </a:xfrm>
          <a:prstGeom prst="rect">
            <a:avLst/>
          </a:prstGeom>
          <a:solidFill>
            <a:srgbClr val="1A1A2E"/>
          </a:solidFill>
          <a:ln/>
        </p:spPr>
      </p:sp>
      <p:sp>
        <p:nvSpPr>
          <p:cNvPr id="42" name="Text 40"/>
          <p:cNvSpPr/>
          <p:nvPr/>
        </p:nvSpPr>
        <p:spPr>
          <a:xfrm>
            <a:off x="411480" y="4251960"/>
            <a:ext cx="8412480" cy="50292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Controls applied:  L2 — Process-Scoped View   L3 — RLS (row absent)   L4 — DDM on salary/medical/email columns   L5 — svc_nonea</a:t>
            </a:r>
            <a:endParaRPr lang="en-US" sz="950" dirty="0"/>
          </a:p>
        </p:txBody>
      </p:sp>
      <p:sp>
        <p:nvSpPr>
          <p:cNvPr id="43" name="Shape 41"/>
          <p:cNvSpPr/>
          <p:nvPr/>
        </p:nvSpPr>
        <p:spPr>
          <a:xfrm>
            <a:off x="0" y="4828032"/>
            <a:ext cx="9144000" cy="315468"/>
          </a:xfrm>
          <a:prstGeom prst="rect">
            <a:avLst/>
          </a:prstGeom>
          <a:solidFill>
            <a:srgbClr val="009B9E"/>
          </a:solidFill>
          <a:ln/>
        </p:spPr>
      </p:sp>
      <p:sp>
        <p:nvSpPr>
          <p:cNvPr id="44" name="Text 42"/>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45" name="Shape 43"/>
          <p:cNvSpPr/>
          <p:nvPr/>
        </p:nvSpPr>
        <p:spPr>
          <a:xfrm>
            <a:off x="502920" y="4919472"/>
            <a:ext cx="18288" cy="128016"/>
          </a:xfrm>
          <a:prstGeom prst="rect">
            <a:avLst/>
          </a:prstGeom>
          <a:solidFill>
            <a:srgbClr val="FFFFFF"/>
          </a:solidFill>
          <a:ln/>
        </p:spPr>
      </p:sp>
      <p:sp>
        <p:nvSpPr>
          <p:cNvPr id="46" name="Text 44"/>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47" name="Text 45"/>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C0392B"/>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TABLE 2  —  WFHistoryElements  (Audit Trail)  ⚠  Most Commonly Overlooked</a:t>
            </a:r>
            <a:endParaRPr lang="en-US" sz="1100" dirty="0"/>
          </a:p>
        </p:txBody>
      </p:sp>
      <p:sp>
        <p:nvSpPr>
          <p:cNvPr id="5" name="Shape 3"/>
          <p:cNvSpPr/>
          <p:nvPr/>
        </p:nvSpPr>
        <p:spPr>
          <a:xfrm>
            <a:off x="274320" y="777240"/>
            <a:ext cx="8595360" cy="658368"/>
          </a:xfrm>
          <a:prstGeom prst="rect">
            <a:avLst/>
          </a:prstGeom>
          <a:solidFill>
            <a:srgbClr val="FFF3E0"/>
          </a:solidFill>
          <a:ln w="19050">
            <a:solidFill>
              <a:srgbClr val="E67E22"/>
            </a:solidFill>
            <a:prstDash val="solid"/>
          </a:ln>
        </p:spPr>
      </p:sp>
      <p:sp>
        <p:nvSpPr>
          <p:cNvPr id="6" name="Shape 4"/>
          <p:cNvSpPr/>
          <p:nvPr/>
        </p:nvSpPr>
        <p:spPr>
          <a:xfrm>
            <a:off x="274320" y="777240"/>
            <a:ext cx="109728" cy="658368"/>
          </a:xfrm>
          <a:prstGeom prst="rect">
            <a:avLst/>
          </a:prstGeom>
          <a:solidFill>
            <a:srgbClr val="E67E22"/>
          </a:solidFill>
          <a:ln/>
        </p:spPr>
      </p:sp>
      <p:sp>
        <p:nvSpPr>
          <p:cNvPr id="7" name="Text 5"/>
          <p:cNvSpPr/>
          <p:nvPr/>
        </p:nvSpPr>
        <p:spPr>
          <a:xfrm>
            <a:off x="475488" y="822960"/>
            <a:ext cx="8229600" cy="56692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Critical: Every workflow step snapshots ALL field values here. Even if Anna edits her form and removes the medical reason, the original value is permanently recorded in history. Without RLS here, a COMPANY NAME DBA reconstructs the full data lifecycle.</a:t>
            </a:r>
            <a:endParaRPr lang="en-US" sz="1000" dirty="0"/>
          </a:p>
        </p:txBody>
      </p:sp>
      <p:sp>
        <p:nvSpPr>
          <p:cNvPr id="8" name="Shape 6"/>
          <p:cNvSpPr/>
          <p:nvPr/>
        </p:nvSpPr>
        <p:spPr>
          <a:xfrm>
            <a:off x="274320" y="1554480"/>
            <a:ext cx="4114800" cy="274320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274320" y="1554480"/>
            <a:ext cx="4114800" cy="329184"/>
          </a:xfrm>
          <a:prstGeom prst="rect">
            <a:avLst/>
          </a:prstGeom>
          <a:solidFill>
            <a:srgbClr val="FFEBEE"/>
          </a:solidFill>
          <a:ln/>
        </p:spPr>
      </p:sp>
      <p:sp>
        <p:nvSpPr>
          <p:cNvPr id="10" name="Text 8"/>
          <p:cNvSpPr/>
          <p:nvPr/>
        </p:nvSpPr>
        <p:spPr>
          <a:xfrm>
            <a:off x="365760" y="1554480"/>
            <a:ext cx="3931920" cy="329184"/>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Snapshot after Manager Approval step</a:t>
            </a:r>
            <a:endParaRPr lang="en-US" sz="1000" dirty="0"/>
          </a:p>
        </p:txBody>
      </p:sp>
      <p:sp>
        <p:nvSpPr>
          <p:cNvPr id="11" name="Text 9"/>
          <p:cNvSpPr/>
          <p:nvPr/>
        </p:nvSpPr>
        <p:spPr>
          <a:xfrm>
            <a:off x="365760" y="1956816"/>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WFH_WFDID</a:t>
            </a:r>
            <a:endParaRPr lang="en-US" sz="850" dirty="0"/>
          </a:p>
        </p:txBody>
      </p:sp>
      <p:sp>
        <p:nvSpPr>
          <p:cNvPr id="12" name="Shape 10"/>
          <p:cNvSpPr/>
          <p:nvPr/>
        </p:nvSpPr>
        <p:spPr>
          <a:xfrm>
            <a:off x="2331720" y="1975104"/>
            <a:ext cx="1920240" cy="219456"/>
          </a:xfrm>
          <a:prstGeom prst="rect">
            <a:avLst/>
          </a:prstGeom>
          <a:solidFill>
            <a:srgbClr val="F0F4FF"/>
          </a:solidFill>
          <a:ln/>
        </p:spPr>
      </p:sp>
      <p:sp>
        <p:nvSpPr>
          <p:cNvPr id="13" name="Text 11"/>
          <p:cNvSpPr/>
          <p:nvPr/>
        </p:nvSpPr>
        <p:spPr>
          <a:xfrm>
            <a:off x="2359152" y="1956816"/>
            <a:ext cx="1874520" cy="25603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50821 (Anna's form)</a:t>
            </a:r>
            <a:endParaRPr lang="en-US" sz="850" dirty="0"/>
          </a:p>
        </p:txBody>
      </p:sp>
      <p:sp>
        <p:nvSpPr>
          <p:cNvPr id="14" name="Text 12"/>
          <p:cNvSpPr/>
          <p:nvPr/>
        </p:nvSpPr>
        <p:spPr>
          <a:xfrm>
            <a:off x="365760" y="2249424"/>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WFH_FormType_ID</a:t>
            </a:r>
            <a:endParaRPr lang="en-US" sz="850" dirty="0"/>
          </a:p>
        </p:txBody>
      </p:sp>
      <p:sp>
        <p:nvSpPr>
          <p:cNvPr id="15" name="Shape 13"/>
          <p:cNvSpPr/>
          <p:nvPr/>
        </p:nvSpPr>
        <p:spPr>
          <a:xfrm>
            <a:off x="2331720" y="2267712"/>
            <a:ext cx="1920240" cy="219456"/>
          </a:xfrm>
          <a:prstGeom prst="rect">
            <a:avLst/>
          </a:prstGeom>
          <a:solidFill>
            <a:srgbClr val="F0F4FF"/>
          </a:solidFill>
          <a:ln/>
        </p:spPr>
      </p:sp>
      <p:sp>
        <p:nvSpPr>
          <p:cNvPr id="16" name="Text 14"/>
          <p:cNvSpPr/>
          <p:nvPr/>
        </p:nvSpPr>
        <p:spPr>
          <a:xfrm>
            <a:off x="2359152" y="2249424"/>
            <a:ext cx="1874520" cy="25603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101</a:t>
            </a:r>
            <a:endParaRPr lang="en-US" sz="850" dirty="0"/>
          </a:p>
        </p:txBody>
      </p:sp>
      <p:sp>
        <p:nvSpPr>
          <p:cNvPr id="17" name="Text 15"/>
          <p:cNvSpPr/>
          <p:nvPr/>
        </p:nvSpPr>
        <p:spPr>
          <a:xfrm>
            <a:off x="365760" y="2542032"/>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WFH_AttText2</a:t>
            </a:r>
            <a:endParaRPr lang="en-US" sz="850" dirty="0"/>
          </a:p>
        </p:txBody>
      </p:sp>
      <p:sp>
        <p:nvSpPr>
          <p:cNvPr id="18" name="Shape 16"/>
          <p:cNvSpPr/>
          <p:nvPr/>
        </p:nvSpPr>
        <p:spPr>
          <a:xfrm>
            <a:off x="2331720" y="2560320"/>
            <a:ext cx="1920240" cy="219456"/>
          </a:xfrm>
          <a:prstGeom prst="rect">
            <a:avLst/>
          </a:prstGeom>
          <a:solidFill>
            <a:srgbClr val="FFEBEE"/>
          </a:solidFill>
          <a:ln/>
        </p:spPr>
      </p:sp>
      <p:sp>
        <p:nvSpPr>
          <p:cNvPr id="19" name="Text 17"/>
          <p:cNvSpPr/>
          <p:nvPr/>
        </p:nvSpPr>
        <p:spPr>
          <a:xfrm>
            <a:off x="2359152" y="2542032"/>
            <a:ext cx="1874520" cy="256032"/>
          </a:xfrm>
          <a:prstGeom prst="rect">
            <a:avLst/>
          </a:prstGeom>
          <a:noFill/>
          <a:ln/>
        </p:spPr>
        <p:txBody>
          <a:bodyPr wrap="square" rtlCol="0" anchor="ctr"/>
          <a:lstStyle/>
          <a:p>
            <a:pPr marL="0" indent="0">
              <a:buNone/>
            </a:pPr>
            <a:r>
              <a:rPr lang="en-US" sz="850" dirty="0">
                <a:solidFill>
                  <a:srgbClr val="C0392B"/>
                </a:solidFill>
                <a:latin typeface="Calibri" pitchFamily="34" charset="0"/>
                <a:ea typeface="Calibri" pitchFamily="34" charset="-122"/>
                <a:cs typeface="Calibri" pitchFamily="34" charset="-120"/>
              </a:rPr>
              <a:t>Anna Schmidt  🔴</a:t>
            </a:r>
            <a:endParaRPr lang="en-US" sz="850" dirty="0"/>
          </a:p>
        </p:txBody>
      </p:sp>
      <p:sp>
        <p:nvSpPr>
          <p:cNvPr id="20" name="Text 18"/>
          <p:cNvSpPr/>
          <p:nvPr/>
        </p:nvSpPr>
        <p:spPr>
          <a:xfrm>
            <a:off x="365760" y="2834640"/>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WFH_AttText3</a:t>
            </a:r>
            <a:endParaRPr lang="en-US" sz="850" dirty="0"/>
          </a:p>
        </p:txBody>
      </p:sp>
      <p:sp>
        <p:nvSpPr>
          <p:cNvPr id="21" name="Shape 19"/>
          <p:cNvSpPr/>
          <p:nvPr/>
        </p:nvSpPr>
        <p:spPr>
          <a:xfrm>
            <a:off x="2331720" y="2852928"/>
            <a:ext cx="1920240" cy="219456"/>
          </a:xfrm>
          <a:prstGeom prst="rect">
            <a:avLst/>
          </a:prstGeom>
          <a:solidFill>
            <a:srgbClr val="FFEBEE"/>
          </a:solidFill>
          <a:ln/>
        </p:spPr>
      </p:sp>
      <p:sp>
        <p:nvSpPr>
          <p:cNvPr id="22" name="Text 20"/>
          <p:cNvSpPr/>
          <p:nvPr/>
        </p:nvSpPr>
        <p:spPr>
          <a:xfrm>
            <a:off x="2359152" y="2834640"/>
            <a:ext cx="1874520" cy="256032"/>
          </a:xfrm>
          <a:prstGeom prst="rect">
            <a:avLst/>
          </a:prstGeom>
          <a:noFill/>
          <a:ln/>
        </p:spPr>
        <p:txBody>
          <a:bodyPr wrap="square" rtlCol="0" anchor="ctr"/>
          <a:lstStyle/>
          <a:p>
            <a:pPr marL="0" indent="0">
              <a:buNone/>
            </a:pPr>
            <a:r>
              <a:rPr lang="en-US" sz="850" dirty="0">
                <a:solidFill>
                  <a:srgbClr val="C0392B"/>
                </a:solidFill>
                <a:latin typeface="Calibri" pitchFamily="34" charset="0"/>
                <a:ea typeface="Calibri" pitchFamily="34" charset="-122"/>
                <a:cs typeface="Calibri" pitchFamily="34" charset="-120"/>
              </a:rPr>
              <a:t>Hypertension  🔴</a:t>
            </a:r>
            <a:endParaRPr lang="en-US" sz="850" dirty="0"/>
          </a:p>
        </p:txBody>
      </p:sp>
      <p:sp>
        <p:nvSpPr>
          <p:cNvPr id="23" name="Text 21"/>
          <p:cNvSpPr/>
          <p:nvPr/>
        </p:nvSpPr>
        <p:spPr>
          <a:xfrm>
            <a:off x="365760" y="3127248"/>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WFH_AttDecimal1</a:t>
            </a:r>
            <a:endParaRPr lang="en-US" sz="850" dirty="0"/>
          </a:p>
        </p:txBody>
      </p:sp>
      <p:sp>
        <p:nvSpPr>
          <p:cNvPr id="24" name="Shape 22"/>
          <p:cNvSpPr/>
          <p:nvPr/>
        </p:nvSpPr>
        <p:spPr>
          <a:xfrm>
            <a:off x="2331720" y="3145536"/>
            <a:ext cx="1920240" cy="219456"/>
          </a:xfrm>
          <a:prstGeom prst="rect">
            <a:avLst/>
          </a:prstGeom>
          <a:solidFill>
            <a:srgbClr val="FFEBEE"/>
          </a:solidFill>
          <a:ln/>
        </p:spPr>
      </p:sp>
      <p:sp>
        <p:nvSpPr>
          <p:cNvPr id="25" name="Text 23"/>
          <p:cNvSpPr/>
          <p:nvPr/>
        </p:nvSpPr>
        <p:spPr>
          <a:xfrm>
            <a:off x="2359152" y="3127248"/>
            <a:ext cx="1874520" cy="256032"/>
          </a:xfrm>
          <a:prstGeom prst="rect">
            <a:avLst/>
          </a:prstGeom>
          <a:noFill/>
          <a:ln/>
        </p:spPr>
        <p:txBody>
          <a:bodyPr wrap="square" rtlCol="0" anchor="ctr"/>
          <a:lstStyle/>
          <a:p>
            <a:pPr marL="0" indent="0">
              <a:buNone/>
            </a:pPr>
            <a:r>
              <a:rPr lang="en-US" sz="850" dirty="0">
                <a:solidFill>
                  <a:srgbClr val="C0392B"/>
                </a:solidFill>
                <a:latin typeface="Calibri" pitchFamily="34" charset="0"/>
                <a:ea typeface="Calibri" pitchFamily="34" charset="-122"/>
                <a:cs typeface="Calibri" pitchFamily="34" charset="-120"/>
              </a:rPr>
              <a:t>85,000 EUR  🔴</a:t>
            </a:r>
            <a:endParaRPr lang="en-US" sz="850" dirty="0"/>
          </a:p>
        </p:txBody>
      </p:sp>
      <p:sp>
        <p:nvSpPr>
          <p:cNvPr id="26" name="Text 24"/>
          <p:cNvSpPr/>
          <p:nvPr/>
        </p:nvSpPr>
        <p:spPr>
          <a:xfrm>
            <a:off x="365760" y="3419856"/>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WFH_User</a:t>
            </a:r>
            <a:endParaRPr lang="en-US" sz="850" dirty="0"/>
          </a:p>
        </p:txBody>
      </p:sp>
      <p:sp>
        <p:nvSpPr>
          <p:cNvPr id="27" name="Shape 25"/>
          <p:cNvSpPr/>
          <p:nvPr/>
        </p:nvSpPr>
        <p:spPr>
          <a:xfrm>
            <a:off x="2331720" y="3438144"/>
            <a:ext cx="1920240" cy="219456"/>
          </a:xfrm>
          <a:prstGeom prst="rect">
            <a:avLst/>
          </a:prstGeom>
          <a:solidFill>
            <a:srgbClr val="F0F4FF"/>
          </a:solidFill>
          <a:ln/>
        </p:spPr>
      </p:sp>
      <p:sp>
        <p:nvSpPr>
          <p:cNvPr id="28" name="Text 26"/>
          <p:cNvSpPr/>
          <p:nvPr/>
        </p:nvSpPr>
        <p:spPr>
          <a:xfrm>
            <a:off x="2359152" y="3419856"/>
            <a:ext cx="1874520" cy="25603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m.janssen (approved)</a:t>
            </a:r>
            <a:endParaRPr lang="en-US" sz="850" dirty="0"/>
          </a:p>
        </p:txBody>
      </p:sp>
      <p:sp>
        <p:nvSpPr>
          <p:cNvPr id="29" name="Text 27"/>
          <p:cNvSpPr/>
          <p:nvPr/>
        </p:nvSpPr>
        <p:spPr>
          <a:xfrm>
            <a:off x="365760" y="3712464"/>
            <a:ext cx="1920240" cy="256032"/>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WFH_StepName</a:t>
            </a:r>
            <a:endParaRPr lang="en-US" sz="850" dirty="0"/>
          </a:p>
        </p:txBody>
      </p:sp>
      <p:sp>
        <p:nvSpPr>
          <p:cNvPr id="30" name="Shape 28"/>
          <p:cNvSpPr/>
          <p:nvPr/>
        </p:nvSpPr>
        <p:spPr>
          <a:xfrm>
            <a:off x="2331720" y="3730752"/>
            <a:ext cx="1920240" cy="219456"/>
          </a:xfrm>
          <a:prstGeom prst="rect">
            <a:avLst/>
          </a:prstGeom>
          <a:solidFill>
            <a:srgbClr val="F0F4FF"/>
          </a:solidFill>
          <a:ln/>
        </p:spPr>
      </p:sp>
      <p:sp>
        <p:nvSpPr>
          <p:cNvPr id="31" name="Text 29"/>
          <p:cNvSpPr/>
          <p:nvPr/>
        </p:nvSpPr>
        <p:spPr>
          <a:xfrm>
            <a:off x="2359152" y="3712464"/>
            <a:ext cx="1874520" cy="25603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Manager Approval</a:t>
            </a:r>
            <a:endParaRPr lang="en-US" sz="850" dirty="0"/>
          </a:p>
        </p:txBody>
      </p:sp>
      <p:sp>
        <p:nvSpPr>
          <p:cNvPr id="32" name="Shape 30"/>
          <p:cNvSpPr/>
          <p:nvPr/>
        </p:nvSpPr>
        <p:spPr>
          <a:xfrm>
            <a:off x="4663440" y="1554480"/>
            <a:ext cx="4206240" cy="2743200"/>
          </a:xfrm>
          <a:prstGeom prst="rect">
            <a:avLst/>
          </a:prstGeom>
          <a:solidFill>
            <a:srgbClr val="FFFFFF"/>
          </a:solidFill>
          <a:ln/>
          <a:effectLst>
            <a:outerShdw blurRad="101600" dist="38100" dir="8100000" algn="bl" rotWithShape="0">
              <a:srgbClr val="000000">
                <a:alpha val="12000"/>
              </a:srgbClr>
            </a:outerShdw>
          </a:effectLst>
        </p:spPr>
      </p:sp>
      <p:sp>
        <p:nvSpPr>
          <p:cNvPr id="33" name="Shape 31"/>
          <p:cNvSpPr/>
          <p:nvPr/>
        </p:nvSpPr>
        <p:spPr>
          <a:xfrm>
            <a:off x="4663440" y="1554480"/>
            <a:ext cx="4206240" cy="329184"/>
          </a:xfrm>
          <a:prstGeom prst="rect">
            <a:avLst/>
          </a:prstGeom>
          <a:solidFill>
            <a:srgbClr val="E8F5E9"/>
          </a:solidFill>
          <a:ln/>
        </p:spPr>
      </p:sp>
      <p:sp>
        <p:nvSpPr>
          <p:cNvPr id="34" name="Text 32"/>
          <p:cNvSpPr/>
          <p:nvPr/>
        </p:nvSpPr>
        <p:spPr>
          <a:xfrm>
            <a:off x="4754880" y="1554480"/>
            <a:ext cx="4023360" cy="329184"/>
          </a:xfrm>
          <a:prstGeom prst="rect">
            <a:avLst/>
          </a:prstGeom>
          <a:noFill/>
          <a:ln/>
        </p:spPr>
        <p:txBody>
          <a:bodyPr wrap="square" rtlCol="0" anchor="ctr"/>
          <a:lstStyle/>
          <a:p>
            <a:pPr marL="0" indent="0">
              <a:buNone/>
            </a:pPr>
            <a:r>
              <a:rPr lang="en-US" sz="1000" b="1" dirty="0">
                <a:solidFill>
                  <a:srgbClr val="1B7A4A"/>
                </a:solidFill>
                <a:latin typeface="Calibri" pitchFamily="34" charset="0"/>
                <a:ea typeface="Calibri" pitchFamily="34" charset="-122"/>
                <a:cs typeface="Calibri" pitchFamily="34" charset="-120"/>
              </a:rPr>
              <a:t>Fix — Mirror RLS from WFElements</a:t>
            </a:r>
            <a:endParaRPr lang="en-US" sz="1000" dirty="0"/>
          </a:p>
        </p:txBody>
      </p:sp>
      <p:sp>
        <p:nvSpPr>
          <p:cNvPr id="35" name="Shape 33"/>
          <p:cNvSpPr/>
          <p:nvPr/>
        </p:nvSpPr>
        <p:spPr>
          <a:xfrm>
            <a:off x="4754880" y="1956816"/>
            <a:ext cx="3931920" cy="1828800"/>
          </a:xfrm>
          <a:prstGeom prst="rect">
            <a:avLst/>
          </a:prstGeom>
          <a:solidFill>
            <a:srgbClr val="F8FAFC"/>
          </a:solidFill>
          <a:ln w="6350">
            <a:solidFill>
              <a:srgbClr val="DDDDDD"/>
            </a:solidFill>
            <a:prstDash val="solid"/>
          </a:ln>
        </p:spPr>
      </p:sp>
      <p:sp>
        <p:nvSpPr>
          <p:cNvPr id="36" name="Text 34"/>
          <p:cNvSpPr/>
          <p:nvPr/>
        </p:nvSpPr>
        <p:spPr>
          <a:xfrm>
            <a:off x="4828032" y="1956816"/>
            <a:ext cx="3794760" cy="1828800"/>
          </a:xfrm>
          <a:prstGeom prst="rect">
            <a:avLst/>
          </a:prstGeom>
          <a:noFill/>
          <a:ln/>
        </p:spPr>
        <p:txBody>
          <a:bodyPr wrap="square" rtlCol="0" anchor="ctr"/>
          <a:lstStyle/>
          <a:p>
            <a:pPr marL="0" indent="0">
              <a:buNone/>
            </a:pPr>
            <a:r>
              <a:rPr lang="en-US" sz="850" dirty="0">
                <a:solidFill>
                  <a:srgbClr val="1A3A5C"/>
                </a:solidFill>
                <a:latin typeface="Consolas" pitchFamily="34" charset="0"/>
                <a:ea typeface="Consolas" pitchFamily="34" charset="-122"/>
                <a:cs typeface="Consolas" pitchFamily="34" charset="-120"/>
              </a:rPr>
              <a:t>CREATE SECURITY POLICY</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  WFHistory_RowSecurity</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ADD FILTER PREDICATE</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  fn_WFHistory_AccessPolicy</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    (WFH_FormType_ID)</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ON dbo.WFHistoryElements</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WITH (STATE = ON);</a:t>
            </a:r>
            <a:endParaRPr lang="en-US" sz="850" dirty="0"/>
          </a:p>
        </p:txBody>
      </p:sp>
      <p:sp>
        <p:nvSpPr>
          <p:cNvPr id="37" name="Shape 35"/>
          <p:cNvSpPr/>
          <p:nvPr/>
        </p:nvSpPr>
        <p:spPr>
          <a:xfrm>
            <a:off x="4754880" y="3840480"/>
            <a:ext cx="3931920" cy="384048"/>
          </a:xfrm>
          <a:prstGeom prst="rect">
            <a:avLst/>
          </a:prstGeom>
          <a:solidFill>
            <a:srgbClr val="EDF7ED"/>
          </a:solidFill>
          <a:ln w="10160">
            <a:solidFill>
              <a:srgbClr val="1B7A4A"/>
            </a:solidFill>
            <a:prstDash val="solid"/>
          </a:ln>
        </p:spPr>
      </p:sp>
      <p:sp>
        <p:nvSpPr>
          <p:cNvPr id="38" name="Text 36"/>
          <p:cNvSpPr/>
          <p:nvPr/>
        </p:nvSpPr>
        <p:spPr>
          <a:xfrm>
            <a:off x="4846320" y="3840480"/>
            <a:ext cx="3749040" cy="384048"/>
          </a:xfrm>
          <a:prstGeom prst="rect">
            <a:avLst/>
          </a:prstGeom>
          <a:noFill/>
          <a:ln/>
        </p:spPr>
        <p:txBody>
          <a:bodyPr wrap="square" rtlCol="0" anchor="ctr"/>
          <a:lstStyle/>
          <a:p>
            <a:pPr marL="0" indent="0">
              <a:buNone/>
            </a:pPr>
            <a:r>
              <a:rPr lang="en-US" sz="950" dirty="0">
                <a:solidFill>
                  <a:srgbClr val="1B7A4A"/>
                </a:solidFill>
                <a:latin typeface="Calibri" pitchFamily="34" charset="0"/>
                <a:ea typeface="Calibri" pitchFamily="34" charset="-122"/>
                <a:cs typeface="Calibri" pitchFamily="34" charset="-120"/>
              </a:rPr>
              <a:t>✔  Same ProcessID blocklist as WFElements. Maintain via cfg_SensitiveProcessIDs table.</a:t>
            </a:r>
            <a:endParaRPr lang="en-US" sz="950" dirty="0"/>
          </a:p>
        </p:txBody>
      </p:sp>
      <p:sp>
        <p:nvSpPr>
          <p:cNvPr id="39" name="Shape 37"/>
          <p:cNvSpPr/>
          <p:nvPr/>
        </p:nvSpPr>
        <p:spPr>
          <a:xfrm>
            <a:off x="274320" y="4370832"/>
            <a:ext cx="8595360" cy="429768"/>
          </a:xfrm>
          <a:prstGeom prst="rect">
            <a:avLst/>
          </a:prstGeom>
          <a:solidFill>
            <a:srgbClr val="1A1A2E"/>
          </a:solidFill>
          <a:ln/>
        </p:spPr>
      </p:sp>
      <p:sp>
        <p:nvSpPr>
          <p:cNvPr id="40" name="Text 38"/>
          <p:cNvSpPr/>
          <p:nvPr/>
        </p:nvSpPr>
        <p:spPr>
          <a:xfrm>
            <a:off x="411480" y="4370832"/>
            <a:ext cx="8412480" cy="42976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Controls applied:  L3 — RLS (mirrors WFElements policy)   L4 — DDM on WFH_AttText3, WFH_AttDecimal1   L5 — svc_nonea</a:t>
            </a:r>
            <a:endParaRPr lang="en-US" sz="950" dirty="0"/>
          </a:p>
        </p:txBody>
      </p:sp>
      <p:sp>
        <p:nvSpPr>
          <p:cNvPr id="41" name="Shape 39"/>
          <p:cNvSpPr/>
          <p:nvPr/>
        </p:nvSpPr>
        <p:spPr>
          <a:xfrm>
            <a:off x="0" y="4828032"/>
            <a:ext cx="9144000" cy="315468"/>
          </a:xfrm>
          <a:prstGeom prst="rect">
            <a:avLst/>
          </a:prstGeom>
          <a:solidFill>
            <a:srgbClr val="009B9E"/>
          </a:solidFill>
          <a:ln/>
        </p:spPr>
      </p:sp>
      <p:sp>
        <p:nvSpPr>
          <p:cNvPr id="42" name="Text 40"/>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43" name="Shape 41"/>
          <p:cNvSpPr/>
          <p:nvPr/>
        </p:nvSpPr>
        <p:spPr>
          <a:xfrm>
            <a:off x="502920" y="4919472"/>
            <a:ext cx="18288" cy="128016"/>
          </a:xfrm>
          <a:prstGeom prst="rect">
            <a:avLst/>
          </a:prstGeom>
          <a:solidFill>
            <a:srgbClr val="FFFFFF"/>
          </a:solidFill>
          <a:ln/>
        </p:spPr>
      </p:sp>
      <p:sp>
        <p:nvSpPr>
          <p:cNvPr id="44" name="Text 42"/>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45" name="Text 43"/>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4A235A"/>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TABLE 3 &amp; 4  —  WFElementDetails (Sub-forms)  +  WFElementComments (Comments)</a:t>
            </a:r>
            <a:endParaRPr lang="en-US" sz="1050" dirty="0"/>
          </a:p>
        </p:txBody>
      </p:sp>
      <p:sp>
        <p:nvSpPr>
          <p:cNvPr id="5" name="Shape 3"/>
          <p:cNvSpPr/>
          <p:nvPr/>
        </p:nvSpPr>
        <p:spPr>
          <a:xfrm>
            <a:off x="274320" y="777240"/>
            <a:ext cx="4114800" cy="402336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777240"/>
            <a:ext cx="4114800" cy="347472"/>
          </a:xfrm>
          <a:prstGeom prst="rect">
            <a:avLst/>
          </a:prstGeom>
          <a:solidFill>
            <a:srgbClr val="EDE7F6"/>
          </a:solidFill>
          <a:ln/>
        </p:spPr>
      </p:sp>
      <p:sp>
        <p:nvSpPr>
          <p:cNvPr id="7" name="Text 5"/>
          <p:cNvSpPr/>
          <p:nvPr/>
        </p:nvSpPr>
        <p:spPr>
          <a:xfrm>
            <a:off x="365760" y="777240"/>
            <a:ext cx="3931920" cy="347472"/>
          </a:xfrm>
          <a:prstGeom prst="rect">
            <a:avLst/>
          </a:prstGeom>
          <a:noFill/>
          <a:ln/>
        </p:spPr>
        <p:txBody>
          <a:bodyPr wrap="square" rtlCol="0" anchor="ctr"/>
          <a:lstStyle/>
          <a:p>
            <a:pPr marL="0" indent="0">
              <a:buNone/>
            </a:pPr>
            <a:r>
              <a:rPr lang="en-US" sz="950" b="1" dirty="0">
                <a:solidFill>
                  <a:srgbClr val="4A235A"/>
                </a:solidFill>
                <a:latin typeface="Calibri" pitchFamily="34" charset="0"/>
                <a:ea typeface="Calibri" pitchFamily="34" charset="-122"/>
                <a:cs typeface="Calibri" pitchFamily="34" charset="-120"/>
              </a:rPr>
              <a:t>WFElementDetails — Daily Breakdown Sub-form</a:t>
            </a:r>
            <a:endParaRPr lang="en-US" sz="950" dirty="0"/>
          </a:p>
        </p:txBody>
      </p:sp>
      <p:sp>
        <p:nvSpPr>
          <p:cNvPr id="8" name="Text 6"/>
          <p:cNvSpPr/>
          <p:nvPr/>
        </p:nvSpPr>
        <p:spPr>
          <a:xfrm>
            <a:off x="365760" y="1188720"/>
            <a:ext cx="3840480" cy="54864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Anna's leave request has a sub-form capturing each absence day. Each row is a separate WFElementDetails record — all linked by WFD_WFDID = 50821.</a:t>
            </a:r>
            <a:endParaRPr lang="en-US" sz="950" dirty="0"/>
          </a:p>
        </p:txBody>
      </p:sp>
      <p:sp>
        <p:nvSpPr>
          <p:cNvPr id="9" name="Text 7"/>
          <p:cNvSpPr/>
          <p:nvPr/>
        </p:nvSpPr>
        <p:spPr>
          <a:xfrm>
            <a:off x="365760" y="1828800"/>
            <a:ext cx="1737360" cy="237744"/>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WFD_WFDID</a:t>
            </a:r>
            <a:endParaRPr lang="en-US" sz="850" dirty="0"/>
          </a:p>
        </p:txBody>
      </p:sp>
      <p:sp>
        <p:nvSpPr>
          <p:cNvPr id="10" name="Shape 8"/>
          <p:cNvSpPr/>
          <p:nvPr/>
        </p:nvSpPr>
        <p:spPr>
          <a:xfrm>
            <a:off x="2148840" y="1847088"/>
            <a:ext cx="2011680" cy="201168"/>
          </a:xfrm>
          <a:prstGeom prst="rect">
            <a:avLst/>
          </a:prstGeom>
          <a:solidFill>
            <a:srgbClr val="F0F4FF"/>
          </a:solidFill>
          <a:ln/>
        </p:spPr>
      </p:sp>
      <p:sp>
        <p:nvSpPr>
          <p:cNvPr id="11" name="Text 9"/>
          <p:cNvSpPr/>
          <p:nvPr/>
        </p:nvSpPr>
        <p:spPr>
          <a:xfrm>
            <a:off x="2176272" y="1828800"/>
            <a:ext cx="1920240" cy="237744"/>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50821</a:t>
            </a:r>
            <a:endParaRPr lang="en-US" sz="850" dirty="0"/>
          </a:p>
        </p:txBody>
      </p:sp>
      <p:sp>
        <p:nvSpPr>
          <p:cNvPr id="12" name="Text 10"/>
          <p:cNvSpPr/>
          <p:nvPr/>
        </p:nvSpPr>
        <p:spPr>
          <a:xfrm>
            <a:off x="365760" y="2093976"/>
            <a:ext cx="1737360" cy="237744"/>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WFD_AttText1</a:t>
            </a:r>
            <a:endParaRPr lang="en-US" sz="850" dirty="0"/>
          </a:p>
        </p:txBody>
      </p:sp>
      <p:sp>
        <p:nvSpPr>
          <p:cNvPr id="13" name="Shape 11"/>
          <p:cNvSpPr/>
          <p:nvPr/>
        </p:nvSpPr>
        <p:spPr>
          <a:xfrm>
            <a:off x="2148840" y="2112264"/>
            <a:ext cx="2011680" cy="201168"/>
          </a:xfrm>
          <a:prstGeom prst="rect">
            <a:avLst/>
          </a:prstGeom>
          <a:solidFill>
            <a:srgbClr val="F0F4FF"/>
          </a:solidFill>
          <a:ln/>
        </p:spPr>
      </p:sp>
      <p:sp>
        <p:nvSpPr>
          <p:cNvPr id="14" name="Text 12"/>
          <p:cNvSpPr/>
          <p:nvPr/>
        </p:nvSpPr>
        <p:spPr>
          <a:xfrm>
            <a:off x="2176272" y="2093976"/>
            <a:ext cx="1920240" cy="237744"/>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2026-04-14</a:t>
            </a:r>
            <a:endParaRPr lang="en-US" sz="850" dirty="0"/>
          </a:p>
        </p:txBody>
      </p:sp>
      <p:sp>
        <p:nvSpPr>
          <p:cNvPr id="15" name="Text 13"/>
          <p:cNvSpPr/>
          <p:nvPr/>
        </p:nvSpPr>
        <p:spPr>
          <a:xfrm>
            <a:off x="365760" y="2359152"/>
            <a:ext cx="1737360" cy="237744"/>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WFD_AttText2</a:t>
            </a:r>
            <a:endParaRPr lang="en-US" sz="850" dirty="0"/>
          </a:p>
        </p:txBody>
      </p:sp>
      <p:sp>
        <p:nvSpPr>
          <p:cNvPr id="16" name="Shape 14"/>
          <p:cNvSpPr/>
          <p:nvPr/>
        </p:nvSpPr>
        <p:spPr>
          <a:xfrm>
            <a:off x="2148840" y="2377440"/>
            <a:ext cx="2011680" cy="201168"/>
          </a:xfrm>
          <a:prstGeom prst="rect">
            <a:avLst/>
          </a:prstGeom>
          <a:solidFill>
            <a:srgbClr val="F0F4FF"/>
          </a:solidFill>
          <a:ln/>
        </p:spPr>
      </p:sp>
      <p:sp>
        <p:nvSpPr>
          <p:cNvPr id="17" name="Text 15"/>
          <p:cNvSpPr/>
          <p:nvPr/>
        </p:nvSpPr>
        <p:spPr>
          <a:xfrm>
            <a:off x="2176272" y="2359152"/>
            <a:ext cx="1920240" cy="237744"/>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Full Day</a:t>
            </a:r>
            <a:endParaRPr lang="en-US" sz="850" dirty="0"/>
          </a:p>
        </p:txBody>
      </p:sp>
      <p:sp>
        <p:nvSpPr>
          <p:cNvPr id="18" name="Text 16"/>
          <p:cNvSpPr/>
          <p:nvPr/>
        </p:nvSpPr>
        <p:spPr>
          <a:xfrm>
            <a:off x="365760" y="2624328"/>
            <a:ext cx="1737360" cy="237744"/>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WFD_AttText3</a:t>
            </a:r>
            <a:endParaRPr lang="en-US" sz="850" dirty="0"/>
          </a:p>
        </p:txBody>
      </p:sp>
      <p:sp>
        <p:nvSpPr>
          <p:cNvPr id="19" name="Shape 17"/>
          <p:cNvSpPr/>
          <p:nvPr/>
        </p:nvSpPr>
        <p:spPr>
          <a:xfrm>
            <a:off x="2148840" y="2642616"/>
            <a:ext cx="2011680" cy="201168"/>
          </a:xfrm>
          <a:prstGeom prst="rect">
            <a:avLst/>
          </a:prstGeom>
          <a:solidFill>
            <a:srgbClr val="FFEBEE"/>
          </a:solidFill>
          <a:ln/>
        </p:spPr>
      </p:sp>
      <p:sp>
        <p:nvSpPr>
          <p:cNvPr id="20" name="Text 18"/>
          <p:cNvSpPr/>
          <p:nvPr/>
        </p:nvSpPr>
        <p:spPr>
          <a:xfrm>
            <a:off x="2176272" y="2624328"/>
            <a:ext cx="1920240" cy="237744"/>
          </a:xfrm>
          <a:prstGeom prst="rect">
            <a:avLst/>
          </a:prstGeom>
          <a:noFill/>
          <a:ln/>
        </p:spPr>
        <p:txBody>
          <a:bodyPr wrap="square" rtlCol="0" anchor="ctr"/>
          <a:lstStyle/>
          <a:p>
            <a:pPr marL="0" indent="0">
              <a:buNone/>
            </a:pPr>
            <a:r>
              <a:rPr lang="en-US" sz="850" dirty="0">
                <a:solidFill>
                  <a:srgbClr val="C0392B"/>
                </a:solidFill>
                <a:latin typeface="Calibri" pitchFamily="34" charset="0"/>
                <a:ea typeface="Calibri" pitchFamily="34" charset="-122"/>
                <a:cs typeface="Calibri" pitchFamily="34" charset="-120"/>
              </a:rPr>
              <a:t>Medical 🔴</a:t>
            </a:r>
            <a:endParaRPr lang="en-US" sz="850" dirty="0"/>
          </a:p>
        </p:txBody>
      </p:sp>
      <p:sp>
        <p:nvSpPr>
          <p:cNvPr id="21" name="Shape 19"/>
          <p:cNvSpPr/>
          <p:nvPr/>
        </p:nvSpPr>
        <p:spPr>
          <a:xfrm>
            <a:off x="365760" y="3017520"/>
            <a:ext cx="3840480" cy="731520"/>
          </a:xfrm>
          <a:prstGeom prst="rect">
            <a:avLst/>
          </a:prstGeom>
          <a:solidFill>
            <a:srgbClr val="F8FAFC"/>
          </a:solidFill>
          <a:ln w="6350">
            <a:solidFill>
              <a:srgbClr val="DDDDDD"/>
            </a:solidFill>
            <a:prstDash val="solid"/>
          </a:ln>
        </p:spPr>
      </p:sp>
      <p:sp>
        <p:nvSpPr>
          <p:cNvPr id="22" name="Text 20"/>
          <p:cNvSpPr/>
          <p:nvPr/>
        </p:nvSpPr>
        <p:spPr>
          <a:xfrm>
            <a:off x="411480" y="3017520"/>
            <a:ext cx="3749040" cy="731520"/>
          </a:xfrm>
          <a:prstGeom prst="rect">
            <a:avLst/>
          </a:prstGeom>
          <a:noFill/>
          <a:ln/>
        </p:spPr>
        <p:txBody>
          <a:bodyPr wrap="square" rtlCol="0" anchor="ctr"/>
          <a:lstStyle/>
          <a:p>
            <a:pPr marL="0" indent="0">
              <a:buNone/>
            </a:pPr>
            <a:r>
              <a:rPr lang="en-US" sz="850" dirty="0">
                <a:solidFill>
                  <a:srgbClr val="C0392B"/>
                </a:solidFill>
                <a:latin typeface="Consolas" pitchFamily="34" charset="0"/>
                <a:ea typeface="Consolas" pitchFamily="34" charset="-122"/>
                <a:cs typeface="Consolas" pitchFamily="34" charset="-120"/>
              </a:rPr>
              <a:t>-- Bypass risk without RLS:</a:t>
            </a:r>
            <a:endParaRPr lang="en-US" sz="850" dirty="0"/>
          </a:p>
          <a:p>
            <a:pPr marL="0" indent="0">
              <a:buNone/>
            </a:pPr>
            <a:r>
              <a:rPr lang="en-US" sz="850" dirty="0">
                <a:solidFill>
                  <a:srgbClr val="C0392B"/>
                </a:solidFill>
                <a:latin typeface="Consolas" pitchFamily="34" charset="0"/>
                <a:ea typeface="Consolas" pitchFamily="34" charset="-122"/>
                <a:cs typeface="Consolas" pitchFamily="34" charset="-120"/>
              </a:rPr>
              <a:t>SELECT * FROM WFElementDetails</a:t>
            </a:r>
            <a:endParaRPr lang="en-US" sz="850" dirty="0"/>
          </a:p>
          <a:p>
            <a:pPr marL="0" indent="0">
              <a:buNone/>
            </a:pPr>
            <a:r>
              <a:rPr lang="en-US" sz="850" dirty="0">
                <a:solidFill>
                  <a:srgbClr val="C0392B"/>
                </a:solidFill>
                <a:latin typeface="Consolas" pitchFamily="34" charset="0"/>
                <a:ea typeface="Consolas" pitchFamily="34" charset="-122"/>
                <a:cs typeface="Consolas" pitchFamily="34" charset="-120"/>
              </a:rPr>
              <a:t>WHERE WFD_WFDID = 50821; → PII exposed</a:t>
            </a:r>
            <a:endParaRPr lang="en-US" sz="850" dirty="0"/>
          </a:p>
        </p:txBody>
      </p:sp>
      <p:sp>
        <p:nvSpPr>
          <p:cNvPr id="23" name="Shape 21"/>
          <p:cNvSpPr/>
          <p:nvPr/>
        </p:nvSpPr>
        <p:spPr>
          <a:xfrm>
            <a:off x="365760" y="3822192"/>
            <a:ext cx="3840480" cy="658368"/>
          </a:xfrm>
          <a:prstGeom prst="rect">
            <a:avLst/>
          </a:prstGeom>
          <a:solidFill>
            <a:srgbClr val="EDF7ED"/>
          </a:solidFill>
          <a:ln w="10160">
            <a:solidFill>
              <a:srgbClr val="1B7A4A"/>
            </a:solidFill>
            <a:prstDash val="solid"/>
          </a:ln>
        </p:spPr>
      </p:sp>
      <p:sp>
        <p:nvSpPr>
          <p:cNvPr id="24" name="Text 22"/>
          <p:cNvSpPr/>
          <p:nvPr/>
        </p:nvSpPr>
        <p:spPr>
          <a:xfrm>
            <a:off x="457200" y="3822192"/>
            <a:ext cx="3657600" cy="658368"/>
          </a:xfrm>
          <a:prstGeom prst="rect">
            <a:avLst/>
          </a:prstGeom>
          <a:noFill/>
          <a:ln/>
        </p:spPr>
        <p:txBody>
          <a:bodyPr wrap="square" rtlCol="0" anchor="ctr"/>
          <a:lstStyle/>
          <a:p>
            <a:pPr marL="0" indent="0">
              <a:buNone/>
            </a:pPr>
            <a:r>
              <a:rPr lang="en-US" sz="900" dirty="0">
                <a:solidFill>
                  <a:srgbClr val="1B7A4A"/>
                </a:solidFill>
                <a:latin typeface="Calibri" pitchFamily="34" charset="0"/>
                <a:ea typeface="Calibri" pitchFamily="34" charset="-122"/>
                <a:cs typeface="Calibri" pitchFamily="34" charset="-120"/>
              </a:rPr>
              <a:t>✔  Chained RLS: access policy checks if parent WFD_WFDID is visible in WFElements. HR rows absent → sub-form rows absent automatically.</a:t>
            </a:r>
            <a:endParaRPr lang="en-US" sz="900" dirty="0"/>
          </a:p>
        </p:txBody>
      </p:sp>
      <p:sp>
        <p:nvSpPr>
          <p:cNvPr id="25" name="Shape 23"/>
          <p:cNvSpPr/>
          <p:nvPr/>
        </p:nvSpPr>
        <p:spPr>
          <a:xfrm>
            <a:off x="4754880" y="777240"/>
            <a:ext cx="4114800" cy="4023360"/>
          </a:xfrm>
          <a:prstGeom prst="rect">
            <a:avLst/>
          </a:prstGeom>
          <a:solidFill>
            <a:srgbClr val="FFFFFF"/>
          </a:solidFill>
          <a:ln/>
          <a:effectLst>
            <a:outerShdw blurRad="101600" dist="38100" dir="8100000" algn="bl" rotWithShape="0">
              <a:srgbClr val="000000">
                <a:alpha val="12000"/>
              </a:srgbClr>
            </a:outerShdw>
          </a:effectLst>
        </p:spPr>
      </p:sp>
      <p:sp>
        <p:nvSpPr>
          <p:cNvPr id="26" name="Shape 24"/>
          <p:cNvSpPr/>
          <p:nvPr/>
        </p:nvSpPr>
        <p:spPr>
          <a:xfrm>
            <a:off x="4754880" y="777240"/>
            <a:ext cx="4114800" cy="347472"/>
          </a:xfrm>
          <a:prstGeom prst="rect">
            <a:avLst/>
          </a:prstGeom>
          <a:solidFill>
            <a:srgbClr val="FFF3E0"/>
          </a:solidFill>
          <a:ln/>
        </p:spPr>
      </p:sp>
      <p:sp>
        <p:nvSpPr>
          <p:cNvPr id="27" name="Text 25"/>
          <p:cNvSpPr/>
          <p:nvPr/>
        </p:nvSpPr>
        <p:spPr>
          <a:xfrm>
            <a:off x="4846320" y="777240"/>
            <a:ext cx="3931920" cy="347472"/>
          </a:xfrm>
          <a:prstGeom prst="rect">
            <a:avLst/>
          </a:prstGeom>
          <a:noFill/>
          <a:ln/>
        </p:spPr>
        <p:txBody>
          <a:bodyPr wrap="square" rtlCol="0" anchor="ctr"/>
          <a:lstStyle/>
          <a:p>
            <a:pPr marL="0" indent="0">
              <a:buNone/>
            </a:pPr>
            <a:r>
              <a:rPr lang="en-US" sz="950" b="1" dirty="0">
                <a:solidFill>
                  <a:srgbClr val="E67E22"/>
                </a:solidFill>
                <a:latin typeface="Calibri" pitchFamily="34" charset="0"/>
                <a:ea typeface="Calibri" pitchFamily="34" charset="-122"/>
                <a:cs typeface="Calibri" pitchFamily="34" charset="-120"/>
              </a:rPr>
              <a:t>WFElementComments — Free Text Risk</a:t>
            </a:r>
            <a:endParaRPr lang="en-US" sz="950" dirty="0"/>
          </a:p>
        </p:txBody>
      </p:sp>
      <p:sp>
        <p:nvSpPr>
          <p:cNvPr id="28" name="Text 26"/>
          <p:cNvSpPr/>
          <p:nvPr/>
        </p:nvSpPr>
        <p:spPr>
          <a:xfrm>
            <a:off x="4846320" y="1188720"/>
            <a:ext cx="3840480" cy="41148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Manager types a comment during approval — WEBCON has no PII scanner for comment fields.</a:t>
            </a:r>
            <a:endParaRPr lang="en-US" sz="950" dirty="0"/>
          </a:p>
        </p:txBody>
      </p:sp>
      <p:sp>
        <p:nvSpPr>
          <p:cNvPr id="29" name="Shape 27"/>
          <p:cNvSpPr/>
          <p:nvPr/>
        </p:nvSpPr>
        <p:spPr>
          <a:xfrm>
            <a:off x="4846320" y="1664208"/>
            <a:ext cx="3840480" cy="1005840"/>
          </a:xfrm>
          <a:prstGeom prst="rect">
            <a:avLst/>
          </a:prstGeom>
          <a:solidFill>
            <a:srgbClr val="FFF8E1"/>
          </a:solidFill>
          <a:ln w="10160">
            <a:solidFill>
              <a:srgbClr val="E67E22"/>
            </a:solidFill>
            <a:prstDash val="solid"/>
          </a:ln>
        </p:spPr>
      </p:sp>
      <p:sp>
        <p:nvSpPr>
          <p:cNvPr id="30" name="Text 28"/>
          <p:cNvSpPr/>
          <p:nvPr/>
        </p:nvSpPr>
        <p:spPr>
          <a:xfrm>
            <a:off x="4937760" y="1664208"/>
            <a:ext cx="3657600" cy="1005840"/>
          </a:xfrm>
          <a:prstGeom prst="rect">
            <a:avLst/>
          </a:prstGeom>
          <a:noFill/>
          <a:ln/>
        </p:spPr>
        <p:txBody>
          <a:bodyPr wrap="square" rtlCol="0" anchor="ctr"/>
          <a:lstStyle/>
          <a:p>
            <a:pPr marL="0" indent="0">
              <a:buNone/>
            </a:pPr>
            <a:r>
              <a:rPr lang="en-US" sz="950" i="1" dirty="0">
                <a:solidFill>
                  <a:srgbClr val="7B4800"/>
                </a:solidFill>
                <a:latin typeface="Calibri" pitchFamily="34" charset="0"/>
                <a:ea typeface="Calibri" pitchFamily="34" charset="-122"/>
                <a:cs typeface="Calibri" pitchFamily="34" charset="-120"/>
              </a:rPr>
              <a:t>"Approved. Anna is currently undergoing treatment for hypertension. Salary continuation applies. Bank: NL29 ABNA 0473."</a:t>
            </a:r>
            <a:endParaRPr lang="en-US" sz="950" dirty="0"/>
          </a:p>
        </p:txBody>
      </p:sp>
      <p:sp>
        <p:nvSpPr>
          <p:cNvPr id="31" name="Text 29"/>
          <p:cNvSpPr/>
          <p:nvPr/>
        </p:nvSpPr>
        <p:spPr>
          <a:xfrm>
            <a:off x="4846320" y="2743200"/>
            <a:ext cx="3840480" cy="27432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 Medical condition + bank detail in plain text comment</a:t>
            </a:r>
            <a:endParaRPr lang="en-US" sz="900" dirty="0"/>
          </a:p>
        </p:txBody>
      </p:sp>
      <p:sp>
        <p:nvSpPr>
          <p:cNvPr id="32" name="Text 30"/>
          <p:cNvSpPr/>
          <p:nvPr/>
        </p:nvSpPr>
        <p:spPr>
          <a:xfrm>
            <a:off x="4846320" y="3090672"/>
            <a:ext cx="3840480" cy="256032"/>
          </a:xfrm>
          <a:prstGeom prst="rect">
            <a:avLst/>
          </a:prstGeom>
          <a:noFill/>
          <a:ln/>
        </p:spPr>
        <p:txBody>
          <a:bodyPr wrap="square"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Three controls required:</a:t>
            </a:r>
            <a:endParaRPr lang="en-US" sz="950" dirty="0"/>
          </a:p>
        </p:txBody>
      </p:sp>
      <p:sp>
        <p:nvSpPr>
          <p:cNvPr id="33" name="Text 31"/>
          <p:cNvSpPr/>
          <p:nvPr/>
        </p:nvSpPr>
        <p:spPr>
          <a:xfrm>
            <a:off x="4846320" y="3383280"/>
            <a:ext cx="384048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  L3 RLS — block entire row via WFC_WFDID chain</a:t>
            </a:r>
            <a:endParaRPr lang="en-US" sz="900" dirty="0"/>
          </a:p>
        </p:txBody>
      </p:sp>
      <p:sp>
        <p:nvSpPr>
          <p:cNvPr id="34" name="Text 32"/>
          <p:cNvSpPr/>
          <p:nvPr/>
        </p:nvSpPr>
        <p:spPr>
          <a:xfrm>
            <a:off x="4846320" y="3639312"/>
            <a:ext cx="384048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  L4 DDM — WFC_Content masked as xxxx (safety net)</a:t>
            </a:r>
            <a:endParaRPr lang="en-US" sz="900" dirty="0"/>
          </a:p>
        </p:txBody>
      </p:sp>
      <p:sp>
        <p:nvSpPr>
          <p:cNvPr id="35" name="Text 33"/>
          <p:cNvSpPr/>
          <p:nvPr/>
        </p:nvSpPr>
        <p:spPr>
          <a:xfrm>
            <a:off x="4846320" y="3895344"/>
            <a:ext cx="3840480" cy="22860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  Process control — train managers not to type raw PII</a:t>
            </a:r>
            <a:endParaRPr lang="en-US" sz="900" dirty="0"/>
          </a:p>
        </p:txBody>
      </p:sp>
      <p:sp>
        <p:nvSpPr>
          <p:cNvPr id="36" name="Shape 34"/>
          <p:cNvSpPr/>
          <p:nvPr/>
        </p:nvSpPr>
        <p:spPr>
          <a:xfrm>
            <a:off x="0" y="4828032"/>
            <a:ext cx="9144000" cy="315468"/>
          </a:xfrm>
          <a:prstGeom prst="rect">
            <a:avLst/>
          </a:prstGeom>
          <a:solidFill>
            <a:srgbClr val="009B9E"/>
          </a:solidFill>
          <a:ln/>
        </p:spPr>
      </p:sp>
      <p:sp>
        <p:nvSpPr>
          <p:cNvPr id="37" name="Text 35"/>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38" name="Shape 36"/>
          <p:cNvSpPr/>
          <p:nvPr/>
        </p:nvSpPr>
        <p:spPr>
          <a:xfrm>
            <a:off x="502920" y="4919472"/>
            <a:ext cx="18288" cy="128016"/>
          </a:xfrm>
          <a:prstGeom prst="rect">
            <a:avLst/>
          </a:prstGeom>
          <a:solidFill>
            <a:srgbClr val="FFFFFF"/>
          </a:solidFill>
          <a:ln/>
        </p:spPr>
      </p:sp>
      <p:sp>
        <p:nvSpPr>
          <p:cNvPr id="39" name="Text 37"/>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40" name="Text 38"/>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C0392B"/>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TABLE 5 &amp; 6  —  WFFiles (Attachment Metadata)  +  WFFilesContent (Binary PDF)</a:t>
            </a:r>
            <a:endParaRPr lang="en-US" sz="1050" dirty="0"/>
          </a:p>
        </p:txBody>
      </p:sp>
      <p:sp>
        <p:nvSpPr>
          <p:cNvPr id="5" name="Shape 3"/>
          <p:cNvSpPr/>
          <p:nvPr/>
        </p:nvSpPr>
        <p:spPr>
          <a:xfrm>
            <a:off x="274320" y="777240"/>
            <a:ext cx="4114800" cy="3154680"/>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777240"/>
            <a:ext cx="4114800" cy="329184"/>
          </a:xfrm>
          <a:prstGeom prst="rect">
            <a:avLst/>
          </a:prstGeom>
          <a:solidFill>
            <a:srgbClr val="FFEBEE"/>
          </a:solidFill>
          <a:ln/>
        </p:spPr>
      </p:sp>
      <p:sp>
        <p:nvSpPr>
          <p:cNvPr id="7" name="Text 5"/>
          <p:cNvSpPr/>
          <p:nvPr/>
        </p:nvSpPr>
        <p:spPr>
          <a:xfrm>
            <a:off x="365760" y="777240"/>
            <a:ext cx="3931920" cy="329184"/>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WFFiles — Metadata Table</a:t>
            </a:r>
            <a:endParaRPr lang="en-US" sz="1000" dirty="0"/>
          </a:p>
        </p:txBody>
      </p:sp>
      <p:sp>
        <p:nvSpPr>
          <p:cNvPr id="8" name="Text 6"/>
          <p:cNvSpPr/>
          <p:nvPr/>
        </p:nvSpPr>
        <p:spPr>
          <a:xfrm>
            <a:off x="365760" y="1188720"/>
            <a:ext cx="1691640" cy="246888"/>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WFF_WFDID</a:t>
            </a:r>
            <a:endParaRPr lang="en-US" sz="850" dirty="0"/>
          </a:p>
        </p:txBody>
      </p:sp>
      <p:sp>
        <p:nvSpPr>
          <p:cNvPr id="9" name="Shape 7"/>
          <p:cNvSpPr/>
          <p:nvPr/>
        </p:nvSpPr>
        <p:spPr>
          <a:xfrm>
            <a:off x="2103120" y="1207008"/>
            <a:ext cx="2148840" cy="210312"/>
          </a:xfrm>
          <a:prstGeom prst="rect">
            <a:avLst/>
          </a:prstGeom>
          <a:solidFill>
            <a:srgbClr val="F0F4FF"/>
          </a:solidFill>
          <a:ln/>
        </p:spPr>
      </p:sp>
      <p:sp>
        <p:nvSpPr>
          <p:cNvPr id="10" name="Text 8"/>
          <p:cNvSpPr/>
          <p:nvPr/>
        </p:nvSpPr>
        <p:spPr>
          <a:xfrm>
            <a:off x="2130552" y="1188720"/>
            <a:ext cx="2103120" cy="246888"/>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50821</a:t>
            </a:r>
            <a:endParaRPr lang="en-US" sz="800" dirty="0"/>
          </a:p>
        </p:txBody>
      </p:sp>
      <p:sp>
        <p:nvSpPr>
          <p:cNvPr id="11" name="Text 9"/>
          <p:cNvSpPr/>
          <p:nvPr/>
        </p:nvSpPr>
        <p:spPr>
          <a:xfrm>
            <a:off x="365760" y="1472184"/>
            <a:ext cx="1691640" cy="246888"/>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WFF_FileName</a:t>
            </a:r>
            <a:endParaRPr lang="en-US" sz="850" dirty="0"/>
          </a:p>
        </p:txBody>
      </p:sp>
      <p:sp>
        <p:nvSpPr>
          <p:cNvPr id="12" name="Shape 10"/>
          <p:cNvSpPr/>
          <p:nvPr/>
        </p:nvSpPr>
        <p:spPr>
          <a:xfrm>
            <a:off x="2103120" y="1490472"/>
            <a:ext cx="2148840" cy="210312"/>
          </a:xfrm>
          <a:prstGeom prst="rect">
            <a:avLst/>
          </a:prstGeom>
          <a:solidFill>
            <a:srgbClr val="FFEBEE"/>
          </a:solidFill>
          <a:ln/>
        </p:spPr>
      </p:sp>
      <p:sp>
        <p:nvSpPr>
          <p:cNvPr id="13" name="Text 11"/>
          <p:cNvSpPr/>
          <p:nvPr/>
        </p:nvSpPr>
        <p:spPr>
          <a:xfrm>
            <a:off x="2130552" y="1472184"/>
            <a:ext cx="2103120" cy="246888"/>
          </a:xfrm>
          <a:prstGeom prst="rect">
            <a:avLst/>
          </a:prstGeom>
          <a:noFill/>
          <a:ln/>
        </p:spPr>
        <p:txBody>
          <a:bodyPr wrap="square" rtlCol="0" anchor="ctr"/>
          <a:lstStyle/>
          <a:p>
            <a:pPr marL="0" indent="0">
              <a:buNone/>
            </a:pPr>
            <a:r>
              <a:rPr lang="en-US" sz="800" dirty="0">
                <a:solidFill>
                  <a:srgbClr val="C0392B"/>
                </a:solidFill>
                <a:latin typeface="Calibri" pitchFamily="34" charset="0"/>
                <a:ea typeface="Calibri" pitchFamily="34" charset="-122"/>
                <a:cs typeface="Calibri" pitchFamily="34" charset="-120"/>
              </a:rPr>
              <a:t>Anna_Schmidt_Medical_Cert_Apr26.pdf  🔴</a:t>
            </a:r>
            <a:endParaRPr lang="en-US" sz="800" dirty="0"/>
          </a:p>
        </p:txBody>
      </p:sp>
      <p:sp>
        <p:nvSpPr>
          <p:cNvPr id="14" name="Text 12"/>
          <p:cNvSpPr/>
          <p:nvPr/>
        </p:nvSpPr>
        <p:spPr>
          <a:xfrm>
            <a:off x="365760" y="1755648"/>
            <a:ext cx="1691640" cy="246888"/>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WFF_FileSize</a:t>
            </a:r>
            <a:endParaRPr lang="en-US" sz="850" dirty="0"/>
          </a:p>
        </p:txBody>
      </p:sp>
      <p:sp>
        <p:nvSpPr>
          <p:cNvPr id="15" name="Shape 13"/>
          <p:cNvSpPr/>
          <p:nvPr/>
        </p:nvSpPr>
        <p:spPr>
          <a:xfrm>
            <a:off x="2103120" y="1773936"/>
            <a:ext cx="2148840" cy="210312"/>
          </a:xfrm>
          <a:prstGeom prst="rect">
            <a:avLst/>
          </a:prstGeom>
          <a:solidFill>
            <a:srgbClr val="F0F4FF"/>
          </a:solidFill>
          <a:ln/>
        </p:spPr>
      </p:sp>
      <p:sp>
        <p:nvSpPr>
          <p:cNvPr id="16" name="Text 14"/>
          <p:cNvSpPr/>
          <p:nvPr/>
        </p:nvSpPr>
        <p:spPr>
          <a:xfrm>
            <a:off x="2130552" y="1755648"/>
            <a:ext cx="2103120" cy="246888"/>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284,672 bytes</a:t>
            </a:r>
            <a:endParaRPr lang="en-US" sz="800" dirty="0"/>
          </a:p>
        </p:txBody>
      </p:sp>
      <p:sp>
        <p:nvSpPr>
          <p:cNvPr id="17" name="Text 15"/>
          <p:cNvSpPr/>
          <p:nvPr/>
        </p:nvSpPr>
        <p:spPr>
          <a:xfrm>
            <a:off x="365760" y="2039112"/>
            <a:ext cx="1691640" cy="246888"/>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WFF_MimeType</a:t>
            </a:r>
            <a:endParaRPr lang="en-US" sz="850" dirty="0"/>
          </a:p>
        </p:txBody>
      </p:sp>
      <p:sp>
        <p:nvSpPr>
          <p:cNvPr id="18" name="Shape 16"/>
          <p:cNvSpPr/>
          <p:nvPr/>
        </p:nvSpPr>
        <p:spPr>
          <a:xfrm>
            <a:off x="2103120" y="2057400"/>
            <a:ext cx="2148840" cy="210312"/>
          </a:xfrm>
          <a:prstGeom prst="rect">
            <a:avLst/>
          </a:prstGeom>
          <a:solidFill>
            <a:srgbClr val="F0F4FF"/>
          </a:solidFill>
          <a:ln/>
        </p:spPr>
      </p:sp>
      <p:sp>
        <p:nvSpPr>
          <p:cNvPr id="19" name="Text 17"/>
          <p:cNvSpPr/>
          <p:nvPr/>
        </p:nvSpPr>
        <p:spPr>
          <a:xfrm>
            <a:off x="2130552" y="2039112"/>
            <a:ext cx="2103120" cy="246888"/>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application/pdf</a:t>
            </a:r>
            <a:endParaRPr lang="en-US" sz="800" dirty="0"/>
          </a:p>
        </p:txBody>
      </p:sp>
      <p:sp>
        <p:nvSpPr>
          <p:cNvPr id="20" name="Text 18"/>
          <p:cNvSpPr/>
          <p:nvPr/>
        </p:nvSpPr>
        <p:spPr>
          <a:xfrm>
            <a:off x="365760" y="2322576"/>
            <a:ext cx="1691640" cy="246888"/>
          </a:xfrm>
          <a:prstGeom prst="rect">
            <a:avLst/>
          </a:prstGeom>
          <a:noFill/>
          <a:ln/>
        </p:spPr>
        <p:txBody>
          <a:bodyPr wrap="square" rtlCol="0" anchor="ctr"/>
          <a:lstStyle/>
          <a:p>
            <a:pPr marL="0" indent="0">
              <a:buNone/>
            </a:pPr>
            <a:r>
              <a:rPr lang="en-US" sz="850" dirty="0">
                <a:solidFill>
                  <a:srgbClr val="5B6B85"/>
                </a:solidFill>
                <a:latin typeface="Consolas" pitchFamily="34" charset="0"/>
                <a:ea typeface="Consolas" pitchFamily="34" charset="-122"/>
                <a:cs typeface="Consolas" pitchFamily="34" charset="-120"/>
              </a:rPr>
              <a:t>WFF_UploadedBy</a:t>
            </a:r>
            <a:endParaRPr lang="en-US" sz="850" dirty="0"/>
          </a:p>
        </p:txBody>
      </p:sp>
      <p:sp>
        <p:nvSpPr>
          <p:cNvPr id="21" name="Shape 19"/>
          <p:cNvSpPr/>
          <p:nvPr/>
        </p:nvSpPr>
        <p:spPr>
          <a:xfrm>
            <a:off x="2103120" y="2340864"/>
            <a:ext cx="2148840" cy="210312"/>
          </a:xfrm>
          <a:prstGeom prst="rect">
            <a:avLst/>
          </a:prstGeom>
          <a:solidFill>
            <a:srgbClr val="F0F4FF"/>
          </a:solidFill>
          <a:ln/>
        </p:spPr>
      </p:sp>
      <p:sp>
        <p:nvSpPr>
          <p:cNvPr id="22" name="Text 20"/>
          <p:cNvSpPr/>
          <p:nvPr/>
        </p:nvSpPr>
        <p:spPr>
          <a:xfrm>
            <a:off x="2130552" y="2322576"/>
            <a:ext cx="2103120" cy="246888"/>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a.schmidt</a:t>
            </a:r>
            <a:endParaRPr lang="en-US" sz="800" dirty="0"/>
          </a:p>
        </p:txBody>
      </p:sp>
      <p:sp>
        <p:nvSpPr>
          <p:cNvPr id="23" name="Text 21"/>
          <p:cNvSpPr/>
          <p:nvPr/>
        </p:nvSpPr>
        <p:spPr>
          <a:xfrm>
            <a:off x="365760" y="2651760"/>
            <a:ext cx="3840480" cy="274320"/>
          </a:xfrm>
          <a:prstGeom prst="rect">
            <a:avLst/>
          </a:prstGeom>
          <a:noFill/>
          <a:ln/>
        </p:spPr>
        <p:txBody>
          <a:bodyPr wrap="square" rtlCol="0" anchor="ctr"/>
          <a:lstStyle/>
          <a:p>
            <a:pPr marL="0" indent="0">
              <a:buNone/>
            </a:pPr>
            <a:r>
              <a:rPr lang="en-US" sz="900" i="1" dirty="0">
                <a:solidFill>
                  <a:srgbClr val="C0392B"/>
                </a:solidFill>
                <a:latin typeface="Calibri" pitchFamily="34" charset="0"/>
                <a:ea typeface="Calibri" pitchFamily="34" charset="-122"/>
                <a:cs typeface="Calibri" pitchFamily="34" charset="-120"/>
              </a:rPr>
              <a:t>Even the filename exposes identity + implies a medical condition.</a:t>
            </a:r>
            <a:endParaRPr lang="en-US" sz="900" dirty="0"/>
          </a:p>
        </p:txBody>
      </p:sp>
      <p:sp>
        <p:nvSpPr>
          <p:cNvPr id="24" name="Shape 22"/>
          <p:cNvSpPr/>
          <p:nvPr/>
        </p:nvSpPr>
        <p:spPr>
          <a:xfrm>
            <a:off x="365760" y="2999232"/>
            <a:ext cx="3840480" cy="594360"/>
          </a:xfrm>
          <a:prstGeom prst="rect">
            <a:avLst/>
          </a:prstGeom>
          <a:solidFill>
            <a:srgbClr val="EDF7ED"/>
          </a:solidFill>
          <a:ln w="10160">
            <a:solidFill>
              <a:srgbClr val="1B7A4A"/>
            </a:solidFill>
            <a:prstDash val="solid"/>
          </a:ln>
        </p:spPr>
      </p:sp>
      <p:sp>
        <p:nvSpPr>
          <p:cNvPr id="25" name="Text 23"/>
          <p:cNvSpPr/>
          <p:nvPr/>
        </p:nvSpPr>
        <p:spPr>
          <a:xfrm>
            <a:off x="457200" y="2999232"/>
            <a:ext cx="3657600" cy="594360"/>
          </a:xfrm>
          <a:prstGeom prst="rect">
            <a:avLst/>
          </a:prstGeom>
          <a:noFill/>
          <a:ln/>
        </p:spPr>
        <p:txBody>
          <a:bodyPr wrap="square" rtlCol="0" anchor="ctr"/>
          <a:lstStyle/>
          <a:p>
            <a:pPr marL="0" indent="0">
              <a:buNone/>
            </a:pPr>
            <a:r>
              <a:rPr lang="en-US" sz="900" dirty="0">
                <a:solidFill>
                  <a:srgbClr val="1B7A4A"/>
                </a:solidFill>
                <a:latin typeface="Calibri" pitchFamily="34" charset="0"/>
                <a:ea typeface="Calibri" pitchFamily="34" charset="-122"/>
                <a:cs typeface="Calibri" pitchFamily="34" charset="-120"/>
              </a:rPr>
              <a:t>✔  Chained RLS via WFF_WFDID. Parent WFElements row blocked → WFFiles rows absent. Filename never reaches COMPANY NAME query result.</a:t>
            </a:r>
            <a:endParaRPr lang="en-US" sz="900" dirty="0"/>
          </a:p>
        </p:txBody>
      </p:sp>
      <p:sp>
        <p:nvSpPr>
          <p:cNvPr id="26" name="Shape 24"/>
          <p:cNvSpPr/>
          <p:nvPr/>
        </p:nvSpPr>
        <p:spPr>
          <a:xfrm>
            <a:off x="4754880" y="777240"/>
            <a:ext cx="4114800" cy="3154680"/>
          </a:xfrm>
          <a:prstGeom prst="rect">
            <a:avLst/>
          </a:prstGeom>
          <a:solidFill>
            <a:srgbClr val="FFFFFF"/>
          </a:solidFill>
          <a:ln/>
          <a:effectLst>
            <a:outerShdw blurRad="101600" dist="38100" dir="8100000" algn="bl" rotWithShape="0">
              <a:srgbClr val="000000">
                <a:alpha val="12000"/>
              </a:srgbClr>
            </a:outerShdw>
          </a:effectLst>
        </p:spPr>
      </p:sp>
      <p:sp>
        <p:nvSpPr>
          <p:cNvPr id="27" name="Shape 25"/>
          <p:cNvSpPr/>
          <p:nvPr/>
        </p:nvSpPr>
        <p:spPr>
          <a:xfrm>
            <a:off x="4754880" y="777240"/>
            <a:ext cx="4114800" cy="329184"/>
          </a:xfrm>
          <a:prstGeom prst="rect">
            <a:avLst/>
          </a:prstGeom>
          <a:solidFill>
            <a:srgbClr val="B71C1C"/>
          </a:solidFill>
          <a:ln/>
        </p:spPr>
      </p:sp>
      <p:sp>
        <p:nvSpPr>
          <p:cNvPr id="28" name="Text 26"/>
          <p:cNvSpPr/>
          <p:nvPr/>
        </p:nvSpPr>
        <p:spPr>
          <a:xfrm>
            <a:off x="4846320" y="777240"/>
            <a:ext cx="3931920" cy="32918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WFFilesContent — Binary PDF  ⚠  Cannot be masked</a:t>
            </a:r>
            <a:endParaRPr lang="en-US" sz="950" dirty="0"/>
          </a:p>
        </p:txBody>
      </p:sp>
      <p:sp>
        <p:nvSpPr>
          <p:cNvPr id="29" name="Shape 27"/>
          <p:cNvSpPr/>
          <p:nvPr/>
        </p:nvSpPr>
        <p:spPr>
          <a:xfrm>
            <a:off x="4846320" y="1179576"/>
            <a:ext cx="3840480" cy="640080"/>
          </a:xfrm>
          <a:prstGeom prst="rect">
            <a:avLst/>
          </a:prstGeom>
          <a:solidFill>
            <a:srgbClr val="FBF0F0"/>
          </a:solidFill>
          <a:ln w="10160">
            <a:solidFill>
              <a:srgbClr val="C0392B"/>
            </a:solidFill>
            <a:prstDash val="solid"/>
          </a:ln>
        </p:spPr>
      </p:sp>
      <p:sp>
        <p:nvSpPr>
          <p:cNvPr id="30" name="Text 28"/>
          <p:cNvSpPr/>
          <p:nvPr/>
        </p:nvSpPr>
        <p:spPr>
          <a:xfrm>
            <a:off x="4919472" y="1179576"/>
            <a:ext cx="3657600" cy="640080"/>
          </a:xfrm>
          <a:prstGeom prst="rect">
            <a:avLst/>
          </a:prstGeom>
          <a:noFill/>
          <a:ln/>
        </p:spPr>
        <p:txBody>
          <a:bodyPr wrap="square" rtlCol="0" anchor="ctr"/>
          <a:lstStyle/>
          <a:p>
            <a:pPr marL="0" indent="0">
              <a:buNone/>
            </a:pPr>
            <a:r>
              <a:rPr lang="en-US" sz="850" dirty="0">
                <a:solidFill>
                  <a:srgbClr val="C0392B"/>
                </a:solidFill>
                <a:latin typeface="Consolas" pitchFamily="34" charset="0"/>
                <a:ea typeface="Consolas" pitchFamily="34" charset="-122"/>
                <a:cs typeface="Consolas" pitchFamily="34" charset="-120"/>
              </a:rPr>
              <a:t>WFFC_Content = 0x255044462D312E34...</a:t>
            </a:r>
            <a:endParaRPr lang="en-US" sz="850" dirty="0"/>
          </a:p>
          <a:p>
            <a:pPr marL="0" indent="0">
              <a:buNone/>
            </a:pPr>
            <a:r>
              <a:rPr lang="en-US" sz="850" dirty="0">
                <a:solidFill>
                  <a:srgbClr val="C0392B"/>
                </a:solidFill>
                <a:latin typeface="Consolas" pitchFamily="34" charset="0"/>
                <a:ea typeface="Consolas" pitchFamily="34" charset="-122"/>
                <a:cs typeface="Consolas" pitchFamily="34" charset="-120"/>
              </a:rPr>
              <a:t>(Full scanned medical certificate — binary PDF)</a:t>
            </a:r>
            <a:endParaRPr lang="en-US" sz="850" dirty="0"/>
          </a:p>
        </p:txBody>
      </p:sp>
      <p:sp>
        <p:nvSpPr>
          <p:cNvPr id="31" name="Text 29"/>
          <p:cNvSpPr/>
          <p:nvPr/>
        </p:nvSpPr>
        <p:spPr>
          <a:xfrm>
            <a:off x="4846320" y="1920240"/>
            <a:ext cx="3840480" cy="54864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SQL Server DDM cannot meaningfully mask binary data. There is no 'partial()' function for a PDF. The only viable control is complete permission revocation.</a:t>
            </a:r>
            <a:endParaRPr lang="en-US" sz="950" dirty="0"/>
          </a:p>
        </p:txBody>
      </p:sp>
      <p:sp>
        <p:nvSpPr>
          <p:cNvPr id="32" name="Shape 30"/>
          <p:cNvSpPr/>
          <p:nvPr/>
        </p:nvSpPr>
        <p:spPr>
          <a:xfrm>
            <a:off x="4846320" y="2542032"/>
            <a:ext cx="3840480" cy="640080"/>
          </a:xfrm>
          <a:prstGeom prst="rect">
            <a:avLst/>
          </a:prstGeom>
          <a:solidFill>
            <a:srgbClr val="F8FAFC"/>
          </a:solidFill>
          <a:ln w="6350">
            <a:solidFill>
              <a:srgbClr val="DDDDDD"/>
            </a:solidFill>
            <a:prstDash val="solid"/>
          </a:ln>
        </p:spPr>
      </p:sp>
      <p:sp>
        <p:nvSpPr>
          <p:cNvPr id="33" name="Text 31"/>
          <p:cNvSpPr/>
          <p:nvPr/>
        </p:nvSpPr>
        <p:spPr>
          <a:xfrm>
            <a:off x="4919472" y="2542032"/>
            <a:ext cx="3657600" cy="640080"/>
          </a:xfrm>
          <a:prstGeom prst="rect">
            <a:avLst/>
          </a:prstGeom>
          <a:noFill/>
          <a:ln/>
        </p:spPr>
        <p:txBody>
          <a:bodyPr wrap="square" rtlCol="0" anchor="ctr"/>
          <a:lstStyle/>
          <a:p>
            <a:pPr marL="0" indent="0">
              <a:buNone/>
            </a:pPr>
            <a:r>
              <a:rPr lang="en-US" sz="850" dirty="0">
                <a:solidFill>
                  <a:srgbClr val="1A3A5C"/>
                </a:solidFill>
                <a:latin typeface="Consolas" pitchFamily="34" charset="0"/>
                <a:ea typeface="Consolas" pitchFamily="34" charset="-122"/>
                <a:cs typeface="Consolas" pitchFamily="34" charset="-120"/>
              </a:rPr>
              <a:t>REVOKE SELECT ON</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  dbo.WFFilesContent</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FROM [GRP_WEBCON_NonEEA_Users];</a:t>
            </a:r>
            <a:endParaRPr lang="en-US" sz="850" dirty="0"/>
          </a:p>
          <a:p>
            <a:pPr marL="0" indent="0">
              <a:buNone/>
            </a:pPr>
            <a:r>
              <a:rPr lang="en-US" sz="850" dirty="0">
                <a:solidFill>
                  <a:srgbClr val="1A3A5C"/>
                </a:solidFill>
                <a:latin typeface="Consolas" pitchFamily="34" charset="0"/>
                <a:ea typeface="Consolas" pitchFamily="34" charset="-122"/>
                <a:cs typeface="Consolas" pitchFamily="34" charset="-120"/>
              </a:rPr>
              <a:t>FROM webcon_svc_nonea;</a:t>
            </a:r>
            <a:endParaRPr lang="en-US" sz="850" dirty="0"/>
          </a:p>
        </p:txBody>
      </p:sp>
      <p:sp>
        <p:nvSpPr>
          <p:cNvPr id="34" name="Shape 32"/>
          <p:cNvSpPr/>
          <p:nvPr/>
        </p:nvSpPr>
        <p:spPr>
          <a:xfrm>
            <a:off x="4846320" y="3246120"/>
            <a:ext cx="3840480" cy="438912"/>
          </a:xfrm>
          <a:prstGeom prst="rect">
            <a:avLst/>
          </a:prstGeom>
          <a:solidFill>
            <a:srgbClr val="EDF7ED"/>
          </a:solidFill>
          <a:ln w="10160">
            <a:solidFill>
              <a:srgbClr val="1B7A4A"/>
            </a:solidFill>
            <a:prstDash val="solid"/>
          </a:ln>
        </p:spPr>
      </p:sp>
      <p:sp>
        <p:nvSpPr>
          <p:cNvPr id="35" name="Text 33"/>
          <p:cNvSpPr/>
          <p:nvPr/>
        </p:nvSpPr>
        <p:spPr>
          <a:xfrm>
            <a:off x="4937760" y="3246120"/>
            <a:ext cx="3657600" cy="438912"/>
          </a:xfrm>
          <a:prstGeom prst="rect">
            <a:avLst/>
          </a:prstGeom>
          <a:noFill/>
          <a:ln/>
        </p:spPr>
        <p:txBody>
          <a:bodyPr wrap="square" rtlCol="0" anchor="ctr"/>
          <a:lstStyle/>
          <a:p>
            <a:pPr marL="0" indent="0">
              <a:buNone/>
            </a:pPr>
            <a:r>
              <a:rPr lang="en-US" sz="900" dirty="0">
                <a:solidFill>
                  <a:srgbClr val="1B7A4A"/>
                </a:solidFill>
                <a:latin typeface="Calibri" pitchFamily="34" charset="0"/>
                <a:ea typeface="Calibri" pitchFamily="34" charset="-122"/>
                <a:cs typeface="Calibri" pitchFamily="34" charset="-120"/>
              </a:rPr>
              <a:t>✔  Hard permission error — not a masked result. SELECT denied at SQL Server engine level.</a:t>
            </a:r>
            <a:endParaRPr lang="en-US" sz="900" dirty="0"/>
          </a:p>
        </p:txBody>
      </p:sp>
      <p:sp>
        <p:nvSpPr>
          <p:cNvPr id="36" name="Shape 34"/>
          <p:cNvSpPr/>
          <p:nvPr/>
        </p:nvSpPr>
        <p:spPr>
          <a:xfrm>
            <a:off x="274320" y="4023360"/>
            <a:ext cx="8595360" cy="749808"/>
          </a:xfrm>
          <a:prstGeom prst="rect">
            <a:avLst/>
          </a:prstGeom>
          <a:solidFill>
            <a:srgbClr val="1A1A2E"/>
          </a:solidFill>
          <a:ln/>
        </p:spPr>
      </p:sp>
      <p:sp>
        <p:nvSpPr>
          <p:cNvPr id="37" name="Text 35"/>
          <p:cNvSpPr/>
          <p:nvPr/>
        </p:nvSpPr>
        <p:spPr>
          <a:xfrm>
            <a:off x="411480" y="4023360"/>
            <a:ext cx="8412480" cy="749808"/>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WFFiles: Chained RLS (metadata)     WFFilesContent: Full REVOKE — no DDM possible on binary     L5: svc_nonea has zero SELECT on WFFilesContent</a:t>
            </a:r>
            <a:endParaRPr lang="en-US" sz="1000" dirty="0"/>
          </a:p>
        </p:txBody>
      </p:sp>
      <p:sp>
        <p:nvSpPr>
          <p:cNvPr id="38" name="Shape 36"/>
          <p:cNvSpPr/>
          <p:nvPr/>
        </p:nvSpPr>
        <p:spPr>
          <a:xfrm>
            <a:off x="0" y="4828032"/>
            <a:ext cx="9144000" cy="315468"/>
          </a:xfrm>
          <a:prstGeom prst="rect">
            <a:avLst/>
          </a:prstGeom>
          <a:solidFill>
            <a:srgbClr val="009B9E"/>
          </a:solidFill>
          <a:ln/>
        </p:spPr>
      </p:sp>
      <p:sp>
        <p:nvSpPr>
          <p:cNvPr id="39" name="Text 37"/>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40" name="Shape 38"/>
          <p:cNvSpPr/>
          <p:nvPr/>
        </p:nvSpPr>
        <p:spPr>
          <a:xfrm>
            <a:off x="502920" y="4919472"/>
            <a:ext cx="18288" cy="128016"/>
          </a:xfrm>
          <a:prstGeom prst="rect">
            <a:avLst/>
          </a:prstGeom>
          <a:solidFill>
            <a:srgbClr val="FFFFFF"/>
          </a:solidFill>
          <a:ln/>
        </p:spPr>
      </p:sp>
      <p:sp>
        <p:nvSpPr>
          <p:cNvPr id="41" name="Text 39"/>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42" name="Text 40"/>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009B9E"/>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TABLE 7  —  WFUsers  (AD Identity Sync)</a:t>
            </a:r>
            <a:endParaRPr lang="en-US" sz="1100" dirty="0"/>
          </a:p>
        </p:txBody>
      </p:sp>
      <p:sp>
        <p:nvSpPr>
          <p:cNvPr id="5" name="Text 3"/>
          <p:cNvSpPr/>
          <p:nvPr/>
        </p:nvSpPr>
        <p:spPr>
          <a:xfrm>
            <a:off x="320040" y="804672"/>
            <a:ext cx="8503920" cy="41148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Anna exists in WFUsers independently of her leave request — synced from Active Directory for all picker fields and assignment dropdowns.</a:t>
            </a:r>
            <a:endParaRPr lang="en-US" sz="1100" dirty="0"/>
          </a:p>
        </p:txBody>
      </p:sp>
      <p:sp>
        <p:nvSpPr>
          <p:cNvPr id="6" name="Shape 4"/>
          <p:cNvSpPr/>
          <p:nvPr/>
        </p:nvSpPr>
        <p:spPr>
          <a:xfrm>
            <a:off x="274320" y="1325880"/>
            <a:ext cx="2834640" cy="338328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274320" y="1325880"/>
            <a:ext cx="2834640" cy="329184"/>
          </a:xfrm>
          <a:prstGeom prst="rect">
            <a:avLst/>
          </a:prstGeom>
          <a:solidFill>
            <a:srgbClr val="FFEBEE"/>
          </a:solidFill>
          <a:ln/>
        </p:spPr>
      </p:sp>
      <p:sp>
        <p:nvSpPr>
          <p:cNvPr id="8" name="Text 6"/>
          <p:cNvSpPr/>
          <p:nvPr/>
        </p:nvSpPr>
        <p:spPr>
          <a:xfrm>
            <a:off x="365760" y="1325880"/>
            <a:ext cx="2651760" cy="329184"/>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What is stored</a:t>
            </a:r>
            <a:endParaRPr lang="en-US" sz="900" dirty="0"/>
          </a:p>
        </p:txBody>
      </p:sp>
      <p:sp>
        <p:nvSpPr>
          <p:cNvPr id="9" name="Text 7"/>
          <p:cNvSpPr/>
          <p:nvPr/>
        </p:nvSpPr>
        <p:spPr>
          <a:xfrm>
            <a:off x="365760" y="1737360"/>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WFU_Login</a:t>
            </a:r>
            <a:endParaRPr lang="en-US" sz="800" dirty="0"/>
          </a:p>
        </p:txBody>
      </p:sp>
      <p:sp>
        <p:nvSpPr>
          <p:cNvPr id="10" name="Text 8"/>
          <p:cNvSpPr/>
          <p:nvPr/>
        </p:nvSpPr>
        <p:spPr>
          <a:xfrm>
            <a:off x="1389888" y="1737360"/>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a.schmidt</a:t>
            </a:r>
            <a:endParaRPr lang="en-US" sz="850" dirty="0"/>
          </a:p>
        </p:txBody>
      </p:sp>
      <p:sp>
        <p:nvSpPr>
          <p:cNvPr id="11" name="Text 9"/>
          <p:cNvSpPr/>
          <p:nvPr/>
        </p:nvSpPr>
        <p:spPr>
          <a:xfrm>
            <a:off x="365760" y="2139696"/>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WFU_FullName</a:t>
            </a:r>
            <a:endParaRPr lang="en-US" sz="800" dirty="0"/>
          </a:p>
        </p:txBody>
      </p:sp>
      <p:sp>
        <p:nvSpPr>
          <p:cNvPr id="12" name="Text 10"/>
          <p:cNvSpPr/>
          <p:nvPr/>
        </p:nvSpPr>
        <p:spPr>
          <a:xfrm>
            <a:off x="1389888" y="2139696"/>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Anna Schmidt 🔴</a:t>
            </a:r>
            <a:endParaRPr lang="en-US" sz="850" dirty="0"/>
          </a:p>
        </p:txBody>
      </p:sp>
      <p:sp>
        <p:nvSpPr>
          <p:cNvPr id="13" name="Text 11"/>
          <p:cNvSpPr/>
          <p:nvPr/>
        </p:nvSpPr>
        <p:spPr>
          <a:xfrm>
            <a:off x="365760" y="2542032"/>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WFU_Email</a:t>
            </a:r>
            <a:endParaRPr lang="en-US" sz="800" dirty="0"/>
          </a:p>
        </p:txBody>
      </p:sp>
      <p:sp>
        <p:nvSpPr>
          <p:cNvPr id="14" name="Text 12"/>
          <p:cNvSpPr/>
          <p:nvPr/>
        </p:nvSpPr>
        <p:spPr>
          <a:xfrm>
            <a:off x="1389888" y="2542032"/>
            <a:ext cx="1627632" cy="347472"/>
          </a:xfrm>
          <a:prstGeom prst="rect">
            <a:avLst/>
          </a:prstGeom>
          <a:noFill/>
          <a:ln/>
        </p:spPr>
        <p:txBody>
          <a:bodyPr wrap="square" rtlCol="0" anchor="ctr"/>
          <a:lstStyle/>
          <a:p>
            <a:pPr marL="0" indent="0">
              <a:buNone/>
            </a:pPr>
            <a:r>
              <a:rPr lang="en-US" sz="850" dirty="0" err="1">
                <a:solidFill>
                  <a:srgbClr val="1A1A2E"/>
                </a:solidFill>
                <a:latin typeface="Calibri" pitchFamily="34" charset="0"/>
                <a:ea typeface="Calibri" pitchFamily="34" charset="-122"/>
                <a:cs typeface="Calibri" pitchFamily="34" charset="-120"/>
              </a:rPr>
              <a:t>a.schmidt@COMPANY</a:t>
            </a:r>
            <a:r>
              <a:rPr lang="en-US" sz="850" dirty="0">
                <a:solidFill>
                  <a:srgbClr val="1A1A2E"/>
                </a:solidFill>
                <a:latin typeface="Calibri" pitchFamily="34" charset="0"/>
                <a:ea typeface="Calibri" pitchFamily="34" charset="-122"/>
                <a:cs typeface="Calibri" pitchFamily="34" charset="-120"/>
              </a:rPr>
              <a:t> NAME.com 🔴</a:t>
            </a:r>
            <a:endParaRPr lang="en-US" sz="850" dirty="0"/>
          </a:p>
        </p:txBody>
      </p:sp>
      <p:sp>
        <p:nvSpPr>
          <p:cNvPr id="15" name="Text 13"/>
          <p:cNvSpPr/>
          <p:nvPr/>
        </p:nvSpPr>
        <p:spPr>
          <a:xfrm>
            <a:off x="365760" y="2944368"/>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WFU_Department</a:t>
            </a:r>
            <a:endParaRPr lang="en-US" sz="800" dirty="0"/>
          </a:p>
        </p:txBody>
      </p:sp>
      <p:sp>
        <p:nvSpPr>
          <p:cNvPr id="16" name="Text 14"/>
          <p:cNvSpPr/>
          <p:nvPr/>
        </p:nvSpPr>
        <p:spPr>
          <a:xfrm>
            <a:off x="1389888" y="2944368"/>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HR - Amsterdam</a:t>
            </a:r>
            <a:endParaRPr lang="en-US" sz="850" dirty="0"/>
          </a:p>
        </p:txBody>
      </p:sp>
      <p:sp>
        <p:nvSpPr>
          <p:cNvPr id="17" name="Text 15"/>
          <p:cNvSpPr/>
          <p:nvPr/>
        </p:nvSpPr>
        <p:spPr>
          <a:xfrm>
            <a:off x="365760" y="3346704"/>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WFU_ADGroups</a:t>
            </a:r>
            <a:endParaRPr lang="en-US" sz="800" dirty="0"/>
          </a:p>
        </p:txBody>
      </p:sp>
      <p:sp>
        <p:nvSpPr>
          <p:cNvPr id="18" name="Text 16"/>
          <p:cNvSpPr/>
          <p:nvPr/>
        </p:nvSpPr>
        <p:spPr>
          <a:xfrm>
            <a:off x="1389888" y="3346704"/>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GRP_WEBCON_EEA_Users</a:t>
            </a:r>
            <a:endParaRPr lang="en-US" sz="850" dirty="0"/>
          </a:p>
        </p:txBody>
      </p:sp>
      <p:sp>
        <p:nvSpPr>
          <p:cNvPr id="19" name="Shape 17"/>
          <p:cNvSpPr/>
          <p:nvPr/>
        </p:nvSpPr>
        <p:spPr>
          <a:xfrm>
            <a:off x="3246120" y="1325880"/>
            <a:ext cx="2834640" cy="3383280"/>
          </a:xfrm>
          <a:prstGeom prst="rect">
            <a:avLst/>
          </a:prstGeom>
          <a:solidFill>
            <a:srgbClr val="FFFFFF"/>
          </a:solidFill>
          <a:ln/>
          <a:effectLst>
            <a:outerShdw blurRad="101600" dist="38100" dir="8100000" algn="bl" rotWithShape="0">
              <a:srgbClr val="000000">
                <a:alpha val="12000"/>
              </a:srgbClr>
            </a:outerShdw>
          </a:effectLst>
        </p:spPr>
      </p:sp>
      <p:sp>
        <p:nvSpPr>
          <p:cNvPr id="20" name="Shape 18"/>
          <p:cNvSpPr/>
          <p:nvPr/>
        </p:nvSpPr>
        <p:spPr>
          <a:xfrm>
            <a:off x="3246120" y="1325880"/>
            <a:ext cx="2834640" cy="329184"/>
          </a:xfrm>
          <a:prstGeom prst="rect">
            <a:avLst/>
          </a:prstGeom>
          <a:solidFill>
            <a:srgbClr val="EDE7F6"/>
          </a:solidFill>
          <a:ln/>
        </p:spPr>
      </p:sp>
      <p:sp>
        <p:nvSpPr>
          <p:cNvPr id="21" name="Text 19"/>
          <p:cNvSpPr/>
          <p:nvPr/>
        </p:nvSpPr>
        <p:spPr>
          <a:xfrm>
            <a:off x="3337560" y="1325880"/>
            <a:ext cx="2651760" cy="329184"/>
          </a:xfrm>
          <a:prstGeom prst="rect">
            <a:avLst/>
          </a:prstGeom>
          <a:noFill/>
          <a:ln/>
        </p:spPr>
        <p:txBody>
          <a:bodyPr wrap="square" rtlCol="0" anchor="ctr"/>
          <a:lstStyle/>
          <a:p>
            <a:pPr marL="0" indent="0">
              <a:buNone/>
            </a:pPr>
            <a:r>
              <a:rPr lang="en-US" sz="900" b="1" dirty="0">
                <a:solidFill>
                  <a:srgbClr val="4A235A"/>
                </a:solidFill>
                <a:latin typeface="Calibri" pitchFamily="34" charset="0"/>
                <a:ea typeface="Calibri" pitchFamily="34" charset="-122"/>
                <a:cs typeface="Calibri" pitchFamily="34" charset="-120"/>
              </a:rPr>
              <a:t>Why COMPANY NAME needs WFUsers</a:t>
            </a:r>
            <a:endParaRPr lang="en-US" sz="900" dirty="0"/>
          </a:p>
        </p:txBody>
      </p:sp>
      <p:sp>
        <p:nvSpPr>
          <p:cNvPr id="22" name="Text 20"/>
          <p:cNvSpPr/>
          <p:nvPr/>
        </p:nvSpPr>
        <p:spPr>
          <a:xfrm>
            <a:off x="3337560" y="1737360"/>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Ticket assignment</a:t>
            </a:r>
            <a:endParaRPr lang="en-US" sz="800" dirty="0"/>
          </a:p>
        </p:txBody>
      </p:sp>
      <p:sp>
        <p:nvSpPr>
          <p:cNvPr id="23" name="Text 21"/>
          <p:cNvSpPr/>
          <p:nvPr/>
        </p:nvSpPr>
        <p:spPr>
          <a:xfrm>
            <a:off x="4361688" y="1737360"/>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Assign IT helpdesk tickets</a:t>
            </a:r>
            <a:endParaRPr lang="en-US" sz="850" dirty="0"/>
          </a:p>
        </p:txBody>
      </p:sp>
      <p:sp>
        <p:nvSpPr>
          <p:cNvPr id="24" name="Text 22"/>
          <p:cNvSpPr/>
          <p:nvPr/>
        </p:nvSpPr>
        <p:spPr>
          <a:xfrm>
            <a:off x="3337560" y="2139696"/>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Dropdown pickers</a:t>
            </a:r>
            <a:endParaRPr lang="en-US" sz="800" dirty="0"/>
          </a:p>
        </p:txBody>
      </p:sp>
      <p:sp>
        <p:nvSpPr>
          <p:cNvPr id="25" name="Text 23"/>
          <p:cNvSpPr/>
          <p:nvPr/>
        </p:nvSpPr>
        <p:spPr>
          <a:xfrm>
            <a:off x="4361688" y="2139696"/>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Populate approval user list</a:t>
            </a:r>
            <a:endParaRPr lang="en-US" sz="850" dirty="0"/>
          </a:p>
        </p:txBody>
      </p:sp>
      <p:sp>
        <p:nvSpPr>
          <p:cNvPr id="26" name="Text 24"/>
          <p:cNvSpPr/>
          <p:nvPr/>
        </p:nvSpPr>
        <p:spPr>
          <a:xfrm>
            <a:off x="3337560" y="2542032"/>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Email routing</a:t>
            </a:r>
            <a:endParaRPr lang="en-US" sz="800" dirty="0"/>
          </a:p>
        </p:txBody>
      </p:sp>
      <p:sp>
        <p:nvSpPr>
          <p:cNvPr id="27" name="Text 25"/>
          <p:cNvSpPr/>
          <p:nvPr/>
        </p:nvSpPr>
        <p:spPr>
          <a:xfrm>
            <a:off x="4361688" y="2542032"/>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Send notifications to agent</a:t>
            </a:r>
            <a:endParaRPr lang="en-US" sz="850" dirty="0"/>
          </a:p>
        </p:txBody>
      </p:sp>
      <p:sp>
        <p:nvSpPr>
          <p:cNvPr id="28" name="Text 26"/>
          <p:cNvSpPr/>
          <p:nvPr/>
        </p:nvSpPr>
        <p:spPr>
          <a:xfrm>
            <a:off x="3337560" y="2944368"/>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Workflow rules</a:t>
            </a:r>
            <a:endParaRPr lang="en-US" sz="800" dirty="0"/>
          </a:p>
        </p:txBody>
      </p:sp>
      <p:sp>
        <p:nvSpPr>
          <p:cNvPr id="29" name="Text 27"/>
          <p:cNvSpPr/>
          <p:nvPr/>
        </p:nvSpPr>
        <p:spPr>
          <a:xfrm>
            <a:off x="4361688" y="2944368"/>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Check AD group membership</a:t>
            </a:r>
            <a:endParaRPr lang="en-US" sz="850" dirty="0"/>
          </a:p>
        </p:txBody>
      </p:sp>
      <p:sp>
        <p:nvSpPr>
          <p:cNvPr id="30" name="Shape 28"/>
          <p:cNvSpPr/>
          <p:nvPr/>
        </p:nvSpPr>
        <p:spPr>
          <a:xfrm>
            <a:off x="6217920" y="1325880"/>
            <a:ext cx="2834640" cy="3383280"/>
          </a:xfrm>
          <a:prstGeom prst="rect">
            <a:avLst/>
          </a:prstGeom>
          <a:solidFill>
            <a:srgbClr val="FFFFFF"/>
          </a:solidFill>
          <a:ln/>
          <a:effectLst>
            <a:outerShdw blurRad="101600" dist="38100" dir="8100000" algn="bl" rotWithShape="0">
              <a:srgbClr val="000000">
                <a:alpha val="12000"/>
              </a:srgbClr>
            </a:outerShdw>
          </a:effectLst>
        </p:spPr>
      </p:sp>
      <p:sp>
        <p:nvSpPr>
          <p:cNvPr id="31" name="Shape 29"/>
          <p:cNvSpPr/>
          <p:nvPr/>
        </p:nvSpPr>
        <p:spPr>
          <a:xfrm>
            <a:off x="6217920" y="1325880"/>
            <a:ext cx="2834640" cy="329184"/>
          </a:xfrm>
          <a:prstGeom prst="rect">
            <a:avLst/>
          </a:prstGeom>
          <a:solidFill>
            <a:srgbClr val="E8F5E9"/>
          </a:solidFill>
          <a:ln/>
        </p:spPr>
      </p:sp>
      <p:sp>
        <p:nvSpPr>
          <p:cNvPr id="32" name="Text 30"/>
          <p:cNvSpPr/>
          <p:nvPr/>
        </p:nvSpPr>
        <p:spPr>
          <a:xfrm>
            <a:off x="6309360" y="1325880"/>
            <a:ext cx="2651760" cy="329184"/>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What COMPANY NAME sees (DDM)</a:t>
            </a:r>
            <a:endParaRPr lang="en-US" sz="900" dirty="0"/>
          </a:p>
        </p:txBody>
      </p:sp>
      <p:sp>
        <p:nvSpPr>
          <p:cNvPr id="33" name="Text 31"/>
          <p:cNvSpPr/>
          <p:nvPr/>
        </p:nvSpPr>
        <p:spPr>
          <a:xfrm>
            <a:off x="6309360" y="1737360"/>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WFU_Login</a:t>
            </a:r>
            <a:endParaRPr lang="en-US" sz="800" dirty="0"/>
          </a:p>
        </p:txBody>
      </p:sp>
      <p:sp>
        <p:nvSpPr>
          <p:cNvPr id="34" name="Text 32"/>
          <p:cNvSpPr/>
          <p:nvPr/>
        </p:nvSpPr>
        <p:spPr>
          <a:xfrm>
            <a:off x="7333488" y="1737360"/>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a.schmidt  ✔ (clear)</a:t>
            </a:r>
            <a:endParaRPr lang="en-US" sz="850" dirty="0"/>
          </a:p>
        </p:txBody>
      </p:sp>
      <p:sp>
        <p:nvSpPr>
          <p:cNvPr id="35" name="Text 33"/>
          <p:cNvSpPr/>
          <p:nvPr/>
        </p:nvSpPr>
        <p:spPr>
          <a:xfrm>
            <a:off x="6309360" y="2139696"/>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WFU_FullName</a:t>
            </a:r>
            <a:endParaRPr lang="en-US" sz="800" dirty="0"/>
          </a:p>
        </p:txBody>
      </p:sp>
      <p:sp>
        <p:nvSpPr>
          <p:cNvPr id="36" name="Text 34"/>
          <p:cNvSpPr/>
          <p:nvPr/>
        </p:nvSpPr>
        <p:spPr>
          <a:xfrm>
            <a:off x="7333488" y="2139696"/>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        (partial mask)</a:t>
            </a:r>
            <a:endParaRPr lang="en-US" sz="850" dirty="0"/>
          </a:p>
        </p:txBody>
      </p:sp>
      <p:sp>
        <p:nvSpPr>
          <p:cNvPr id="37" name="Text 35"/>
          <p:cNvSpPr/>
          <p:nvPr/>
        </p:nvSpPr>
        <p:spPr>
          <a:xfrm>
            <a:off x="6309360" y="2542032"/>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WFU_Email</a:t>
            </a:r>
            <a:endParaRPr lang="en-US" sz="800" dirty="0"/>
          </a:p>
        </p:txBody>
      </p:sp>
      <p:sp>
        <p:nvSpPr>
          <p:cNvPr id="38" name="Text 36"/>
          <p:cNvSpPr/>
          <p:nvPr/>
        </p:nvSpPr>
        <p:spPr>
          <a:xfrm>
            <a:off x="7333488" y="2542032"/>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a***@XXXXX.com (email mask)</a:t>
            </a:r>
            <a:endParaRPr lang="en-US" sz="850" dirty="0"/>
          </a:p>
        </p:txBody>
      </p:sp>
      <p:sp>
        <p:nvSpPr>
          <p:cNvPr id="39" name="Text 37"/>
          <p:cNvSpPr/>
          <p:nvPr/>
        </p:nvSpPr>
        <p:spPr>
          <a:xfrm>
            <a:off x="6309360" y="2944368"/>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WFU_Department</a:t>
            </a:r>
            <a:endParaRPr lang="en-US" sz="800" dirty="0"/>
          </a:p>
        </p:txBody>
      </p:sp>
      <p:sp>
        <p:nvSpPr>
          <p:cNvPr id="40" name="Text 38"/>
          <p:cNvSpPr/>
          <p:nvPr/>
        </p:nvSpPr>
        <p:spPr>
          <a:xfrm>
            <a:off x="7333488" y="2944368"/>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HR - Amsterdam  ✔ (not PII)</a:t>
            </a:r>
            <a:endParaRPr lang="en-US" sz="850" dirty="0"/>
          </a:p>
        </p:txBody>
      </p:sp>
      <p:sp>
        <p:nvSpPr>
          <p:cNvPr id="41" name="Text 39"/>
          <p:cNvSpPr/>
          <p:nvPr/>
        </p:nvSpPr>
        <p:spPr>
          <a:xfrm>
            <a:off x="6309360" y="3346704"/>
            <a:ext cx="1005840" cy="347472"/>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WFU_ADGroups</a:t>
            </a:r>
            <a:endParaRPr lang="en-US" sz="800" dirty="0"/>
          </a:p>
        </p:txBody>
      </p:sp>
      <p:sp>
        <p:nvSpPr>
          <p:cNvPr id="42" name="Text 40"/>
          <p:cNvSpPr/>
          <p:nvPr/>
        </p:nvSpPr>
        <p:spPr>
          <a:xfrm>
            <a:off x="7333488" y="3346704"/>
            <a:ext cx="1627632" cy="34747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GRP_WEBCON_EEA_Users  ✔</a:t>
            </a:r>
            <a:endParaRPr lang="en-US" sz="850" dirty="0"/>
          </a:p>
        </p:txBody>
      </p:sp>
      <p:sp>
        <p:nvSpPr>
          <p:cNvPr id="43" name="Shape 41"/>
          <p:cNvSpPr/>
          <p:nvPr/>
        </p:nvSpPr>
        <p:spPr>
          <a:xfrm>
            <a:off x="274320" y="4773168"/>
            <a:ext cx="8595360" cy="0"/>
          </a:xfrm>
          <a:prstGeom prst="rect">
            <a:avLst/>
          </a:prstGeom>
          <a:noFill/>
          <a:ln/>
        </p:spPr>
      </p:sp>
      <p:sp>
        <p:nvSpPr>
          <p:cNvPr id="44" name="Text 42"/>
          <p:cNvSpPr/>
          <p:nvPr/>
        </p:nvSpPr>
        <p:spPr>
          <a:xfrm>
            <a:off x="274320" y="4645152"/>
            <a:ext cx="8595360" cy="292608"/>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Key insight: COMPANY NAME CAN query WFUsers for operational reasons (ticket assignment). DDM makes data usable but not identifying — login kept clear, name/email masked.</a:t>
            </a:r>
            <a:endParaRPr lang="en-US" sz="950" dirty="0"/>
          </a:p>
        </p:txBody>
      </p:sp>
      <p:sp>
        <p:nvSpPr>
          <p:cNvPr id="45" name="Shape 43"/>
          <p:cNvSpPr/>
          <p:nvPr/>
        </p:nvSpPr>
        <p:spPr>
          <a:xfrm>
            <a:off x="0" y="4828032"/>
            <a:ext cx="9144000" cy="315468"/>
          </a:xfrm>
          <a:prstGeom prst="rect">
            <a:avLst/>
          </a:prstGeom>
          <a:solidFill>
            <a:srgbClr val="009B9E"/>
          </a:solidFill>
          <a:ln/>
        </p:spPr>
      </p:sp>
      <p:sp>
        <p:nvSpPr>
          <p:cNvPr id="46" name="Text 44"/>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47" name="Shape 45"/>
          <p:cNvSpPr/>
          <p:nvPr/>
        </p:nvSpPr>
        <p:spPr>
          <a:xfrm>
            <a:off x="502920" y="4919472"/>
            <a:ext cx="18288" cy="128016"/>
          </a:xfrm>
          <a:prstGeom prst="rect">
            <a:avLst/>
          </a:prstGeom>
          <a:solidFill>
            <a:srgbClr val="FFFFFF"/>
          </a:solidFill>
          <a:ln/>
        </p:spPr>
      </p:sp>
      <p:sp>
        <p:nvSpPr>
          <p:cNvPr id="48" name="Text 46"/>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49" name="Text 47"/>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4A235A"/>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WFElementDetails  —  Sub-form &amp; Multi-value Data  ·  DEEP DIVE</a:t>
            </a:r>
            <a:endParaRPr lang="en-US" sz="1100" dirty="0"/>
          </a:p>
        </p:txBody>
      </p:sp>
      <p:sp>
        <p:nvSpPr>
          <p:cNvPr id="5" name="Text 3"/>
          <p:cNvSpPr/>
          <p:nvPr/>
        </p:nvSpPr>
        <p:spPr>
          <a:xfrm>
            <a:off x="320040" y="768096"/>
            <a:ext cx="8503920" cy="329184"/>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Does it contain sensitive data?  Yes — sub-forms in HR processes store PII per row.</a:t>
            </a:r>
            <a:endParaRPr lang="en-US" sz="1300" dirty="0"/>
          </a:p>
        </p:txBody>
      </p:sp>
      <p:sp>
        <p:nvSpPr>
          <p:cNvPr id="6" name="Shape 4"/>
          <p:cNvSpPr/>
          <p:nvPr/>
        </p:nvSpPr>
        <p:spPr>
          <a:xfrm>
            <a:off x="274320" y="1152144"/>
            <a:ext cx="8595360" cy="530352"/>
          </a:xfrm>
          <a:prstGeom prst="rect">
            <a:avLst/>
          </a:prstGeom>
          <a:solidFill>
            <a:srgbClr val="FFF3E0"/>
          </a:solidFill>
          <a:ln w="12700">
            <a:solidFill>
              <a:srgbClr val="E67E22"/>
            </a:solidFill>
            <a:prstDash val="solid"/>
          </a:ln>
        </p:spPr>
      </p:sp>
      <p:sp>
        <p:nvSpPr>
          <p:cNvPr id="7" name="Shape 5"/>
          <p:cNvSpPr/>
          <p:nvPr/>
        </p:nvSpPr>
        <p:spPr>
          <a:xfrm>
            <a:off x="274320" y="1152144"/>
            <a:ext cx="91440" cy="530352"/>
          </a:xfrm>
          <a:prstGeom prst="rect">
            <a:avLst/>
          </a:prstGeom>
          <a:solidFill>
            <a:srgbClr val="E67E22"/>
          </a:solidFill>
          <a:ln/>
        </p:spPr>
      </p:sp>
      <p:sp>
        <p:nvSpPr>
          <p:cNvPr id="8" name="Text 6"/>
          <p:cNvSpPr/>
          <p:nvPr/>
        </p:nvSpPr>
        <p:spPr>
          <a:xfrm>
            <a:off x="457200" y="1188720"/>
            <a:ext cx="8321040" cy="457200"/>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  Bypass Risk:  A COMPANY NAME user blocked from WFElements via RLS still knows HR WFD_ID ranges. They can query WFElementDetails directly using known WFD_IDs and retrieve Anna's medical reason per day — completely bypassing WFElements RLS. This table needs its own policy.</a:t>
            </a:r>
            <a:endParaRPr lang="en-US" sz="950" dirty="0"/>
          </a:p>
        </p:txBody>
      </p:sp>
      <p:sp>
        <p:nvSpPr>
          <p:cNvPr id="9" name="Shape 7"/>
          <p:cNvSpPr/>
          <p:nvPr/>
        </p:nvSpPr>
        <p:spPr>
          <a:xfrm>
            <a:off x="274320" y="1783080"/>
            <a:ext cx="2743200" cy="2788920"/>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83080"/>
            <a:ext cx="2743200" cy="310896"/>
          </a:xfrm>
          <a:prstGeom prst="rect">
            <a:avLst/>
          </a:prstGeom>
          <a:solidFill>
            <a:srgbClr val="EDE7F6"/>
          </a:solidFill>
          <a:ln/>
        </p:spPr>
      </p:sp>
      <p:sp>
        <p:nvSpPr>
          <p:cNvPr id="11" name="Text 9"/>
          <p:cNvSpPr/>
          <p:nvPr/>
        </p:nvSpPr>
        <p:spPr>
          <a:xfrm>
            <a:off x="365760" y="1783080"/>
            <a:ext cx="2606040" cy="310896"/>
          </a:xfrm>
          <a:prstGeom prst="rect">
            <a:avLst/>
          </a:prstGeom>
          <a:noFill/>
          <a:ln/>
        </p:spPr>
        <p:txBody>
          <a:bodyPr wrap="square" rtlCol="0" anchor="ctr"/>
          <a:lstStyle/>
          <a:p>
            <a:pPr marL="0" indent="0">
              <a:buNone/>
            </a:pPr>
            <a:r>
              <a:rPr lang="en-US" sz="900" b="1" dirty="0">
                <a:solidFill>
                  <a:srgbClr val="4A235A"/>
                </a:solidFill>
                <a:latin typeface="Calibri" pitchFamily="34" charset="0"/>
                <a:ea typeface="Calibri" pitchFamily="34" charset="-122"/>
                <a:cs typeface="Calibri" pitchFamily="34" charset="-120"/>
              </a:rPr>
              <a:t>Anna's Daily Breakdown sub-form</a:t>
            </a:r>
            <a:endParaRPr lang="en-US" sz="900" dirty="0"/>
          </a:p>
        </p:txBody>
      </p:sp>
      <p:sp>
        <p:nvSpPr>
          <p:cNvPr id="12" name="Text 10"/>
          <p:cNvSpPr/>
          <p:nvPr/>
        </p:nvSpPr>
        <p:spPr>
          <a:xfrm>
            <a:off x="347472" y="2157984"/>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WFD_WFDID</a:t>
            </a:r>
            <a:endParaRPr lang="en-US" sz="800" dirty="0"/>
          </a:p>
        </p:txBody>
      </p:sp>
      <p:sp>
        <p:nvSpPr>
          <p:cNvPr id="13" name="Shape 11"/>
          <p:cNvSpPr/>
          <p:nvPr/>
        </p:nvSpPr>
        <p:spPr>
          <a:xfrm>
            <a:off x="1609344" y="2176272"/>
            <a:ext cx="1298448" cy="201168"/>
          </a:xfrm>
          <a:prstGeom prst="rect">
            <a:avLst/>
          </a:prstGeom>
          <a:solidFill>
            <a:srgbClr val="F0F4FF"/>
          </a:solidFill>
          <a:ln/>
        </p:spPr>
      </p:sp>
      <p:sp>
        <p:nvSpPr>
          <p:cNvPr id="14" name="Text 12"/>
          <p:cNvSpPr/>
          <p:nvPr/>
        </p:nvSpPr>
        <p:spPr>
          <a:xfrm>
            <a:off x="1627632" y="2157984"/>
            <a:ext cx="1261872" cy="23774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50821</a:t>
            </a:r>
            <a:endParaRPr lang="en-US" sz="800" dirty="0"/>
          </a:p>
        </p:txBody>
      </p:sp>
      <p:sp>
        <p:nvSpPr>
          <p:cNvPr id="15" name="Text 13"/>
          <p:cNvSpPr/>
          <p:nvPr/>
        </p:nvSpPr>
        <p:spPr>
          <a:xfrm>
            <a:off x="347472" y="2423160"/>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WFD_DetailType</a:t>
            </a:r>
            <a:endParaRPr lang="en-US" sz="800" dirty="0"/>
          </a:p>
        </p:txBody>
      </p:sp>
      <p:sp>
        <p:nvSpPr>
          <p:cNvPr id="16" name="Shape 14"/>
          <p:cNvSpPr/>
          <p:nvPr/>
        </p:nvSpPr>
        <p:spPr>
          <a:xfrm>
            <a:off x="1609344" y="2441448"/>
            <a:ext cx="1298448" cy="201168"/>
          </a:xfrm>
          <a:prstGeom prst="rect">
            <a:avLst/>
          </a:prstGeom>
          <a:solidFill>
            <a:srgbClr val="F0F4FF"/>
          </a:solidFill>
          <a:ln/>
        </p:spPr>
      </p:sp>
      <p:sp>
        <p:nvSpPr>
          <p:cNvPr id="17" name="Text 15"/>
          <p:cNvSpPr/>
          <p:nvPr/>
        </p:nvSpPr>
        <p:spPr>
          <a:xfrm>
            <a:off x="1627632" y="2423160"/>
            <a:ext cx="1261872" cy="23774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55 (Daily)</a:t>
            </a:r>
            <a:endParaRPr lang="en-US" sz="800" dirty="0"/>
          </a:p>
        </p:txBody>
      </p:sp>
      <p:sp>
        <p:nvSpPr>
          <p:cNvPr id="18" name="Text 16"/>
          <p:cNvSpPr/>
          <p:nvPr/>
        </p:nvSpPr>
        <p:spPr>
          <a:xfrm>
            <a:off x="347472" y="2688336"/>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WFD_AttText1</a:t>
            </a:r>
            <a:endParaRPr lang="en-US" sz="800" dirty="0"/>
          </a:p>
        </p:txBody>
      </p:sp>
      <p:sp>
        <p:nvSpPr>
          <p:cNvPr id="19" name="Shape 17"/>
          <p:cNvSpPr/>
          <p:nvPr/>
        </p:nvSpPr>
        <p:spPr>
          <a:xfrm>
            <a:off x="1609344" y="2706624"/>
            <a:ext cx="1298448" cy="201168"/>
          </a:xfrm>
          <a:prstGeom prst="rect">
            <a:avLst/>
          </a:prstGeom>
          <a:solidFill>
            <a:srgbClr val="F0F4FF"/>
          </a:solidFill>
          <a:ln/>
        </p:spPr>
      </p:sp>
      <p:sp>
        <p:nvSpPr>
          <p:cNvPr id="20" name="Text 18"/>
          <p:cNvSpPr/>
          <p:nvPr/>
        </p:nvSpPr>
        <p:spPr>
          <a:xfrm>
            <a:off x="1627632" y="2688336"/>
            <a:ext cx="1261872" cy="23774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2026-04-14</a:t>
            </a:r>
            <a:endParaRPr lang="en-US" sz="800" dirty="0"/>
          </a:p>
        </p:txBody>
      </p:sp>
      <p:sp>
        <p:nvSpPr>
          <p:cNvPr id="21" name="Text 19"/>
          <p:cNvSpPr/>
          <p:nvPr/>
        </p:nvSpPr>
        <p:spPr>
          <a:xfrm>
            <a:off x="347472" y="2953512"/>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WFD_AttText2</a:t>
            </a:r>
            <a:endParaRPr lang="en-US" sz="800" dirty="0"/>
          </a:p>
        </p:txBody>
      </p:sp>
      <p:sp>
        <p:nvSpPr>
          <p:cNvPr id="22" name="Shape 20"/>
          <p:cNvSpPr/>
          <p:nvPr/>
        </p:nvSpPr>
        <p:spPr>
          <a:xfrm>
            <a:off x="1609344" y="2971800"/>
            <a:ext cx="1298448" cy="201168"/>
          </a:xfrm>
          <a:prstGeom prst="rect">
            <a:avLst/>
          </a:prstGeom>
          <a:solidFill>
            <a:srgbClr val="F0F4FF"/>
          </a:solidFill>
          <a:ln/>
        </p:spPr>
      </p:sp>
      <p:sp>
        <p:nvSpPr>
          <p:cNvPr id="23" name="Text 21"/>
          <p:cNvSpPr/>
          <p:nvPr/>
        </p:nvSpPr>
        <p:spPr>
          <a:xfrm>
            <a:off x="1627632" y="2953512"/>
            <a:ext cx="1261872" cy="23774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Full Day</a:t>
            </a:r>
            <a:endParaRPr lang="en-US" sz="800" dirty="0"/>
          </a:p>
        </p:txBody>
      </p:sp>
      <p:sp>
        <p:nvSpPr>
          <p:cNvPr id="24" name="Text 22"/>
          <p:cNvSpPr/>
          <p:nvPr/>
        </p:nvSpPr>
        <p:spPr>
          <a:xfrm>
            <a:off x="347472" y="3218688"/>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WFD_AttText3</a:t>
            </a:r>
            <a:endParaRPr lang="en-US" sz="800" dirty="0"/>
          </a:p>
        </p:txBody>
      </p:sp>
      <p:sp>
        <p:nvSpPr>
          <p:cNvPr id="25" name="Shape 23"/>
          <p:cNvSpPr/>
          <p:nvPr/>
        </p:nvSpPr>
        <p:spPr>
          <a:xfrm>
            <a:off x="1609344" y="3236976"/>
            <a:ext cx="1298448" cy="201168"/>
          </a:xfrm>
          <a:prstGeom prst="rect">
            <a:avLst/>
          </a:prstGeom>
          <a:solidFill>
            <a:srgbClr val="FFEBEE"/>
          </a:solidFill>
          <a:ln/>
        </p:spPr>
      </p:sp>
      <p:sp>
        <p:nvSpPr>
          <p:cNvPr id="26" name="Text 24"/>
          <p:cNvSpPr/>
          <p:nvPr/>
        </p:nvSpPr>
        <p:spPr>
          <a:xfrm>
            <a:off x="1627632" y="3218688"/>
            <a:ext cx="1261872" cy="237744"/>
          </a:xfrm>
          <a:prstGeom prst="rect">
            <a:avLst/>
          </a:prstGeom>
          <a:noFill/>
          <a:ln/>
        </p:spPr>
        <p:txBody>
          <a:bodyPr wrap="square" rtlCol="0" anchor="ctr"/>
          <a:lstStyle/>
          <a:p>
            <a:pPr marL="0" indent="0">
              <a:buNone/>
            </a:pPr>
            <a:r>
              <a:rPr lang="en-US" sz="800" dirty="0">
                <a:solidFill>
                  <a:srgbClr val="C0392B"/>
                </a:solidFill>
                <a:latin typeface="Calibri" pitchFamily="34" charset="0"/>
                <a:ea typeface="Calibri" pitchFamily="34" charset="-122"/>
                <a:cs typeface="Calibri" pitchFamily="34" charset="-120"/>
              </a:rPr>
              <a:t>Medical 🔴</a:t>
            </a:r>
            <a:endParaRPr lang="en-US" sz="800" dirty="0"/>
          </a:p>
        </p:txBody>
      </p:sp>
      <p:sp>
        <p:nvSpPr>
          <p:cNvPr id="27" name="Text 25"/>
          <p:cNvSpPr/>
          <p:nvPr/>
        </p:nvSpPr>
        <p:spPr>
          <a:xfrm>
            <a:off x="347472" y="3483864"/>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WFD_AttText1</a:t>
            </a:r>
            <a:endParaRPr lang="en-US" sz="800" dirty="0"/>
          </a:p>
        </p:txBody>
      </p:sp>
      <p:sp>
        <p:nvSpPr>
          <p:cNvPr id="28" name="Shape 26"/>
          <p:cNvSpPr/>
          <p:nvPr/>
        </p:nvSpPr>
        <p:spPr>
          <a:xfrm>
            <a:off x="1609344" y="3502152"/>
            <a:ext cx="1298448" cy="201168"/>
          </a:xfrm>
          <a:prstGeom prst="rect">
            <a:avLst/>
          </a:prstGeom>
          <a:solidFill>
            <a:srgbClr val="F0F4FF"/>
          </a:solidFill>
          <a:ln/>
        </p:spPr>
      </p:sp>
      <p:sp>
        <p:nvSpPr>
          <p:cNvPr id="29" name="Text 27"/>
          <p:cNvSpPr/>
          <p:nvPr/>
        </p:nvSpPr>
        <p:spPr>
          <a:xfrm>
            <a:off x="1627632" y="3483864"/>
            <a:ext cx="1261872" cy="23774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2026-04-15</a:t>
            </a:r>
            <a:endParaRPr lang="en-US" sz="800" dirty="0"/>
          </a:p>
        </p:txBody>
      </p:sp>
      <p:sp>
        <p:nvSpPr>
          <p:cNvPr id="30" name="Text 28"/>
          <p:cNvSpPr/>
          <p:nvPr/>
        </p:nvSpPr>
        <p:spPr>
          <a:xfrm>
            <a:off x="347472" y="3749040"/>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WFD_AttText2</a:t>
            </a:r>
            <a:endParaRPr lang="en-US" sz="800" dirty="0"/>
          </a:p>
        </p:txBody>
      </p:sp>
      <p:sp>
        <p:nvSpPr>
          <p:cNvPr id="31" name="Shape 29"/>
          <p:cNvSpPr/>
          <p:nvPr/>
        </p:nvSpPr>
        <p:spPr>
          <a:xfrm>
            <a:off x="1609344" y="3767328"/>
            <a:ext cx="1298448" cy="201168"/>
          </a:xfrm>
          <a:prstGeom prst="rect">
            <a:avLst/>
          </a:prstGeom>
          <a:solidFill>
            <a:srgbClr val="F0F4FF"/>
          </a:solidFill>
          <a:ln/>
        </p:spPr>
      </p:sp>
      <p:sp>
        <p:nvSpPr>
          <p:cNvPr id="32" name="Text 30"/>
          <p:cNvSpPr/>
          <p:nvPr/>
        </p:nvSpPr>
        <p:spPr>
          <a:xfrm>
            <a:off x="1627632" y="3749040"/>
            <a:ext cx="1261872" cy="237744"/>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Full Day</a:t>
            </a:r>
            <a:endParaRPr lang="en-US" sz="800" dirty="0"/>
          </a:p>
        </p:txBody>
      </p:sp>
      <p:sp>
        <p:nvSpPr>
          <p:cNvPr id="33" name="Text 31"/>
          <p:cNvSpPr/>
          <p:nvPr/>
        </p:nvSpPr>
        <p:spPr>
          <a:xfrm>
            <a:off x="347472" y="4014216"/>
            <a:ext cx="1234440" cy="237744"/>
          </a:xfrm>
          <a:prstGeom prst="rect">
            <a:avLst/>
          </a:prstGeom>
          <a:noFill/>
          <a:ln/>
        </p:spPr>
        <p:txBody>
          <a:bodyPr wrap="square" rtlCol="0" anchor="ctr"/>
          <a:lstStyle/>
          <a:p>
            <a:pPr marL="0" indent="0">
              <a:buNone/>
            </a:pPr>
            <a:r>
              <a:rPr lang="en-US" sz="800" dirty="0">
                <a:solidFill>
                  <a:srgbClr val="5B6B85"/>
                </a:solidFill>
                <a:latin typeface="Consolas" pitchFamily="34" charset="0"/>
                <a:ea typeface="Consolas" pitchFamily="34" charset="-122"/>
                <a:cs typeface="Consolas" pitchFamily="34" charset="-120"/>
              </a:rPr>
              <a:t>WFD_AttText3</a:t>
            </a:r>
            <a:endParaRPr lang="en-US" sz="800" dirty="0"/>
          </a:p>
        </p:txBody>
      </p:sp>
      <p:sp>
        <p:nvSpPr>
          <p:cNvPr id="34" name="Shape 32"/>
          <p:cNvSpPr/>
          <p:nvPr/>
        </p:nvSpPr>
        <p:spPr>
          <a:xfrm>
            <a:off x="1609344" y="4032504"/>
            <a:ext cx="1298448" cy="201168"/>
          </a:xfrm>
          <a:prstGeom prst="rect">
            <a:avLst/>
          </a:prstGeom>
          <a:solidFill>
            <a:srgbClr val="FFEBEE"/>
          </a:solidFill>
          <a:ln/>
        </p:spPr>
      </p:sp>
      <p:sp>
        <p:nvSpPr>
          <p:cNvPr id="35" name="Text 33"/>
          <p:cNvSpPr/>
          <p:nvPr/>
        </p:nvSpPr>
        <p:spPr>
          <a:xfrm>
            <a:off x="1627632" y="4014216"/>
            <a:ext cx="1261872" cy="237744"/>
          </a:xfrm>
          <a:prstGeom prst="rect">
            <a:avLst/>
          </a:prstGeom>
          <a:noFill/>
          <a:ln/>
        </p:spPr>
        <p:txBody>
          <a:bodyPr wrap="square" rtlCol="0" anchor="ctr"/>
          <a:lstStyle/>
          <a:p>
            <a:pPr marL="0" indent="0">
              <a:buNone/>
            </a:pPr>
            <a:r>
              <a:rPr lang="en-US" sz="800" dirty="0">
                <a:solidFill>
                  <a:srgbClr val="C0392B"/>
                </a:solidFill>
                <a:latin typeface="Calibri" pitchFamily="34" charset="0"/>
                <a:ea typeface="Calibri" pitchFamily="34" charset="-122"/>
                <a:cs typeface="Calibri" pitchFamily="34" charset="-120"/>
              </a:rPr>
              <a:t>Medical 🔴</a:t>
            </a:r>
            <a:endParaRPr lang="en-US" sz="800" dirty="0"/>
          </a:p>
        </p:txBody>
      </p:sp>
      <p:sp>
        <p:nvSpPr>
          <p:cNvPr id="36" name="Shape 34"/>
          <p:cNvSpPr/>
          <p:nvPr/>
        </p:nvSpPr>
        <p:spPr>
          <a:xfrm>
            <a:off x="3246120" y="1783080"/>
            <a:ext cx="2834640" cy="2788920"/>
          </a:xfrm>
          <a:prstGeom prst="rect">
            <a:avLst/>
          </a:prstGeom>
          <a:solidFill>
            <a:srgbClr val="FFFFFF"/>
          </a:solidFill>
          <a:ln/>
          <a:effectLst>
            <a:outerShdw blurRad="101600" dist="38100" dir="8100000" algn="bl" rotWithShape="0">
              <a:srgbClr val="000000">
                <a:alpha val="12000"/>
              </a:srgbClr>
            </a:outerShdw>
          </a:effectLst>
        </p:spPr>
      </p:sp>
      <p:sp>
        <p:nvSpPr>
          <p:cNvPr id="37" name="Shape 35"/>
          <p:cNvSpPr/>
          <p:nvPr/>
        </p:nvSpPr>
        <p:spPr>
          <a:xfrm>
            <a:off x="3246120" y="1783080"/>
            <a:ext cx="2834640" cy="310896"/>
          </a:xfrm>
          <a:prstGeom prst="rect">
            <a:avLst/>
          </a:prstGeom>
          <a:solidFill>
            <a:srgbClr val="E8F5E9"/>
          </a:solidFill>
          <a:ln/>
        </p:spPr>
      </p:sp>
      <p:sp>
        <p:nvSpPr>
          <p:cNvPr id="38" name="Text 36"/>
          <p:cNvSpPr/>
          <p:nvPr/>
        </p:nvSpPr>
        <p:spPr>
          <a:xfrm>
            <a:off x="3337560" y="1783080"/>
            <a:ext cx="2651760" cy="310896"/>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Fix — Chained RLS (no separate process list)</a:t>
            </a:r>
            <a:endParaRPr lang="en-US" sz="900" dirty="0"/>
          </a:p>
        </p:txBody>
      </p:sp>
      <p:sp>
        <p:nvSpPr>
          <p:cNvPr id="39" name="Shape 37"/>
          <p:cNvSpPr/>
          <p:nvPr/>
        </p:nvSpPr>
        <p:spPr>
          <a:xfrm>
            <a:off x="3310128" y="2148840"/>
            <a:ext cx="2697480" cy="2359152"/>
          </a:xfrm>
          <a:prstGeom prst="rect">
            <a:avLst/>
          </a:prstGeom>
          <a:solidFill>
            <a:srgbClr val="F6F9FC"/>
          </a:solidFill>
          <a:ln/>
        </p:spPr>
      </p:sp>
      <p:sp>
        <p:nvSpPr>
          <p:cNvPr id="40" name="Text 38"/>
          <p:cNvSpPr/>
          <p:nvPr/>
        </p:nvSpPr>
        <p:spPr>
          <a:xfrm>
            <a:off x="3355848" y="2176272"/>
            <a:ext cx="2606040" cy="2304288"/>
          </a:xfrm>
          <a:prstGeom prst="rect">
            <a:avLst/>
          </a:prstGeom>
          <a:noFill/>
          <a:ln/>
        </p:spPr>
        <p:txBody>
          <a:bodyPr wrap="square" rtlCol="0" anchor="t"/>
          <a:lstStyle/>
          <a:p>
            <a:pPr marL="0" indent="0">
              <a:buNone/>
            </a:pPr>
            <a:r>
              <a:rPr lang="en-US" sz="750" dirty="0">
                <a:solidFill>
                  <a:srgbClr val="1A3A5C"/>
                </a:solidFill>
                <a:latin typeface="Consolas" pitchFamily="34" charset="0"/>
                <a:ea typeface="Consolas" pitchFamily="34" charset="-122"/>
                <a:cs typeface="Consolas" pitchFamily="34" charset="-120"/>
              </a:rPr>
              <a:t>CREATE FUNCTION</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fn_WFDetails_AccessPolicy</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(@ParentID INT)</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RETURNS TABLE</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WITH SCHEMABINDING AS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RETURN</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SELECT 1 AS Result</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WHERE EXISTS (</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SELECT 1</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FROM dbo.WFElements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WHERE WFD_ID = @ParentID</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 WFElements RLS active:</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 HR rows invisible here</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 so detail rows blocked too</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a:t>
            </a:r>
            <a:endParaRPr lang="en-US" sz="750" dirty="0"/>
          </a:p>
          <a:p>
            <a:pPr marL="0" indent="0">
              <a:buNone/>
            </a:pP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CREATE SECURITY POLICY</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WFDetails_RowSecurity</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ADD FILTER PREDICATE</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fn_WFDetails_AccessPolicy</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(WFD_WFDID)</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ON dbo.WFElementDetails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WITH (STATE = ON);</a:t>
            </a:r>
            <a:endParaRPr lang="en-US" sz="750" dirty="0"/>
          </a:p>
        </p:txBody>
      </p:sp>
      <p:sp>
        <p:nvSpPr>
          <p:cNvPr id="41" name="Shape 39"/>
          <p:cNvSpPr/>
          <p:nvPr/>
        </p:nvSpPr>
        <p:spPr>
          <a:xfrm>
            <a:off x="6309360" y="1783080"/>
            <a:ext cx="2560320" cy="2788920"/>
          </a:xfrm>
          <a:prstGeom prst="rect">
            <a:avLst/>
          </a:prstGeom>
          <a:solidFill>
            <a:srgbClr val="FFFFFF"/>
          </a:solidFill>
          <a:ln/>
          <a:effectLst>
            <a:outerShdw blurRad="101600" dist="38100" dir="8100000" algn="bl" rotWithShape="0">
              <a:srgbClr val="000000">
                <a:alpha val="12000"/>
              </a:srgbClr>
            </a:outerShdw>
          </a:effectLst>
        </p:spPr>
      </p:sp>
      <p:sp>
        <p:nvSpPr>
          <p:cNvPr id="42" name="Shape 40"/>
          <p:cNvSpPr/>
          <p:nvPr/>
        </p:nvSpPr>
        <p:spPr>
          <a:xfrm>
            <a:off x="6309360" y="1783080"/>
            <a:ext cx="2560320" cy="310896"/>
          </a:xfrm>
          <a:prstGeom prst="rect">
            <a:avLst/>
          </a:prstGeom>
          <a:solidFill>
            <a:srgbClr val="E8F5E9"/>
          </a:solidFill>
          <a:ln/>
        </p:spPr>
      </p:sp>
      <p:sp>
        <p:nvSpPr>
          <p:cNvPr id="43" name="Text 41"/>
          <p:cNvSpPr/>
          <p:nvPr/>
        </p:nvSpPr>
        <p:spPr>
          <a:xfrm>
            <a:off x="6400800" y="1783080"/>
            <a:ext cx="2423160" cy="310896"/>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IT Support Impact — Zero</a:t>
            </a:r>
            <a:endParaRPr lang="en-US" sz="900" dirty="0"/>
          </a:p>
        </p:txBody>
      </p:sp>
      <p:sp>
        <p:nvSpPr>
          <p:cNvPr id="44" name="Shape 42"/>
          <p:cNvSpPr/>
          <p:nvPr/>
        </p:nvSpPr>
        <p:spPr>
          <a:xfrm>
            <a:off x="6373368" y="2176272"/>
            <a:ext cx="2423160" cy="402336"/>
          </a:xfrm>
          <a:prstGeom prst="rect">
            <a:avLst/>
          </a:prstGeom>
          <a:solidFill>
            <a:srgbClr val="F0FFF4"/>
          </a:solidFill>
          <a:ln w="3810">
            <a:solidFill>
              <a:srgbClr val="E0E0E0"/>
            </a:solidFill>
            <a:prstDash val="solid"/>
          </a:ln>
        </p:spPr>
      </p:sp>
      <p:sp>
        <p:nvSpPr>
          <p:cNvPr id="45" name="Text 43"/>
          <p:cNvSpPr/>
          <p:nvPr/>
        </p:nvSpPr>
        <p:spPr>
          <a:xfrm>
            <a:off x="6428232" y="2194560"/>
            <a:ext cx="2331720" cy="20116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IT Helpdesk sub-forms</a:t>
            </a:r>
            <a:endParaRPr lang="en-US" sz="850" dirty="0"/>
          </a:p>
        </p:txBody>
      </p:sp>
      <p:sp>
        <p:nvSpPr>
          <p:cNvPr id="46" name="Text 44"/>
          <p:cNvSpPr/>
          <p:nvPr/>
        </p:nvSpPr>
        <p:spPr>
          <a:xfrm>
            <a:off x="6428232" y="2377440"/>
            <a:ext cx="2331720" cy="182880"/>
          </a:xfrm>
          <a:prstGeom prst="rect">
            <a:avLst/>
          </a:prstGeom>
          <a:noFill/>
          <a:ln/>
        </p:spPr>
        <p:txBody>
          <a:bodyPr wrap="square" rtlCol="0" anchor="ctr"/>
          <a:lstStyle/>
          <a:p>
            <a:pPr marL="0" indent="0">
              <a:buNone/>
            </a:pPr>
            <a:r>
              <a:rPr lang="en-US" sz="850" dirty="0">
                <a:solidFill>
                  <a:srgbClr val="1B7A4A"/>
                </a:solidFill>
                <a:latin typeface="Calibri" pitchFamily="34" charset="0"/>
                <a:ea typeface="Calibri" pitchFamily="34" charset="-122"/>
                <a:cs typeface="Calibri" pitchFamily="34" charset="-120"/>
              </a:rPr>
              <a:t>✔ Fully accessible</a:t>
            </a:r>
            <a:endParaRPr lang="en-US" sz="850" dirty="0"/>
          </a:p>
        </p:txBody>
      </p:sp>
      <p:sp>
        <p:nvSpPr>
          <p:cNvPr id="47" name="Shape 45"/>
          <p:cNvSpPr/>
          <p:nvPr/>
        </p:nvSpPr>
        <p:spPr>
          <a:xfrm>
            <a:off x="6373368" y="2633472"/>
            <a:ext cx="2423160" cy="402336"/>
          </a:xfrm>
          <a:prstGeom prst="rect">
            <a:avLst/>
          </a:prstGeom>
          <a:solidFill>
            <a:srgbClr val="F0FFF4"/>
          </a:solidFill>
          <a:ln w="3810">
            <a:solidFill>
              <a:srgbClr val="E0E0E0"/>
            </a:solidFill>
            <a:prstDash val="solid"/>
          </a:ln>
        </p:spPr>
      </p:sp>
      <p:sp>
        <p:nvSpPr>
          <p:cNvPr id="48" name="Text 46"/>
          <p:cNvSpPr/>
          <p:nvPr/>
        </p:nvSpPr>
        <p:spPr>
          <a:xfrm>
            <a:off x="6428232" y="2651760"/>
            <a:ext cx="2331720" cy="20116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Procurement line items</a:t>
            </a:r>
            <a:endParaRPr lang="en-US" sz="850" dirty="0"/>
          </a:p>
        </p:txBody>
      </p:sp>
      <p:sp>
        <p:nvSpPr>
          <p:cNvPr id="49" name="Text 47"/>
          <p:cNvSpPr/>
          <p:nvPr/>
        </p:nvSpPr>
        <p:spPr>
          <a:xfrm>
            <a:off x="6428232" y="2834640"/>
            <a:ext cx="2331720" cy="182880"/>
          </a:xfrm>
          <a:prstGeom prst="rect">
            <a:avLst/>
          </a:prstGeom>
          <a:noFill/>
          <a:ln/>
        </p:spPr>
        <p:txBody>
          <a:bodyPr wrap="square" rtlCol="0" anchor="ctr"/>
          <a:lstStyle/>
          <a:p>
            <a:pPr marL="0" indent="0">
              <a:buNone/>
            </a:pPr>
            <a:r>
              <a:rPr lang="en-US" sz="850" dirty="0">
                <a:solidFill>
                  <a:srgbClr val="1B7A4A"/>
                </a:solidFill>
                <a:latin typeface="Calibri" pitchFamily="34" charset="0"/>
                <a:ea typeface="Calibri" pitchFamily="34" charset="-122"/>
                <a:cs typeface="Calibri" pitchFamily="34" charset="-120"/>
              </a:rPr>
              <a:t>✔ Fully accessible</a:t>
            </a:r>
            <a:endParaRPr lang="en-US" sz="850" dirty="0"/>
          </a:p>
        </p:txBody>
      </p:sp>
      <p:sp>
        <p:nvSpPr>
          <p:cNvPr id="50" name="Shape 48"/>
          <p:cNvSpPr/>
          <p:nvPr/>
        </p:nvSpPr>
        <p:spPr>
          <a:xfrm>
            <a:off x="6373368" y="3090672"/>
            <a:ext cx="2423160" cy="402336"/>
          </a:xfrm>
          <a:prstGeom prst="rect">
            <a:avLst/>
          </a:prstGeom>
          <a:solidFill>
            <a:srgbClr val="F0FFF4"/>
          </a:solidFill>
          <a:ln w="3810">
            <a:solidFill>
              <a:srgbClr val="E0E0E0"/>
            </a:solidFill>
            <a:prstDash val="solid"/>
          </a:ln>
        </p:spPr>
      </p:sp>
      <p:sp>
        <p:nvSpPr>
          <p:cNvPr id="51" name="Text 49"/>
          <p:cNvSpPr/>
          <p:nvPr/>
        </p:nvSpPr>
        <p:spPr>
          <a:xfrm>
            <a:off x="6428232" y="3108960"/>
            <a:ext cx="2331720" cy="20116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Operational sub-forms</a:t>
            </a:r>
            <a:endParaRPr lang="en-US" sz="850" dirty="0"/>
          </a:p>
        </p:txBody>
      </p:sp>
      <p:sp>
        <p:nvSpPr>
          <p:cNvPr id="52" name="Text 50"/>
          <p:cNvSpPr/>
          <p:nvPr/>
        </p:nvSpPr>
        <p:spPr>
          <a:xfrm>
            <a:off x="6428232" y="3291840"/>
            <a:ext cx="2331720" cy="182880"/>
          </a:xfrm>
          <a:prstGeom prst="rect">
            <a:avLst/>
          </a:prstGeom>
          <a:noFill/>
          <a:ln/>
        </p:spPr>
        <p:txBody>
          <a:bodyPr wrap="square" rtlCol="0" anchor="ctr"/>
          <a:lstStyle/>
          <a:p>
            <a:pPr marL="0" indent="0">
              <a:buNone/>
            </a:pPr>
            <a:r>
              <a:rPr lang="en-US" sz="850" dirty="0">
                <a:solidFill>
                  <a:srgbClr val="1B7A4A"/>
                </a:solidFill>
                <a:latin typeface="Calibri" pitchFamily="34" charset="0"/>
                <a:ea typeface="Calibri" pitchFamily="34" charset="-122"/>
                <a:cs typeface="Calibri" pitchFamily="34" charset="-120"/>
              </a:rPr>
              <a:t>✔ Fully accessible</a:t>
            </a:r>
            <a:endParaRPr lang="en-US" sz="850" dirty="0"/>
          </a:p>
        </p:txBody>
      </p:sp>
      <p:sp>
        <p:nvSpPr>
          <p:cNvPr id="53" name="Shape 51"/>
          <p:cNvSpPr/>
          <p:nvPr/>
        </p:nvSpPr>
        <p:spPr>
          <a:xfrm>
            <a:off x="6373368" y="3547872"/>
            <a:ext cx="2423160" cy="402336"/>
          </a:xfrm>
          <a:prstGeom prst="rect">
            <a:avLst/>
          </a:prstGeom>
          <a:solidFill>
            <a:srgbClr val="FFF0F0"/>
          </a:solidFill>
          <a:ln w="3810">
            <a:solidFill>
              <a:srgbClr val="E0E0E0"/>
            </a:solidFill>
            <a:prstDash val="solid"/>
          </a:ln>
        </p:spPr>
      </p:sp>
      <p:sp>
        <p:nvSpPr>
          <p:cNvPr id="54" name="Text 52"/>
          <p:cNvSpPr/>
          <p:nvPr/>
        </p:nvSpPr>
        <p:spPr>
          <a:xfrm>
            <a:off x="6428232" y="3566160"/>
            <a:ext cx="2331720" cy="20116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HR Daily Breakdown</a:t>
            </a:r>
            <a:endParaRPr lang="en-US" sz="850" dirty="0"/>
          </a:p>
        </p:txBody>
      </p:sp>
      <p:sp>
        <p:nvSpPr>
          <p:cNvPr id="55" name="Text 53"/>
          <p:cNvSpPr/>
          <p:nvPr/>
        </p:nvSpPr>
        <p:spPr>
          <a:xfrm>
            <a:off x="6428232" y="3749040"/>
            <a:ext cx="2331720" cy="182880"/>
          </a:xfrm>
          <a:prstGeom prst="rect">
            <a:avLst/>
          </a:prstGeom>
          <a:noFill/>
          <a:ln/>
        </p:spPr>
        <p:txBody>
          <a:bodyPr wrap="square" rtlCol="0" anchor="ctr"/>
          <a:lstStyle/>
          <a:p>
            <a:pPr marL="0" indent="0">
              <a:buNone/>
            </a:pPr>
            <a:r>
              <a:rPr lang="en-US" sz="850" dirty="0">
                <a:solidFill>
                  <a:srgbClr val="C0392B"/>
                </a:solidFill>
                <a:latin typeface="Calibri" pitchFamily="34" charset="0"/>
                <a:ea typeface="Calibri" pitchFamily="34" charset="-122"/>
                <a:cs typeface="Calibri" pitchFamily="34" charset="-120"/>
              </a:rPr>
              <a:t>🔴 Absent (chained)</a:t>
            </a:r>
            <a:endParaRPr lang="en-US" sz="850" dirty="0"/>
          </a:p>
        </p:txBody>
      </p:sp>
      <p:sp>
        <p:nvSpPr>
          <p:cNvPr id="56" name="Shape 54"/>
          <p:cNvSpPr/>
          <p:nvPr/>
        </p:nvSpPr>
        <p:spPr>
          <a:xfrm>
            <a:off x="6373368" y="4005072"/>
            <a:ext cx="2423160" cy="402336"/>
          </a:xfrm>
          <a:prstGeom prst="rect">
            <a:avLst/>
          </a:prstGeom>
          <a:solidFill>
            <a:srgbClr val="FFF0F0"/>
          </a:solidFill>
          <a:ln w="3810">
            <a:solidFill>
              <a:srgbClr val="E0E0E0"/>
            </a:solidFill>
            <a:prstDash val="solid"/>
          </a:ln>
        </p:spPr>
      </p:sp>
      <p:sp>
        <p:nvSpPr>
          <p:cNvPr id="57" name="Text 55"/>
          <p:cNvSpPr/>
          <p:nvPr/>
        </p:nvSpPr>
        <p:spPr>
          <a:xfrm>
            <a:off x="6428232" y="4023360"/>
            <a:ext cx="2331720" cy="20116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Payroll line items</a:t>
            </a:r>
            <a:endParaRPr lang="en-US" sz="850" dirty="0"/>
          </a:p>
        </p:txBody>
      </p:sp>
      <p:sp>
        <p:nvSpPr>
          <p:cNvPr id="58" name="Text 56"/>
          <p:cNvSpPr/>
          <p:nvPr/>
        </p:nvSpPr>
        <p:spPr>
          <a:xfrm>
            <a:off x="6428232" y="4206240"/>
            <a:ext cx="2331720" cy="182880"/>
          </a:xfrm>
          <a:prstGeom prst="rect">
            <a:avLst/>
          </a:prstGeom>
          <a:noFill/>
          <a:ln/>
        </p:spPr>
        <p:txBody>
          <a:bodyPr wrap="square" rtlCol="0" anchor="ctr"/>
          <a:lstStyle/>
          <a:p>
            <a:pPr marL="0" indent="0">
              <a:buNone/>
            </a:pPr>
            <a:r>
              <a:rPr lang="en-US" sz="850" dirty="0">
                <a:solidFill>
                  <a:srgbClr val="C0392B"/>
                </a:solidFill>
                <a:latin typeface="Calibri" pitchFamily="34" charset="0"/>
                <a:ea typeface="Calibri" pitchFamily="34" charset="-122"/>
                <a:cs typeface="Calibri" pitchFamily="34" charset="-120"/>
              </a:rPr>
              <a:t>🔴 Absent (chained)</a:t>
            </a:r>
            <a:endParaRPr lang="en-US" sz="850" dirty="0"/>
          </a:p>
        </p:txBody>
      </p:sp>
      <p:sp>
        <p:nvSpPr>
          <p:cNvPr id="59" name="Shape 57"/>
          <p:cNvSpPr/>
          <p:nvPr/>
        </p:nvSpPr>
        <p:spPr>
          <a:xfrm>
            <a:off x="274320" y="4636008"/>
            <a:ext cx="8595360" cy="384048"/>
          </a:xfrm>
          <a:prstGeom prst="rect">
            <a:avLst/>
          </a:prstGeom>
          <a:solidFill>
            <a:srgbClr val="1A1A2E"/>
          </a:solidFill>
          <a:ln/>
        </p:spPr>
      </p:sp>
      <p:sp>
        <p:nvSpPr>
          <p:cNvPr id="60" name="Text 58"/>
          <p:cNvSpPr/>
          <p:nvPr/>
        </p:nvSpPr>
        <p:spPr>
          <a:xfrm>
            <a:off x="411480" y="4636008"/>
            <a:ext cx="8412480" cy="38404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DDM safety net: ALTER TABLE WFElementDetails ALTER COLUMN WFD_AttText3 ADD MASKED WITH (FUNCTION = 'default()');  — PII shows as xxxx even if RLS is bypassed.</a:t>
            </a:r>
            <a:endParaRPr lang="en-US" sz="900" dirty="0"/>
          </a:p>
        </p:txBody>
      </p:sp>
      <p:sp>
        <p:nvSpPr>
          <p:cNvPr id="61" name="Shape 59"/>
          <p:cNvSpPr/>
          <p:nvPr/>
        </p:nvSpPr>
        <p:spPr>
          <a:xfrm>
            <a:off x="0" y="4828032"/>
            <a:ext cx="9144000" cy="315468"/>
          </a:xfrm>
          <a:prstGeom prst="rect">
            <a:avLst/>
          </a:prstGeom>
          <a:solidFill>
            <a:srgbClr val="009B9E"/>
          </a:solidFill>
          <a:ln/>
        </p:spPr>
      </p:sp>
      <p:sp>
        <p:nvSpPr>
          <p:cNvPr id="62" name="Text 60"/>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63" name="Shape 61"/>
          <p:cNvSpPr/>
          <p:nvPr/>
        </p:nvSpPr>
        <p:spPr>
          <a:xfrm>
            <a:off x="502920" y="4919472"/>
            <a:ext cx="18288" cy="128016"/>
          </a:xfrm>
          <a:prstGeom prst="rect">
            <a:avLst/>
          </a:prstGeom>
          <a:solidFill>
            <a:srgbClr val="FFFFFF"/>
          </a:solidFill>
          <a:ln/>
        </p:spPr>
      </p:sp>
      <p:sp>
        <p:nvSpPr>
          <p:cNvPr id="64" name="Text 62"/>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65" name="Text 63"/>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C0392B"/>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150" dirty="0">
                <a:solidFill>
                  <a:srgbClr val="FFFFFF"/>
                </a:solidFill>
                <a:latin typeface="Calibri" pitchFamily="34" charset="0"/>
                <a:ea typeface="Calibri" pitchFamily="34" charset="-122"/>
                <a:cs typeface="Calibri" pitchFamily="34" charset="-120"/>
              </a:rPr>
              <a:t>WFHistoryElements  —  Full Audit Trail  ·  DEEP DIVE  ⚠  MOST DANGEROUS TABLE</a:t>
            </a:r>
            <a:endParaRPr lang="en-US" sz="1100" dirty="0"/>
          </a:p>
        </p:txBody>
      </p:sp>
      <p:sp>
        <p:nvSpPr>
          <p:cNvPr id="5" name="Text 3"/>
          <p:cNvSpPr/>
          <p:nvPr/>
        </p:nvSpPr>
        <p:spPr>
          <a:xfrm>
            <a:off x="320040" y="768096"/>
            <a:ext cx="8503920" cy="329184"/>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Every workflow step snapshots ALL field values — including fields later edited or deleted.</a:t>
            </a:r>
            <a:endParaRPr lang="en-US" sz="1300" dirty="0"/>
          </a:p>
        </p:txBody>
      </p:sp>
      <p:sp>
        <p:nvSpPr>
          <p:cNvPr id="6" name="Shape 4"/>
          <p:cNvSpPr/>
          <p:nvPr/>
        </p:nvSpPr>
        <p:spPr>
          <a:xfrm>
            <a:off x="274320" y="1152144"/>
            <a:ext cx="8595360" cy="475488"/>
          </a:xfrm>
          <a:prstGeom prst="rect">
            <a:avLst/>
          </a:prstGeom>
          <a:solidFill>
            <a:srgbClr val="FFEBEE"/>
          </a:solidFill>
          <a:ln w="12700">
            <a:solidFill>
              <a:srgbClr val="C0392B"/>
            </a:solidFill>
            <a:prstDash val="solid"/>
          </a:ln>
        </p:spPr>
      </p:sp>
      <p:sp>
        <p:nvSpPr>
          <p:cNvPr id="7" name="Shape 5"/>
          <p:cNvSpPr/>
          <p:nvPr/>
        </p:nvSpPr>
        <p:spPr>
          <a:xfrm>
            <a:off x="274320" y="1152144"/>
            <a:ext cx="91440" cy="475488"/>
          </a:xfrm>
          <a:prstGeom prst="rect">
            <a:avLst/>
          </a:prstGeom>
          <a:solidFill>
            <a:srgbClr val="C0392B"/>
          </a:solidFill>
          <a:ln/>
        </p:spPr>
      </p:sp>
      <p:sp>
        <p:nvSpPr>
          <p:cNvPr id="8" name="Text 6"/>
          <p:cNvSpPr/>
          <p:nvPr/>
        </p:nvSpPr>
        <p:spPr>
          <a:xfrm>
            <a:off x="457200" y="1188720"/>
            <a:ext cx="8321040" cy="4023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  Unique danger: Anna submits a form, later edits it to remove her medical reason. The current WFElements row is clean. But WFHistoryElements still holds the original value permanently — 3 snapshots × all PII columns — reconstructible by any COMPANY NAME user without RLS.</a:t>
            </a:r>
            <a:endParaRPr lang="en-US" sz="950" dirty="0"/>
          </a:p>
        </p:txBody>
      </p:sp>
      <p:sp>
        <p:nvSpPr>
          <p:cNvPr id="9" name="Shape 7"/>
          <p:cNvSpPr/>
          <p:nvPr/>
        </p:nvSpPr>
        <p:spPr>
          <a:xfrm>
            <a:off x="274320" y="1719072"/>
            <a:ext cx="2834640" cy="2907792"/>
          </a:xfrm>
          <a:prstGeom prst="rect">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274320" y="1719072"/>
            <a:ext cx="2834640" cy="310896"/>
          </a:xfrm>
          <a:prstGeom prst="rect">
            <a:avLst/>
          </a:prstGeom>
          <a:solidFill>
            <a:srgbClr val="FFEBEE"/>
          </a:solidFill>
          <a:ln/>
        </p:spPr>
      </p:sp>
      <p:sp>
        <p:nvSpPr>
          <p:cNvPr id="11" name="Text 9"/>
          <p:cNvSpPr/>
          <p:nvPr/>
        </p:nvSpPr>
        <p:spPr>
          <a:xfrm>
            <a:off x="365760" y="1719072"/>
            <a:ext cx="2697480" cy="310896"/>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3 Snapshots from Anna's Case</a:t>
            </a:r>
            <a:endParaRPr lang="en-US" sz="900" dirty="0"/>
          </a:p>
        </p:txBody>
      </p:sp>
      <p:sp>
        <p:nvSpPr>
          <p:cNvPr id="12" name="Shape 10"/>
          <p:cNvSpPr/>
          <p:nvPr/>
        </p:nvSpPr>
        <p:spPr>
          <a:xfrm>
            <a:off x="347472" y="2084832"/>
            <a:ext cx="2679192" cy="237744"/>
          </a:xfrm>
          <a:prstGeom prst="rect">
            <a:avLst/>
          </a:prstGeom>
          <a:solidFill>
            <a:srgbClr val="F0E6FF"/>
          </a:solidFill>
          <a:ln/>
        </p:spPr>
      </p:sp>
      <p:sp>
        <p:nvSpPr>
          <p:cNvPr id="13" name="Text 11"/>
          <p:cNvSpPr/>
          <p:nvPr/>
        </p:nvSpPr>
        <p:spPr>
          <a:xfrm>
            <a:off x="384048" y="2084832"/>
            <a:ext cx="2606040" cy="237744"/>
          </a:xfrm>
          <a:prstGeom prst="rect">
            <a:avLst/>
          </a:prstGeom>
          <a:noFill/>
          <a:ln/>
        </p:spPr>
        <p:txBody>
          <a:bodyPr wrap="square" rtlCol="0" anchor="ctr"/>
          <a:lstStyle/>
          <a:p>
            <a:pPr marL="0" indent="0">
              <a:buNone/>
            </a:pPr>
            <a:r>
              <a:rPr lang="en-US" sz="850" b="1" dirty="0">
                <a:solidFill>
                  <a:srgbClr val="4A235A"/>
                </a:solidFill>
                <a:latin typeface="Calibri" pitchFamily="34" charset="0"/>
                <a:ea typeface="Calibri" pitchFamily="34" charset="-122"/>
                <a:cs typeface="Calibri" pitchFamily="34" charset="-120"/>
              </a:rPr>
              <a:t>Step 1 — Submitted</a:t>
            </a:r>
            <a:endParaRPr lang="en-US" sz="850" dirty="0"/>
          </a:p>
        </p:txBody>
      </p:sp>
      <p:sp>
        <p:nvSpPr>
          <p:cNvPr id="14" name="Text 12"/>
          <p:cNvSpPr/>
          <p:nvPr/>
        </p:nvSpPr>
        <p:spPr>
          <a:xfrm>
            <a:off x="384048" y="2340864"/>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Anna Schmidt 🔴</a:t>
            </a:r>
            <a:endParaRPr lang="en-US" sz="750" dirty="0"/>
          </a:p>
        </p:txBody>
      </p:sp>
      <p:sp>
        <p:nvSpPr>
          <p:cNvPr id="15" name="Text 13"/>
          <p:cNvSpPr/>
          <p:nvPr/>
        </p:nvSpPr>
        <p:spPr>
          <a:xfrm>
            <a:off x="384048" y="2523744"/>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Hypertension 🔴</a:t>
            </a:r>
            <a:endParaRPr lang="en-US" sz="750" dirty="0"/>
          </a:p>
        </p:txBody>
      </p:sp>
      <p:sp>
        <p:nvSpPr>
          <p:cNvPr id="16" name="Text 14"/>
          <p:cNvSpPr/>
          <p:nvPr/>
        </p:nvSpPr>
        <p:spPr>
          <a:xfrm>
            <a:off x="384048" y="2706624"/>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85,000 EUR 🔴</a:t>
            </a:r>
            <a:endParaRPr lang="en-US" sz="750" dirty="0"/>
          </a:p>
        </p:txBody>
      </p:sp>
      <p:sp>
        <p:nvSpPr>
          <p:cNvPr id="17" name="Shape 15"/>
          <p:cNvSpPr/>
          <p:nvPr/>
        </p:nvSpPr>
        <p:spPr>
          <a:xfrm>
            <a:off x="347472" y="2962656"/>
            <a:ext cx="2679192" cy="237744"/>
          </a:xfrm>
          <a:prstGeom prst="rect">
            <a:avLst/>
          </a:prstGeom>
          <a:solidFill>
            <a:srgbClr val="F0E6FF"/>
          </a:solidFill>
          <a:ln/>
        </p:spPr>
      </p:sp>
      <p:sp>
        <p:nvSpPr>
          <p:cNvPr id="18" name="Text 16"/>
          <p:cNvSpPr/>
          <p:nvPr/>
        </p:nvSpPr>
        <p:spPr>
          <a:xfrm>
            <a:off x="384048" y="2962656"/>
            <a:ext cx="2606040" cy="237744"/>
          </a:xfrm>
          <a:prstGeom prst="rect">
            <a:avLst/>
          </a:prstGeom>
          <a:noFill/>
          <a:ln/>
        </p:spPr>
        <p:txBody>
          <a:bodyPr wrap="square" rtlCol="0" anchor="ctr"/>
          <a:lstStyle/>
          <a:p>
            <a:pPr marL="0" indent="0">
              <a:buNone/>
            </a:pPr>
            <a:r>
              <a:rPr lang="en-US" sz="850" b="1" dirty="0">
                <a:solidFill>
                  <a:srgbClr val="4A235A"/>
                </a:solidFill>
                <a:latin typeface="Calibri" pitchFamily="34" charset="0"/>
                <a:ea typeface="Calibri" pitchFamily="34" charset="-122"/>
                <a:cs typeface="Calibri" pitchFamily="34" charset="-120"/>
              </a:rPr>
              <a:t>Step 2 — Mgr Approved</a:t>
            </a:r>
            <a:endParaRPr lang="en-US" sz="850" dirty="0"/>
          </a:p>
        </p:txBody>
      </p:sp>
      <p:sp>
        <p:nvSpPr>
          <p:cNvPr id="19" name="Text 17"/>
          <p:cNvSpPr/>
          <p:nvPr/>
        </p:nvSpPr>
        <p:spPr>
          <a:xfrm>
            <a:off x="384048" y="3218688"/>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Anna Schmidt 🔴</a:t>
            </a:r>
            <a:endParaRPr lang="en-US" sz="750" dirty="0"/>
          </a:p>
        </p:txBody>
      </p:sp>
      <p:sp>
        <p:nvSpPr>
          <p:cNvPr id="20" name="Text 18"/>
          <p:cNvSpPr/>
          <p:nvPr/>
        </p:nvSpPr>
        <p:spPr>
          <a:xfrm>
            <a:off x="384048" y="3401568"/>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Hypertension 🔴</a:t>
            </a:r>
            <a:endParaRPr lang="en-US" sz="750" dirty="0"/>
          </a:p>
        </p:txBody>
      </p:sp>
      <p:sp>
        <p:nvSpPr>
          <p:cNvPr id="21" name="Text 19"/>
          <p:cNvSpPr/>
          <p:nvPr/>
        </p:nvSpPr>
        <p:spPr>
          <a:xfrm>
            <a:off x="384048" y="3584448"/>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85,000 EUR 🔴</a:t>
            </a:r>
            <a:endParaRPr lang="en-US" sz="750" dirty="0"/>
          </a:p>
        </p:txBody>
      </p:sp>
      <p:sp>
        <p:nvSpPr>
          <p:cNvPr id="22" name="Shape 20"/>
          <p:cNvSpPr/>
          <p:nvPr/>
        </p:nvSpPr>
        <p:spPr>
          <a:xfrm>
            <a:off x="347472" y="3840480"/>
            <a:ext cx="2679192" cy="237744"/>
          </a:xfrm>
          <a:prstGeom prst="rect">
            <a:avLst/>
          </a:prstGeom>
          <a:solidFill>
            <a:srgbClr val="F0E6FF"/>
          </a:solidFill>
          <a:ln/>
        </p:spPr>
      </p:sp>
      <p:sp>
        <p:nvSpPr>
          <p:cNvPr id="23" name="Text 21"/>
          <p:cNvSpPr/>
          <p:nvPr/>
        </p:nvSpPr>
        <p:spPr>
          <a:xfrm>
            <a:off x="384048" y="3840480"/>
            <a:ext cx="2606040" cy="237744"/>
          </a:xfrm>
          <a:prstGeom prst="rect">
            <a:avLst/>
          </a:prstGeom>
          <a:noFill/>
          <a:ln/>
        </p:spPr>
        <p:txBody>
          <a:bodyPr wrap="square" rtlCol="0" anchor="ctr"/>
          <a:lstStyle/>
          <a:p>
            <a:pPr marL="0" indent="0">
              <a:buNone/>
            </a:pPr>
            <a:r>
              <a:rPr lang="en-US" sz="850" b="1" dirty="0">
                <a:solidFill>
                  <a:srgbClr val="4A235A"/>
                </a:solidFill>
                <a:latin typeface="Calibri" pitchFamily="34" charset="0"/>
                <a:ea typeface="Calibri" pitchFamily="34" charset="-122"/>
                <a:cs typeface="Calibri" pitchFamily="34" charset="-120"/>
              </a:rPr>
              <a:t>Step 3 — HR Confirmed</a:t>
            </a:r>
            <a:endParaRPr lang="en-US" sz="850" dirty="0"/>
          </a:p>
        </p:txBody>
      </p:sp>
      <p:sp>
        <p:nvSpPr>
          <p:cNvPr id="24" name="Text 22"/>
          <p:cNvSpPr/>
          <p:nvPr/>
        </p:nvSpPr>
        <p:spPr>
          <a:xfrm>
            <a:off x="384048" y="4096512"/>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Anna Schmidt 🔴</a:t>
            </a:r>
            <a:endParaRPr lang="en-US" sz="750" dirty="0"/>
          </a:p>
        </p:txBody>
      </p:sp>
      <p:sp>
        <p:nvSpPr>
          <p:cNvPr id="25" name="Text 23"/>
          <p:cNvSpPr/>
          <p:nvPr/>
        </p:nvSpPr>
        <p:spPr>
          <a:xfrm>
            <a:off x="384048" y="4279392"/>
            <a:ext cx="2606040" cy="173736"/>
          </a:xfrm>
          <a:prstGeom prst="rect">
            <a:avLst/>
          </a:prstGeom>
          <a:noFill/>
          <a:ln/>
        </p:spPr>
        <p:txBody>
          <a:bodyPr wrap="square" rtlCol="0" anchor="ctr"/>
          <a:lstStyle/>
          <a:p>
            <a:pPr marL="0" indent="0">
              <a:buNone/>
            </a:pPr>
            <a:r>
              <a:rPr lang="en-US" sz="750" dirty="0">
                <a:solidFill>
                  <a:srgbClr val="6B7C93"/>
                </a:solidFill>
                <a:latin typeface="Calibri" pitchFamily="34" charset="0"/>
                <a:ea typeface="Calibri" pitchFamily="34" charset="-122"/>
                <a:cs typeface="Calibri" pitchFamily="34" charset="-120"/>
              </a:rPr>
              <a:t>  (field cleared)</a:t>
            </a:r>
            <a:endParaRPr lang="en-US" sz="750" dirty="0"/>
          </a:p>
        </p:txBody>
      </p:sp>
      <p:sp>
        <p:nvSpPr>
          <p:cNvPr id="26" name="Text 24"/>
          <p:cNvSpPr/>
          <p:nvPr/>
        </p:nvSpPr>
        <p:spPr>
          <a:xfrm>
            <a:off x="384048" y="4462272"/>
            <a:ext cx="2606040" cy="173736"/>
          </a:xfrm>
          <a:prstGeom prst="rect">
            <a:avLst/>
          </a:prstGeom>
          <a:noFill/>
          <a:ln/>
        </p:spPr>
        <p:txBody>
          <a:bodyPr wrap="square" rtlCol="0" anchor="ctr"/>
          <a:lstStyle/>
          <a:p>
            <a:pPr marL="0" indent="0">
              <a:buNone/>
            </a:pPr>
            <a:r>
              <a:rPr lang="en-US" sz="750" dirty="0">
                <a:solidFill>
                  <a:srgbClr val="C0392B"/>
                </a:solidFill>
                <a:latin typeface="Calibri" pitchFamily="34" charset="0"/>
                <a:ea typeface="Calibri" pitchFamily="34" charset="-122"/>
                <a:cs typeface="Calibri" pitchFamily="34" charset="-120"/>
              </a:rPr>
              <a:t>  85,000 EUR 🔴</a:t>
            </a:r>
            <a:endParaRPr lang="en-US" sz="750" dirty="0"/>
          </a:p>
        </p:txBody>
      </p:sp>
      <p:sp>
        <p:nvSpPr>
          <p:cNvPr id="27" name="Shape 25"/>
          <p:cNvSpPr/>
          <p:nvPr/>
        </p:nvSpPr>
        <p:spPr>
          <a:xfrm>
            <a:off x="3337560" y="1719072"/>
            <a:ext cx="2788920" cy="2907792"/>
          </a:xfrm>
          <a:prstGeom prst="rect">
            <a:avLst/>
          </a:prstGeom>
          <a:solidFill>
            <a:srgbClr val="FFFFFF"/>
          </a:solidFill>
          <a:ln/>
          <a:effectLst>
            <a:outerShdw blurRad="101600" dist="38100" dir="8100000" algn="bl" rotWithShape="0">
              <a:srgbClr val="000000">
                <a:alpha val="12000"/>
              </a:srgbClr>
            </a:outerShdw>
          </a:effectLst>
        </p:spPr>
      </p:sp>
      <p:sp>
        <p:nvSpPr>
          <p:cNvPr id="28" name="Shape 26"/>
          <p:cNvSpPr/>
          <p:nvPr/>
        </p:nvSpPr>
        <p:spPr>
          <a:xfrm>
            <a:off x="3337560" y="1719072"/>
            <a:ext cx="2788920" cy="310896"/>
          </a:xfrm>
          <a:prstGeom prst="rect">
            <a:avLst/>
          </a:prstGeom>
          <a:solidFill>
            <a:srgbClr val="E8F5E9"/>
          </a:solidFill>
          <a:ln/>
        </p:spPr>
      </p:sp>
      <p:sp>
        <p:nvSpPr>
          <p:cNvPr id="29" name="Text 27"/>
          <p:cNvSpPr/>
          <p:nvPr/>
        </p:nvSpPr>
        <p:spPr>
          <a:xfrm>
            <a:off x="3429000" y="1719072"/>
            <a:ext cx="2651760" cy="310896"/>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Fix — Direct RLS (mirrors WFElements)</a:t>
            </a:r>
            <a:endParaRPr lang="en-US" sz="900" dirty="0"/>
          </a:p>
        </p:txBody>
      </p:sp>
      <p:sp>
        <p:nvSpPr>
          <p:cNvPr id="30" name="Shape 28"/>
          <p:cNvSpPr/>
          <p:nvPr/>
        </p:nvSpPr>
        <p:spPr>
          <a:xfrm>
            <a:off x="3401568" y="2084832"/>
            <a:ext cx="2651760" cy="2487168"/>
          </a:xfrm>
          <a:prstGeom prst="rect">
            <a:avLst/>
          </a:prstGeom>
          <a:solidFill>
            <a:srgbClr val="F6F9FC"/>
          </a:solidFill>
          <a:ln/>
        </p:spPr>
      </p:sp>
      <p:sp>
        <p:nvSpPr>
          <p:cNvPr id="31" name="Text 29"/>
          <p:cNvSpPr/>
          <p:nvPr/>
        </p:nvSpPr>
        <p:spPr>
          <a:xfrm>
            <a:off x="3447288" y="2103120"/>
            <a:ext cx="2578608" cy="2441448"/>
          </a:xfrm>
          <a:prstGeom prst="rect">
            <a:avLst/>
          </a:prstGeom>
          <a:noFill/>
          <a:ln/>
        </p:spPr>
        <p:txBody>
          <a:bodyPr wrap="square" rtlCol="0" anchor="t"/>
          <a:lstStyle/>
          <a:p>
            <a:pPr marL="0" indent="0">
              <a:buNone/>
            </a:pPr>
            <a:r>
              <a:rPr lang="en-US" sz="750" dirty="0">
                <a:solidFill>
                  <a:srgbClr val="1A3A5C"/>
                </a:solidFill>
                <a:latin typeface="Consolas" pitchFamily="34" charset="0"/>
                <a:ea typeface="Consolas" pitchFamily="34" charset="-122"/>
                <a:cs typeface="Consolas" pitchFamily="34" charset="-120"/>
              </a:rPr>
              <a:t>-- Uses cfg_SensitiveProcessIDs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Same list as WFElements RLS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One INSERT protects both</a:t>
            </a:r>
            <a:endParaRPr lang="en-US" sz="750" dirty="0"/>
          </a:p>
          <a:p>
            <a:pPr marL="0" indent="0">
              <a:buNone/>
            </a:pP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CREATE FUNCTION</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fn_WFHistory_AccessPolicy</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(@FormTypeID INT)</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RETURNS TABLE</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WITH SCHEMABINDING AS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RETURN</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SELECT 1 AS Result</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WHERE</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IS_MEMBER(</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'COMPANY NAME\EEA_Users') = 1</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OR (</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IS_MEMBER(</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'COMPANY NAME\NonEEA') = 1</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AND @FormTypeID NOT IN (</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SELECT ProcessID</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FROM cfg_SensitiveProcessIDs</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a:t>
            </a:r>
            <a:endParaRPr lang="en-US" sz="750" dirty="0"/>
          </a:p>
          <a:p>
            <a:pPr marL="0" indent="0">
              <a:buNone/>
            </a:pPr>
            <a:r>
              <a:rPr lang="en-US" sz="750" dirty="0">
                <a:solidFill>
                  <a:srgbClr val="1A3A5C"/>
                </a:solidFill>
                <a:latin typeface="Consolas" pitchFamily="34" charset="0"/>
                <a:ea typeface="Consolas" pitchFamily="34" charset="-122"/>
                <a:cs typeface="Consolas" pitchFamily="34" charset="-120"/>
              </a:rPr>
              <a:t>    );</a:t>
            </a:r>
            <a:endParaRPr lang="en-US" sz="750" dirty="0"/>
          </a:p>
        </p:txBody>
      </p:sp>
      <p:sp>
        <p:nvSpPr>
          <p:cNvPr id="32" name="Shape 30"/>
          <p:cNvSpPr/>
          <p:nvPr/>
        </p:nvSpPr>
        <p:spPr>
          <a:xfrm>
            <a:off x="6355080" y="1719072"/>
            <a:ext cx="2532888" cy="2907792"/>
          </a:xfrm>
          <a:prstGeom prst="rect">
            <a:avLst/>
          </a:prstGeom>
          <a:solidFill>
            <a:srgbClr val="FFFFFF"/>
          </a:solidFill>
          <a:ln/>
          <a:effectLst>
            <a:outerShdw blurRad="101600" dist="38100" dir="8100000" algn="bl" rotWithShape="0">
              <a:srgbClr val="000000">
                <a:alpha val="12000"/>
              </a:srgbClr>
            </a:outerShdw>
          </a:effectLst>
        </p:spPr>
      </p:sp>
      <p:sp>
        <p:nvSpPr>
          <p:cNvPr id="33" name="Shape 31"/>
          <p:cNvSpPr/>
          <p:nvPr/>
        </p:nvSpPr>
        <p:spPr>
          <a:xfrm>
            <a:off x="6355080" y="1719072"/>
            <a:ext cx="2532888" cy="310896"/>
          </a:xfrm>
          <a:prstGeom prst="rect">
            <a:avLst/>
          </a:prstGeom>
          <a:solidFill>
            <a:srgbClr val="E8F5E9"/>
          </a:solidFill>
          <a:ln/>
        </p:spPr>
      </p:sp>
      <p:sp>
        <p:nvSpPr>
          <p:cNvPr id="34" name="Text 32"/>
          <p:cNvSpPr/>
          <p:nvPr/>
        </p:nvSpPr>
        <p:spPr>
          <a:xfrm>
            <a:off x="6446520" y="1719072"/>
            <a:ext cx="2395728" cy="310896"/>
          </a:xfrm>
          <a:prstGeom prst="rect">
            <a:avLst/>
          </a:prstGeom>
          <a:noFill/>
          <a:ln/>
        </p:spPr>
        <p:txBody>
          <a:bodyPr wrap="square" rtlCol="0" anchor="ctr"/>
          <a:lstStyle/>
          <a:p>
            <a:pPr marL="0" indent="0">
              <a:buNone/>
            </a:pPr>
            <a:r>
              <a:rPr lang="en-US" sz="900" b="1" dirty="0">
                <a:solidFill>
                  <a:srgbClr val="1B7A4A"/>
                </a:solidFill>
                <a:latin typeface="Calibri" pitchFamily="34" charset="0"/>
                <a:ea typeface="Calibri" pitchFamily="34" charset="-122"/>
                <a:cs typeface="Calibri" pitchFamily="34" charset="-120"/>
              </a:rPr>
              <a:t>IT Support Impact — Zero</a:t>
            </a:r>
            <a:endParaRPr lang="en-US" sz="900" dirty="0"/>
          </a:p>
        </p:txBody>
      </p:sp>
      <p:sp>
        <p:nvSpPr>
          <p:cNvPr id="35" name="Text 33"/>
          <p:cNvSpPr/>
          <p:nvPr/>
        </p:nvSpPr>
        <p:spPr>
          <a:xfrm>
            <a:off x="6446520" y="2084832"/>
            <a:ext cx="2395728" cy="384048"/>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IT Helpdesk &amp; Procurement process IDs are NOT in cfg_SensitiveProcessIDs.</a:t>
            </a:r>
            <a:endParaRPr lang="en-US" sz="900" dirty="0"/>
          </a:p>
        </p:txBody>
      </p:sp>
      <p:sp>
        <p:nvSpPr>
          <p:cNvPr id="36" name="Shape 34"/>
          <p:cNvSpPr/>
          <p:nvPr/>
        </p:nvSpPr>
        <p:spPr>
          <a:xfrm>
            <a:off x="6419088" y="2542032"/>
            <a:ext cx="2395728" cy="365760"/>
          </a:xfrm>
          <a:prstGeom prst="rect">
            <a:avLst/>
          </a:prstGeom>
          <a:solidFill>
            <a:srgbClr val="F0FFF4"/>
          </a:solidFill>
          <a:ln w="3810">
            <a:solidFill>
              <a:srgbClr val="E0E0E0"/>
            </a:solidFill>
            <a:prstDash val="solid"/>
          </a:ln>
        </p:spPr>
      </p:sp>
      <p:sp>
        <p:nvSpPr>
          <p:cNvPr id="37" name="Text 35"/>
          <p:cNvSpPr/>
          <p:nvPr/>
        </p:nvSpPr>
        <p:spPr>
          <a:xfrm>
            <a:off x="6464808" y="2551176"/>
            <a:ext cx="2304288" cy="182880"/>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COMPANY NAME queries IT ticket history?</a:t>
            </a:r>
            <a:endParaRPr lang="en-US" sz="750" dirty="0"/>
          </a:p>
        </p:txBody>
      </p:sp>
      <p:sp>
        <p:nvSpPr>
          <p:cNvPr id="38" name="Text 36"/>
          <p:cNvSpPr/>
          <p:nvPr/>
        </p:nvSpPr>
        <p:spPr>
          <a:xfrm>
            <a:off x="6464808" y="2734056"/>
            <a:ext cx="2304288" cy="164592"/>
          </a:xfrm>
          <a:prstGeom prst="rect">
            <a:avLst/>
          </a:prstGeom>
          <a:noFill/>
          <a:ln/>
        </p:spPr>
        <p:txBody>
          <a:bodyPr wrap="square" rtlCol="0" anchor="ctr"/>
          <a:lstStyle/>
          <a:p>
            <a:pPr marL="0" indent="0">
              <a:buNone/>
            </a:pPr>
            <a:r>
              <a:rPr lang="en-US" sz="750" b="1" dirty="0">
                <a:solidFill>
                  <a:srgbClr val="1B7A4A"/>
                </a:solidFill>
                <a:latin typeface="Calibri" pitchFamily="34" charset="0"/>
                <a:ea typeface="Calibri" pitchFamily="34" charset="-122"/>
                <a:cs typeface="Calibri" pitchFamily="34" charset="-120"/>
              </a:rPr>
              <a:t>✔ Full history returned</a:t>
            </a:r>
            <a:endParaRPr lang="en-US" sz="750" dirty="0"/>
          </a:p>
        </p:txBody>
      </p:sp>
      <p:sp>
        <p:nvSpPr>
          <p:cNvPr id="39" name="Shape 37"/>
          <p:cNvSpPr/>
          <p:nvPr/>
        </p:nvSpPr>
        <p:spPr>
          <a:xfrm>
            <a:off x="6419088" y="2944368"/>
            <a:ext cx="2395728" cy="365760"/>
          </a:xfrm>
          <a:prstGeom prst="rect">
            <a:avLst/>
          </a:prstGeom>
          <a:solidFill>
            <a:srgbClr val="F0FFF4"/>
          </a:solidFill>
          <a:ln w="3810">
            <a:solidFill>
              <a:srgbClr val="E0E0E0"/>
            </a:solidFill>
            <a:prstDash val="solid"/>
          </a:ln>
        </p:spPr>
      </p:sp>
      <p:sp>
        <p:nvSpPr>
          <p:cNvPr id="40" name="Text 38"/>
          <p:cNvSpPr/>
          <p:nvPr/>
        </p:nvSpPr>
        <p:spPr>
          <a:xfrm>
            <a:off x="6464808" y="2953512"/>
            <a:ext cx="2304288" cy="182880"/>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COMPANY NAME diagnoses step failures?</a:t>
            </a:r>
            <a:endParaRPr lang="en-US" sz="750" dirty="0"/>
          </a:p>
        </p:txBody>
      </p:sp>
      <p:sp>
        <p:nvSpPr>
          <p:cNvPr id="41" name="Text 39"/>
          <p:cNvSpPr/>
          <p:nvPr/>
        </p:nvSpPr>
        <p:spPr>
          <a:xfrm>
            <a:off x="6464808" y="3136392"/>
            <a:ext cx="2304288" cy="164592"/>
          </a:xfrm>
          <a:prstGeom prst="rect">
            <a:avLst/>
          </a:prstGeom>
          <a:noFill/>
          <a:ln/>
        </p:spPr>
        <p:txBody>
          <a:bodyPr wrap="square" rtlCol="0" anchor="ctr"/>
          <a:lstStyle/>
          <a:p>
            <a:pPr marL="0" indent="0">
              <a:buNone/>
            </a:pPr>
            <a:r>
              <a:rPr lang="en-US" sz="750" b="1" dirty="0">
                <a:solidFill>
                  <a:srgbClr val="1B7A4A"/>
                </a:solidFill>
                <a:latin typeface="Calibri" pitchFamily="34" charset="0"/>
                <a:ea typeface="Calibri" pitchFamily="34" charset="-122"/>
                <a:cs typeface="Calibri" pitchFamily="34" charset="-120"/>
              </a:rPr>
              <a:t>✔ WFH_StepName visible</a:t>
            </a:r>
            <a:endParaRPr lang="en-US" sz="750" dirty="0"/>
          </a:p>
        </p:txBody>
      </p:sp>
      <p:sp>
        <p:nvSpPr>
          <p:cNvPr id="42" name="Shape 40"/>
          <p:cNvSpPr/>
          <p:nvPr/>
        </p:nvSpPr>
        <p:spPr>
          <a:xfrm>
            <a:off x="6419088" y="3346704"/>
            <a:ext cx="2395728" cy="365760"/>
          </a:xfrm>
          <a:prstGeom prst="rect">
            <a:avLst/>
          </a:prstGeom>
          <a:solidFill>
            <a:srgbClr val="F0FFF4"/>
          </a:solidFill>
          <a:ln w="3810">
            <a:solidFill>
              <a:srgbClr val="E0E0E0"/>
            </a:solidFill>
            <a:prstDash val="solid"/>
          </a:ln>
        </p:spPr>
      </p:sp>
      <p:sp>
        <p:nvSpPr>
          <p:cNvPr id="43" name="Text 41"/>
          <p:cNvSpPr/>
          <p:nvPr/>
        </p:nvSpPr>
        <p:spPr>
          <a:xfrm>
            <a:off x="6464808" y="3355848"/>
            <a:ext cx="2304288" cy="182880"/>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COMPANY NAME sees who approved tickets?</a:t>
            </a:r>
            <a:endParaRPr lang="en-US" sz="750" dirty="0"/>
          </a:p>
        </p:txBody>
      </p:sp>
      <p:sp>
        <p:nvSpPr>
          <p:cNvPr id="44" name="Text 42"/>
          <p:cNvSpPr/>
          <p:nvPr/>
        </p:nvSpPr>
        <p:spPr>
          <a:xfrm>
            <a:off x="6464808" y="3538728"/>
            <a:ext cx="2304288" cy="164592"/>
          </a:xfrm>
          <a:prstGeom prst="rect">
            <a:avLst/>
          </a:prstGeom>
          <a:noFill/>
          <a:ln/>
        </p:spPr>
        <p:txBody>
          <a:bodyPr wrap="square" rtlCol="0" anchor="ctr"/>
          <a:lstStyle/>
          <a:p>
            <a:pPr marL="0" indent="0">
              <a:buNone/>
            </a:pPr>
            <a:r>
              <a:rPr lang="en-US" sz="750" b="1" dirty="0">
                <a:solidFill>
                  <a:srgbClr val="1B7A4A"/>
                </a:solidFill>
                <a:latin typeface="Calibri" pitchFamily="34" charset="0"/>
                <a:ea typeface="Calibri" pitchFamily="34" charset="-122"/>
                <a:cs typeface="Calibri" pitchFamily="34" charset="-120"/>
              </a:rPr>
              <a:t>✔ WFH_User returned</a:t>
            </a:r>
            <a:endParaRPr lang="en-US" sz="750" dirty="0"/>
          </a:p>
        </p:txBody>
      </p:sp>
      <p:sp>
        <p:nvSpPr>
          <p:cNvPr id="45" name="Shape 43"/>
          <p:cNvSpPr/>
          <p:nvPr/>
        </p:nvSpPr>
        <p:spPr>
          <a:xfrm>
            <a:off x="6419088" y="3749040"/>
            <a:ext cx="2395728" cy="365760"/>
          </a:xfrm>
          <a:prstGeom prst="rect">
            <a:avLst/>
          </a:prstGeom>
          <a:solidFill>
            <a:srgbClr val="FFF0F0"/>
          </a:solidFill>
          <a:ln w="3810">
            <a:solidFill>
              <a:srgbClr val="E0E0E0"/>
            </a:solidFill>
            <a:prstDash val="solid"/>
          </a:ln>
        </p:spPr>
      </p:sp>
      <p:sp>
        <p:nvSpPr>
          <p:cNvPr id="46" name="Text 44"/>
          <p:cNvSpPr/>
          <p:nvPr/>
        </p:nvSpPr>
        <p:spPr>
          <a:xfrm>
            <a:off x="6464808" y="3758184"/>
            <a:ext cx="2304288" cy="182880"/>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HR case history visible?</a:t>
            </a:r>
            <a:endParaRPr lang="en-US" sz="750" dirty="0"/>
          </a:p>
        </p:txBody>
      </p:sp>
      <p:sp>
        <p:nvSpPr>
          <p:cNvPr id="47" name="Text 45"/>
          <p:cNvSpPr/>
          <p:nvPr/>
        </p:nvSpPr>
        <p:spPr>
          <a:xfrm>
            <a:off x="6464808" y="3941064"/>
            <a:ext cx="2304288" cy="164592"/>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 0 rows — absent</a:t>
            </a:r>
            <a:endParaRPr lang="en-US" sz="750" dirty="0"/>
          </a:p>
        </p:txBody>
      </p:sp>
      <p:sp>
        <p:nvSpPr>
          <p:cNvPr id="48" name="Shape 46"/>
          <p:cNvSpPr/>
          <p:nvPr/>
        </p:nvSpPr>
        <p:spPr>
          <a:xfrm>
            <a:off x="6419088" y="4151376"/>
            <a:ext cx="2395728" cy="365760"/>
          </a:xfrm>
          <a:prstGeom prst="rect">
            <a:avLst/>
          </a:prstGeom>
          <a:solidFill>
            <a:srgbClr val="FFF0F0"/>
          </a:solidFill>
          <a:ln w="3810">
            <a:solidFill>
              <a:srgbClr val="E0E0E0"/>
            </a:solidFill>
            <a:prstDash val="solid"/>
          </a:ln>
        </p:spPr>
      </p:sp>
      <p:sp>
        <p:nvSpPr>
          <p:cNvPr id="49" name="Text 47"/>
          <p:cNvSpPr/>
          <p:nvPr/>
        </p:nvSpPr>
        <p:spPr>
          <a:xfrm>
            <a:off x="6464808" y="4160520"/>
            <a:ext cx="2304288" cy="182880"/>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Payroll approval trail visible?</a:t>
            </a:r>
            <a:endParaRPr lang="en-US" sz="750" dirty="0"/>
          </a:p>
        </p:txBody>
      </p:sp>
      <p:sp>
        <p:nvSpPr>
          <p:cNvPr id="50" name="Text 48"/>
          <p:cNvSpPr/>
          <p:nvPr/>
        </p:nvSpPr>
        <p:spPr>
          <a:xfrm>
            <a:off x="6464808" y="4343400"/>
            <a:ext cx="2304288" cy="164592"/>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 0 rows — absent</a:t>
            </a:r>
            <a:endParaRPr lang="en-US" sz="750" dirty="0"/>
          </a:p>
        </p:txBody>
      </p:sp>
      <p:sp>
        <p:nvSpPr>
          <p:cNvPr id="51" name="Shape 49"/>
          <p:cNvSpPr/>
          <p:nvPr/>
        </p:nvSpPr>
        <p:spPr>
          <a:xfrm>
            <a:off x="274320" y="4690872"/>
            <a:ext cx="8595360" cy="347472"/>
          </a:xfrm>
          <a:prstGeom prst="rect">
            <a:avLst/>
          </a:prstGeom>
          <a:solidFill>
            <a:srgbClr val="1A1A2E"/>
          </a:solidFill>
          <a:ln/>
        </p:spPr>
      </p:sp>
      <p:sp>
        <p:nvSpPr>
          <p:cNvPr id="52" name="Text 50"/>
          <p:cNvSpPr/>
          <p:nvPr/>
        </p:nvSpPr>
        <p:spPr>
          <a:xfrm>
            <a:off x="411480" y="4690872"/>
            <a:ext cx="8412480" cy="347472"/>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DDM mirrors WFElements: WFH_AttDecimal1 (salary) → 0.00  |  WFH_AttLong1 (medical) → xxxx  |  WFH_AttText4 (email) → email() mask</a:t>
            </a:r>
            <a:endParaRPr lang="en-US" sz="900" dirty="0"/>
          </a:p>
        </p:txBody>
      </p:sp>
      <p:sp>
        <p:nvSpPr>
          <p:cNvPr id="53" name="Shape 51"/>
          <p:cNvSpPr/>
          <p:nvPr/>
        </p:nvSpPr>
        <p:spPr>
          <a:xfrm>
            <a:off x="0" y="4828032"/>
            <a:ext cx="9144000" cy="315468"/>
          </a:xfrm>
          <a:prstGeom prst="rect">
            <a:avLst/>
          </a:prstGeom>
          <a:solidFill>
            <a:srgbClr val="009B9E"/>
          </a:solidFill>
          <a:ln/>
        </p:spPr>
      </p:sp>
      <p:sp>
        <p:nvSpPr>
          <p:cNvPr id="54" name="Text 52"/>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55" name="Shape 53"/>
          <p:cNvSpPr/>
          <p:nvPr/>
        </p:nvSpPr>
        <p:spPr>
          <a:xfrm>
            <a:off x="502920" y="4919472"/>
            <a:ext cx="18288" cy="128016"/>
          </a:xfrm>
          <a:prstGeom prst="rect">
            <a:avLst/>
          </a:prstGeom>
          <a:solidFill>
            <a:srgbClr val="FFFFFF"/>
          </a:solidFill>
          <a:ln/>
        </p:spPr>
      </p:sp>
      <p:sp>
        <p:nvSpPr>
          <p:cNvPr id="56" name="Text 54"/>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57" name="Text 55"/>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Shape 1"/>
          <p:cNvSpPr/>
          <p:nvPr/>
        </p:nvSpPr>
        <p:spPr>
          <a:xfrm>
            <a:off x="0" y="0"/>
            <a:ext cx="256032" cy="685800"/>
          </a:xfrm>
          <a:prstGeom prst="rect">
            <a:avLst/>
          </a:prstGeom>
          <a:solidFill>
            <a:srgbClr val="E67E22"/>
          </a:solidFill>
          <a:ln/>
        </p:spPr>
      </p:sp>
      <p:sp>
        <p:nvSpPr>
          <p:cNvPr id="4" name="Text 2"/>
          <p:cNvSpPr/>
          <p:nvPr/>
        </p:nvSpPr>
        <p:spPr>
          <a:xfrm>
            <a:off x="411480" y="0"/>
            <a:ext cx="8503920" cy="685800"/>
          </a:xfrm>
          <a:prstGeom prst="rect">
            <a:avLst/>
          </a:prstGeom>
          <a:noFill/>
          <a:ln/>
        </p:spPr>
        <p:txBody>
          <a:bodyPr wrap="square" rtlCol="0" anchor="ctr"/>
          <a:lstStyle/>
          <a:p>
            <a:pPr marL="0" indent="0">
              <a:buNone/>
            </a:pPr>
            <a:r>
              <a:rPr lang="en-US" sz="1100" b="1" kern="0" spc="150" dirty="0">
                <a:solidFill>
                  <a:srgbClr val="FFFFFF"/>
                </a:solidFill>
                <a:latin typeface="Calibri" pitchFamily="34" charset="0"/>
                <a:ea typeface="Calibri" pitchFamily="34" charset="-122"/>
                <a:cs typeface="Calibri" pitchFamily="34" charset="-120"/>
              </a:rPr>
              <a:t>WFLogs  —  System Operation Log  ·  DEEP DIVE  ⚠  ALMOST ALWAYS MISSED IN ASSESSMENTS</a:t>
            </a:r>
            <a:endParaRPr lang="en-US" sz="1100" dirty="0"/>
          </a:p>
        </p:txBody>
      </p:sp>
      <p:sp>
        <p:nvSpPr>
          <p:cNvPr id="5" name="Text 3"/>
          <p:cNvSpPr/>
          <p:nvPr/>
        </p:nvSpPr>
        <p:spPr>
          <a:xfrm>
            <a:off x="320040" y="768096"/>
            <a:ext cx="8503920" cy="310896"/>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WEBCON logs every engine action — and those log messages may contain raw PII.</a:t>
            </a:r>
            <a:endParaRPr lang="en-US" sz="1300" dirty="0"/>
          </a:p>
        </p:txBody>
      </p:sp>
      <p:sp>
        <p:nvSpPr>
          <p:cNvPr id="6" name="Shape 4"/>
          <p:cNvSpPr/>
          <p:nvPr/>
        </p:nvSpPr>
        <p:spPr>
          <a:xfrm>
            <a:off x="274320" y="1133856"/>
            <a:ext cx="8595360" cy="1207008"/>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274320" y="1133856"/>
            <a:ext cx="8595360" cy="292608"/>
          </a:xfrm>
          <a:prstGeom prst="rect">
            <a:avLst/>
          </a:prstGeom>
          <a:solidFill>
            <a:srgbClr val="FFF3E0"/>
          </a:solidFill>
          <a:ln/>
        </p:spPr>
      </p:sp>
      <p:sp>
        <p:nvSpPr>
          <p:cNvPr id="8" name="Text 6"/>
          <p:cNvSpPr/>
          <p:nvPr/>
        </p:nvSpPr>
        <p:spPr>
          <a:xfrm>
            <a:off x="384048" y="1133856"/>
            <a:ext cx="8321040" cy="292608"/>
          </a:xfrm>
          <a:prstGeom prst="rect">
            <a:avLst/>
          </a:prstGeom>
          <a:noFill/>
          <a:ln/>
        </p:spPr>
        <p:txBody>
          <a:bodyPr wrap="square"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What ends up in WFL_Message — four real scenarios</a:t>
            </a:r>
            <a:endParaRPr lang="en-US" sz="1000" dirty="0"/>
          </a:p>
        </p:txBody>
      </p:sp>
      <p:sp>
        <p:nvSpPr>
          <p:cNvPr id="9" name="Shape 7"/>
          <p:cNvSpPr/>
          <p:nvPr/>
        </p:nvSpPr>
        <p:spPr>
          <a:xfrm>
            <a:off x="347472" y="1481328"/>
            <a:ext cx="4160520" cy="347472"/>
          </a:xfrm>
          <a:prstGeom prst="rect">
            <a:avLst/>
          </a:prstGeom>
          <a:solidFill>
            <a:srgbClr val="FFFAF0"/>
          </a:solidFill>
          <a:ln w="6350">
            <a:solidFill>
              <a:srgbClr val="FFD180"/>
            </a:solidFill>
            <a:prstDash val="solid"/>
          </a:ln>
        </p:spPr>
      </p:sp>
      <p:sp>
        <p:nvSpPr>
          <p:cNvPr id="10" name="Text 8"/>
          <p:cNvSpPr/>
          <p:nvPr/>
        </p:nvSpPr>
        <p:spPr>
          <a:xfrm>
            <a:off x="402336" y="1490472"/>
            <a:ext cx="777240" cy="164592"/>
          </a:xfrm>
          <a:prstGeom prst="rect">
            <a:avLst/>
          </a:prstGeom>
          <a:noFill/>
          <a:ln/>
        </p:spPr>
        <p:txBody>
          <a:bodyPr wrap="square"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Email action: </a:t>
            </a:r>
            <a:endParaRPr lang="en-US" sz="750" dirty="0"/>
          </a:p>
        </p:txBody>
      </p:sp>
      <p:sp>
        <p:nvSpPr>
          <p:cNvPr id="11" name="Text 9"/>
          <p:cNvSpPr/>
          <p:nvPr/>
        </p:nvSpPr>
        <p:spPr>
          <a:xfrm>
            <a:off x="402336" y="1645920"/>
            <a:ext cx="310896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"Email sent to: </a:t>
            </a:r>
            <a:r>
              <a:rPr lang="en-US" sz="680" dirty="0" err="1">
                <a:solidFill>
                  <a:srgbClr val="1A1A2E"/>
                </a:solidFill>
                <a:latin typeface="Consolas" pitchFamily="34" charset="0"/>
                <a:ea typeface="Consolas" pitchFamily="34" charset="-122"/>
                <a:cs typeface="Consolas" pitchFamily="34" charset="-120"/>
              </a:rPr>
              <a:t>anna.schmidt@COMPANY</a:t>
            </a:r>
            <a:r>
              <a:rPr lang="en-US" sz="680" dirty="0">
                <a:solidFill>
                  <a:srgbClr val="1A1A2E"/>
                </a:solidFill>
                <a:latin typeface="Consolas" pitchFamily="34" charset="0"/>
                <a:ea typeface="Consolas" pitchFamily="34" charset="-122"/>
                <a:cs typeface="Consolas" pitchFamily="34" charset="-120"/>
              </a:rPr>
              <a:t> NAME.com — Subject: Leave Request Approved"</a:t>
            </a:r>
            <a:endParaRPr lang="en-US" sz="680" dirty="0"/>
          </a:p>
        </p:txBody>
      </p:sp>
      <p:sp>
        <p:nvSpPr>
          <p:cNvPr id="12" name="Text 10"/>
          <p:cNvSpPr/>
          <p:nvPr/>
        </p:nvSpPr>
        <p:spPr>
          <a:xfrm>
            <a:off x="3547872" y="1554480"/>
            <a:ext cx="896112" cy="20116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 Personal email</a:t>
            </a:r>
            <a:endParaRPr lang="en-US" sz="750" dirty="0"/>
          </a:p>
        </p:txBody>
      </p:sp>
      <p:sp>
        <p:nvSpPr>
          <p:cNvPr id="13" name="Shape 11"/>
          <p:cNvSpPr/>
          <p:nvPr/>
        </p:nvSpPr>
        <p:spPr>
          <a:xfrm>
            <a:off x="4663440" y="1481328"/>
            <a:ext cx="4160520" cy="347472"/>
          </a:xfrm>
          <a:prstGeom prst="rect">
            <a:avLst/>
          </a:prstGeom>
          <a:solidFill>
            <a:srgbClr val="FFFAF0"/>
          </a:solidFill>
          <a:ln w="6350">
            <a:solidFill>
              <a:srgbClr val="FFD180"/>
            </a:solidFill>
            <a:prstDash val="solid"/>
          </a:ln>
        </p:spPr>
      </p:sp>
      <p:sp>
        <p:nvSpPr>
          <p:cNvPr id="14" name="Text 12"/>
          <p:cNvSpPr/>
          <p:nvPr/>
        </p:nvSpPr>
        <p:spPr>
          <a:xfrm>
            <a:off x="4718304" y="1490472"/>
            <a:ext cx="777240" cy="164592"/>
          </a:xfrm>
          <a:prstGeom prst="rect">
            <a:avLst/>
          </a:prstGeom>
          <a:noFill/>
          <a:ln/>
        </p:spPr>
        <p:txBody>
          <a:bodyPr wrap="square"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SQL action: </a:t>
            </a:r>
            <a:endParaRPr lang="en-US" sz="750" dirty="0"/>
          </a:p>
        </p:txBody>
      </p:sp>
      <p:sp>
        <p:nvSpPr>
          <p:cNvPr id="15" name="Text 13"/>
          <p:cNvSpPr/>
          <p:nvPr/>
        </p:nvSpPr>
        <p:spPr>
          <a:xfrm>
            <a:off x="4718304" y="1645920"/>
            <a:ext cx="310896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"Executed: UPDATE Payroll SET salary=85000 WHERE emp='anna.schmidt'"</a:t>
            </a:r>
            <a:endParaRPr lang="en-US" sz="680" dirty="0"/>
          </a:p>
        </p:txBody>
      </p:sp>
      <p:sp>
        <p:nvSpPr>
          <p:cNvPr id="16" name="Text 14"/>
          <p:cNvSpPr/>
          <p:nvPr/>
        </p:nvSpPr>
        <p:spPr>
          <a:xfrm>
            <a:off x="7863840" y="1554480"/>
            <a:ext cx="896112" cy="20116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 Salary in SQL</a:t>
            </a:r>
            <a:endParaRPr lang="en-US" sz="750" dirty="0"/>
          </a:p>
        </p:txBody>
      </p:sp>
      <p:sp>
        <p:nvSpPr>
          <p:cNvPr id="17" name="Shape 15"/>
          <p:cNvSpPr/>
          <p:nvPr/>
        </p:nvSpPr>
        <p:spPr>
          <a:xfrm>
            <a:off x="347472" y="1901952"/>
            <a:ext cx="4160520" cy="347472"/>
          </a:xfrm>
          <a:prstGeom prst="rect">
            <a:avLst/>
          </a:prstGeom>
          <a:solidFill>
            <a:srgbClr val="FFFAF0"/>
          </a:solidFill>
          <a:ln w="6350">
            <a:solidFill>
              <a:srgbClr val="FFD180"/>
            </a:solidFill>
            <a:prstDash val="solid"/>
          </a:ln>
        </p:spPr>
      </p:sp>
      <p:sp>
        <p:nvSpPr>
          <p:cNvPr id="18" name="Text 16"/>
          <p:cNvSpPr/>
          <p:nvPr/>
        </p:nvSpPr>
        <p:spPr>
          <a:xfrm>
            <a:off x="402336" y="1911096"/>
            <a:ext cx="777240" cy="164592"/>
          </a:xfrm>
          <a:prstGeom prst="rect">
            <a:avLst/>
          </a:prstGeom>
          <a:noFill/>
          <a:ln/>
        </p:spPr>
        <p:txBody>
          <a:bodyPr wrap="square"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REST action: </a:t>
            </a:r>
            <a:endParaRPr lang="en-US" sz="750" dirty="0"/>
          </a:p>
        </p:txBody>
      </p:sp>
      <p:sp>
        <p:nvSpPr>
          <p:cNvPr id="19" name="Text 17"/>
          <p:cNvSpPr/>
          <p:nvPr/>
        </p:nvSpPr>
        <p:spPr>
          <a:xfrm>
            <a:off x="402336" y="2066544"/>
            <a:ext cx="310896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"POST /hr-api/leave — Body: {medical:'hypertension', name:'Anna Schmidt'}"</a:t>
            </a:r>
            <a:endParaRPr lang="en-US" sz="680" dirty="0"/>
          </a:p>
        </p:txBody>
      </p:sp>
      <p:sp>
        <p:nvSpPr>
          <p:cNvPr id="20" name="Text 18"/>
          <p:cNvSpPr/>
          <p:nvPr/>
        </p:nvSpPr>
        <p:spPr>
          <a:xfrm>
            <a:off x="3547872" y="1975104"/>
            <a:ext cx="896112" cy="20116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 Medical + name</a:t>
            </a:r>
            <a:endParaRPr lang="en-US" sz="750" dirty="0"/>
          </a:p>
        </p:txBody>
      </p:sp>
      <p:sp>
        <p:nvSpPr>
          <p:cNvPr id="21" name="Shape 19"/>
          <p:cNvSpPr/>
          <p:nvPr/>
        </p:nvSpPr>
        <p:spPr>
          <a:xfrm>
            <a:off x="4663440" y="1901952"/>
            <a:ext cx="4160520" cy="347472"/>
          </a:xfrm>
          <a:prstGeom prst="rect">
            <a:avLst/>
          </a:prstGeom>
          <a:solidFill>
            <a:srgbClr val="FFFAF0"/>
          </a:solidFill>
          <a:ln w="6350">
            <a:solidFill>
              <a:srgbClr val="FFD180"/>
            </a:solidFill>
            <a:prstDash val="solid"/>
          </a:ln>
        </p:spPr>
      </p:sp>
      <p:sp>
        <p:nvSpPr>
          <p:cNvPr id="22" name="Text 20"/>
          <p:cNvSpPr/>
          <p:nvPr/>
        </p:nvSpPr>
        <p:spPr>
          <a:xfrm>
            <a:off x="4718304" y="1911096"/>
            <a:ext cx="777240" cy="164592"/>
          </a:xfrm>
          <a:prstGeom prst="rect">
            <a:avLst/>
          </a:prstGeom>
          <a:noFill/>
          <a:ln/>
        </p:spPr>
        <p:txBody>
          <a:bodyPr wrap="square" rtlCol="0" anchor="ctr"/>
          <a:lstStyle/>
          <a:p>
            <a:pPr marL="0" indent="0">
              <a:buNone/>
            </a:pPr>
            <a:r>
              <a:rPr lang="en-US" sz="750" b="1" dirty="0">
                <a:solidFill>
                  <a:srgbClr val="E67E22"/>
                </a:solidFill>
                <a:latin typeface="Calibri" pitchFamily="34" charset="0"/>
                <a:ea typeface="Calibri" pitchFamily="34" charset="-122"/>
                <a:cs typeface="Calibri" pitchFamily="34" charset="-120"/>
              </a:rPr>
              <a:t>Error log: </a:t>
            </a:r>
            <a:endParaRPr lang="en-US" sz="750" dirty="0"/>
          </a:p>
        </p:txBody>
      </p:sp>
      <p:sp>
        <p:nvSpPr>
          <p:cNvPr id="23" name="Text 21"/>
          <p:cNvSpPr/>
          <p:nvPr/>
        </p:nvSpPr>
        <p:spPr>
          <a:xfrm>
            <a:off x="4718304" y="2066544"/>
            <a:ext cx="3108960" cy="146304"/>
          </a:xfrm>
          <a:prstGeom prst="rect">
            <a:avLst/>
          </a:prstGeom>
          <a:noFill/>
          <a:ln/>
        </p:spPr>
        <p:txBody>
          <a:bodyPr wrap="square" rtlCol="0" anchor="ctr"/>
          <a:lstStyle/>
          <a:p>
            <a:pPr marL="0" indent="0">
              <a:buNone/>
            </a:pPr>
            <a:r>
              <a:rPr lang="en-US" sz="680" dirty="0">
                <a:solidFill>
                  <a:srgbClr val="1A1A2E"/>
                </a:solidFill>
                <a:latin typeface="Consolas" pitchFamily="34" charset="0"/>
                <a:ea typeface="Consolas" pitchFamily="34" charset="-122"/>
                <a:cs typeface="Consolas" pitchFamily="34" charset="-120"/>
              </a:rPr>
              <a:t>"Action failed: SendNotif — recipient=</a:t>
            </a:r>
            <a:r>
              <a:rPr lang="en-US" sz="680" dirty="0" err="1">
                <a:solidFill>
                  <a:srgbClr val="1A1A2E"/>
                </a:solidFill>
                <a:latin typeface="Consolas" pitchFamily="34" charset="0"/>
                <a:ea typeface="Consolas" pitchFamily="34" charset="-122"/>
                <a:cs typeface="Consolas" pitchFamily="34" charset="-120"/>
              </a:rPr>
              <a:t>anna.schmidt@COMPANY</a:t>
            </a:r>
            <a:r>
              <a:rPr lang="en-US" sz="680" dirty="0">
                <a:solidFill>
                  <a:srgbClr val="1A1A2E"/>
                </a:solidFill>
                <a:latin typeface="Consolas" pitchFamily="34" charset="0"/>
                <a:ea typeface="Consolas" pitchFamily="34" charset="-122"/>
                <a:cs typeface="Consolas" pitchFamily="34" charset="-120"/>
              </a:rPr>
              <a:t> NAME.com, AttText3=Hypertension"</a:t>
            </a:r>
            <a:endParaRPr lang="en-US" sz="680" dirty="0"/>
          </a:p>
        </p:txBody>
      </p:sp>
      <p:sp>
        <p:nvSpPr>
          <p:cNvPr id="24" name="Text 22"/>
          <p:cNvSpPr/>
          <p:nvPr/>
        </p:nvSpPr>
        <p:spPr>
          <a:xfrm>
            <a:off x="7863840" y="1975104"/>
            <a:ext cx="896112" cy="201168"/>
          </a:xfrm>
          <a:prstGeom prst="rect">
            <a:avLst/>
          </a:prstGeom>
          <a:noFill/>
          <a:ln/>
        </p:spPr>
        <p:txBody>
          <a:bodyPr wrap="square"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 PII in error</a:t>
            </a:r>
            <a:endParaRPr lang="en-US" sz="750" dirty="0"/>
          </a:p>
        </p:txBody>
      </p:sp>
      <p:sp>
        <p:nvSpPr>
          <p:cNvPr id="25" name="Text 23"/>
          <p:cNvSpPr/>
          <p:nvPr/>
        </p:nvSpPr>
        <p:spPr>
          <a:xfrm>
            <a:off x="320040" y="2432304"/>
            <a:ext cx="8503920" cy="27432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Four Controls — Applied in Sequence</a:t>
            </a:r>
            <a:endParaRPr lang="en-US" sz="1100" dirty="0"/>
          </a:p>
        </p:txBody>
      </p:sp>
      <p:sp>
        <p:nvSpPr>
          <p:cNvPr id="26" name="Shape 24"/>
          <p:cNvSpPr/>
          <p:nvPr/>
        </p:nvSpPr>
        <p:spPr>
          <a:xfrm>
            <a:off x="274320" y="2761488"/>
            <a:ext cx="4160520" cy="1005840"/>
          </a:xfrm>
          <a:prstGeom prst="rect">
            <a:avLst/>
          </a:prstGeom>
          <a:solidFill>
            <a:srgbClr val="FFFFFF"/>
          </a:solidFill>
          <a:ln/>
          <a:effectLst>
            <a:outerShdw blurRad="101600" dist="38100" dir="8100000" algn="bl" rotWithShape="0">
              <a:srgbClr val="000000">
                <a:alpha val="12000"/>
              </a:srgbClr>
            </a:outerShdw>
          </a:effectLst>
        </p:spPr>
      </p:sp>
      <p:sp>
        <p:nvSpPr>
          <p:cNvPr id="27" name="Shape 25"/>
          <p:cNvSpPr/>
          <p:nvPr/>
        </p:nvSpPr>
        <p:spPr>
          <a:xfrm>
            <a:off x="274320" y="2761488"/>
            <a:ext cx="329184" cy="1005840"/>
          </a:xfrm>
          <a:prstGeom prst="rect">
            <a:avLst/>
          </a:prstGeom>
          <a:solidFill>
            <a:srgbClr val="4A235A"/>
          </a:solidFill>
          <a:ln/>
        </p:spPr>
      </p:sp>
      <p:sp>
        <p:nvSpPr>
          <p:cNvPr id="28" name="Text 26"/>
          <p:cNvSpPr/>
          <p:nvPr/>
        </p:nvSpPr>
        <p:spPr>
          <a:xfrm>
            <a:off x="274320" y="2761488"/>
            <a:ext cx="329184"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9" name="Shape 27"/>
          <p:cNvSpPr/>
          <p:nvPr/>
        </p:nvSpPr>
        <p:spPr>
          <a:xfrm>
            <a:off x="603504" y="2761488"/>
            <a:ext cx="3831336" cy="256032"/>
          </a:xfrm>
          <a:prstGeom prst="rect">
            <a:avLst/>
          </a:prstGeom>
          <a:solidFill>
            <a:srgbClr val="F3E5F5"/>
          </a:solidFill>
          <a:ln/>
        </p:spPr>
      </p:sp>
      <p:sp>
        <p:nvSpPr>
          <p:cNvPr id="30" name="Text 28"/>
          <p:cNvSpPr/>
          <p:nvPr/>
        </p:nvSpPr>
        <p:spPr>
          <a:xfrm>
            <a:off x="676656" y="2761488"/>
            <a:ext cx="3749040" cy="256032"/>
          </a:xfrm>
          <a:prstGeom prst="rect">
            <a:avLst/>
          </a:prstGeom>
          <a:noFill/>
          <a:ln/>
        </p:spPr>
        <p:txBody>
          <a:bodyPr wrap="square" rtlCol="0" anchor="ctr"/>
          <a:lstStyle/>
          <a:p>
            <a:pPr marL="0" indent="0">
              <a:buNone/>
            </a:pPr>
            <a:r>
              <a:rPr lang="en-US" sz="950" b="1" dirty="0">
                <a:solidFill>
                  <a:srgbClr val="4A235A"/>
                </a:solidFill>
                <a:latin typeface="Calibri" pitchFamily="34" charset="0"/>
                <a:ea typeface="Calibri" pitchFamily="34" charset="-122"/>
                <a:cs typeface="Calibri" pitchFamily="34" charset="-120"/>
              </a:rPr>
              <a:t>RLS on WFL_FormType_ID</a:t>
            </a:r>
            <a:endParaRPr lang="en-US" sz="950" dirty="0"/>
          </a:p>
        </p:txBody>
      </p:sp>
      <p:sp>
        <p:nvSpPr>
          <p:cNvPr id="31" name="Text 29"/>
          <p:cNvSpPr/>
          <p:nvPr/>
        </p:nvSpPr>
        <p:spPr>
          <a:xfrm>
            <a:off x="676656" y="3035808"/>
            <a:ext cx="3703320" cy="713232"/>
          </a:xfrm>
          <a:prstGeom prst="rect">
            <a:avLst/>
          </a:prstGeom>
          <a:noFill/>
          <a:ln/>
        </p:spPr>
        <p:txBody>
          <a:bodyPr wrap="square" rtlCol="0" anchor="t"/>
          <a:lstStyle/>
          <a:p>
            <a:pPr marL="0" indent="0">
              <a:buNone/>
            </a:pPr>
            <a:r>
              <a:rPr lang="en-US" sz="720" dirty="0">
                <a:solidFill>
                  <a:srgbClr val="1A1A2E"/>
                </a:solidFill>
                <a:latin typeface="Calibri" pitchFamily="34" charset="0"/>
                <a:ea typeface="Calibri" pitchFamily="34" charset="-122"/>
                <a:cs typeface="Calibri" pitchFamily="34" charset="-120"/>
              </a:rPr>
              <a:t>Same cfg_SensitiveProcessIDs reference. HR/Payroll log rows absent for Non-EEA logins. IT Helpdesk logs fully visible — diagnosis unaffected.</a:t>
            </a:r>
            <a:endParaRPr lang="en-US" sz="720" dirty="0"/>
          </a:p>
          <a:p>
            <a:pPr marL="0" indent="0">
              <a:buNone/>
            </a:pP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CREATE SECURITY POLICY WFLogs_RowSecurity</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ADD FILTER PREDICATE</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fn_WFLogs_AccessPolicy(WFL_FormType_ID)</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ON dbo.WFLogs WITH (STATE = ON);</a:t>
            </a:r>
            <a:endParaRPr lang="en-US" sz="720" dirty="0"/>
          </a:p>
        </p:txBody>
      </p:sp>
      <p:sp>
        <p:nvSpPr>
          <p:cNvPr id="32" name="Shape 30"/>
          <p:cNvSpPr/>
          <p:nvPr/>
        </p:nvSpPr>
        <p:spPr>
          <a:xfrm>
            <a:off x="4736592" y="2761488"/>
            <a:ext cx="4160520" cy="1005840"/>
          </a:xfrm>
          <a:prstGeom prst="rect">
            <a:avLst/>
          </a:prstGeom>
          <a:solidFill>
            <a:srgbClr val="FFFFFF"/>
          </a:solidFill>
          <a:ln/>
          <a:effectLst>
            <a:outerShdw blurRad="101600" dist="38100" dir="8100000" algn="bl" rotWithShape="0">
              <a:srgbClr val="000000">
                <a:alpha val="12000"/>
              </a:srgbClr>
            </a:outerShdw>
          </a:effectLst>
        </p:spPr>
      </p:sp>
      <p:sp>
        <p:nvSpPr>
          <p:cNvPr id="33" name="Shape 31"/>
          <p:cNvSpPr/>
          <p:nvPr/>
        </p:nvSpPr>
        <p:spPr>
          <a:xfrm>
            <a:off x="4736592" y="2761488"/>
            <a:ext cx="329184" cy="1005840"/>
          </a:xfrm>
          <a:prstGeom prst="rect">
            <a:avLst/>
          </a:prstGeom>
          <a:solidFill>
            <a:srgbClr val="B71C1C"/>
          </a:solidFill>
          <a:ln/>
        </p:spPr>
      </p:sp>
      <p:sp>
        <p:nvSpPr>
          <p:cNvPr id="34" name="Text 32"/>
          <p:cNvSpPr/>
          <p:nvPr/>
        </p:nvSpPr>
        <p:spPr>
          <a:xfrm>
            <a:off x="4736592" y="2761488"/>
            <a:ext cx="329184"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5" name="Shape 33"/>
          <p:cNvSpPr/>
          <p:nvPr/>
        </p:nvSpPr>
        <p:spPr>
          <a:xfrm>
            <a:off x="5065776" y="2761488"/>
            <a:ext cx="3831336" cy="256032"/>
          </a:xfrm>
          <a:prstGeom prst="rect">
            <a:avLst/>
          </a:prstGeom>
          <a:solidFill>
            <a:srgbClr val="FFEBEE"/>
          </a:solidFill>
          <a:ln/>
        </p:spPr>
      </p:sp>
      <p:sp>
        <p:nvSpPr>
          <p:cNvPr id="36" name="Text 34"/>
          <p:cNvSpPr/>
          <p:nvPr/>
        </p:nvSpPr>
        <p:spPr>
          <a:xfrm>
            <a:off x="5138928" y="2761488"/>
            <a:ext cx="3749040" cy="256032"/>
          </a:xfrm>
          <a:prstGeom prst="rect">
            <a:avLst/>
          </a:prstGeom>
          <a:noFill/>
          <a:ln/>
        </p:spPr>
        <p:txBody>
          <a:bodyPr wrap="square" rtlCol="0" anchor="ctr"/>
          <a:lstStyle/>
          <a:p>
            <a:pPr marL="0" indent="0">
              <a:buNone/>
            </a:pPr>
            <a:r>
              <a:rPr lang="en-US" sz="950" b="1" dirty="0">
                <a:solidFill>
                  <a:srgbClr val="B71C1C"/>
                </a:solidFill>
                <a:latin typeface="Calibri" pitchFamily="34" charset="0"/>
                <a:ea typeface="Calibri" pitchFamily="34" charset="-122"/>
                <a:cs typeface="Calibri" pitchFamily="34" charset="-120"/>
              </a:rPr>
              <a:t>DDM on WFL_Message</a:t>
            </a:r>
            <a:endParaRPr lang="en-US" sz="950" dirty="0"/>
          </a:p>
        </p:txBody>
      </p:sp>
      <p:sp>
        <p:nvSpPr>
          <p:cNvPr id="37" name="Text 35"/>
          <p:cNvSpPr/>
          <p:nvPr/>
        </p:nvSpPr>
        <p:spPr>
          <a:xfrm>
            <a:off x="5138928" y="3035808"/>
            <a:ext cx="3703320" cy="713232"/>
          </a:xfrm>
          <a:prstGeom prst="rect">
            <a:avLst/>
          </a:prstGeom>
          <a:noFill/>
          <a:ln/>
        </p:spPr>
        <p:txBody>
          <a:bodyPr wrap="square" rtlCol="0" anchor="t"/>
          <a:lstStyle/>
          <a:p>
            <a:pPr marL="0" indent="0">
              <a:buNone/>
            </a:pPr>
            <a:r>
              <a:rPr lang="en-US" sz="720" dirty="0">
                <a:solidFill>
                  <a:srgbClr val="1A1A2E"/>
                </a:solidFill>
                <a:latin typeface="Calibri" pitchFamily="34" charset="0"/>
                <a:ea typeface="Calibri" pitchFamily="34" charset="-122"/>
                <a:cs typeface="Calibri" pitchFamily="34" charset="-120"/>
              </a:rPr>
              <a:t>WFL_Message masked as xxxx for Non-EEA users. WFL_ActionType and WFL_Status kept clear — COMPANY NAME still sees action type and success/failure status for IT diagnosis.</a:t>
            </a:r>
            <a:endParaRPr lang="en-US" sz="720" dirty="0"/>
          </a:p>
          <a:p>
            <a:pPr marL="0" indent="0">
              <a:buNone/>
            </a:pP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ALTER TABLE WFLogs</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ALTER COLUMN WFL_Message</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ADD MASKED WITH (FUNCTION = 'default()');</a:t>
            </a:r>
            <a:endParaRPr lang="en-US" sz="720" dirty="0"/>
          </a:p>
        </p:txBody>
      </p:sp>
      <p:sp>
        <p:nvSpPr>
          <p:cNvPr id="38" name="Shape 36"/>
          <p:cNvSpPr/>
          <p:nvPr/>
        </p:nvSpPr>
        <p:spPr>
          <a:xfrm>
            <a:off x="274320" y="3840480"/>
            <a:ext cx="4160520" cy="1005840"/>
          </a:xfrm>
          <a:prstGeom prst="rect">
            <a:avLst/>
          </a:prstGeom>
          <a:solidFill>
            <a:srgbClr val="FFFFFF"/>
          </a:solidFill>
          <a:ln/>
          <a:effectLst>
            <a:outerShdw blurRad="101600" dist="38100" dir="8100000" algn="bl" rotWithShape="0">
              <a:srgbClr val="000000">
                <a:alpha val="12000"/>
              </a:srgbClr>
            </a:outerShdw>
          </a:effectLst>
        </p:spPr>
      </p:sp>
      <p:sp>
        <p:nvSpPr>
          <p:cNvPr id="39" name="Shape 37"/>
          <p:cNvSpPr/>
          <p:nvPr/>
        </p:nvSpPr>
        <p:spPr>
          <a:xfrm>
            <a:off x="274320" y="3840480"/>
            <a:ext cx="329184" cy="1005840"/>
          </a:xfrm>
          <a:prstGeom prst="rect">
            <a:avLst/>
          </a:prstGeom>
          <a:solidFill>
            <a:srgbClr val="E67E22"/>
          </a:solidFill>
          <a:ln/>
        </p:spPr>
      </p:sp>
      <p:sp>
        <p:nvSpPr>
          <p:cNvPr id="40" name="Text 38"/>
          <p:cNvSpPr/>
          <p:nvPr/>
        </p:nvSpPr>
        <p:spPr>
          <a:xfrm>
            <a:off x="274320" y="3840480"/>
            <a:ext cx="329184"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1" name="Shape 39"/>
          <p:cNvSpPr/>
          <p:nvPr/>
        </p:nvSpPr>
        <p:spPr>
          <a:xfrm>
            <a:off x="603504" y="3840480"/>
            <a:ext cx="3831336" cy="256032"/>
          </a:xfrm>
          <a:prstGeom prst="rect">
            <a:avLst/>
          </a:prstGeom>
          <a:solidFill>
            <a:srgbClr val="FFF8E1"/>
          </a:solidFill>
          <a:ln/>
        </p:spPr>
      </p:sp>
      <p:sp>
        <p:nvSpPr>
          <p:cNvPr id="42" name="Text 40"/>
          <p:cNvSpPr/>
          <p:nvPr/>
        </p:nvSpPr>
        <p:spPr>
          <a:xfrm>
            <a:off x="676656" y="3840480"/>
            <a:ext cx="3749040" cy="256032"/>
          </a:xfrm>
          <a:prstGeom prst="rect">
            <a:avLst/>
          </a:prstGeom>
          <a:noFill/>
          <a:ln/>
        </p:spPr>
        <p:txBody>
          <a:bodyPr wrap="square" rtlCol="0" anchor="ctr"/>
          <a:lstStyle/>
          <a:p>
            <a:pPr marL="0" indent="0">
              <a:buNone/>
            </a:pPr>
            <a:r>
              <a:rPr lang="en-US" sz="950" b="1" dirty="0">
                <a:solidFill>
                  <a:srgbClr val="E67E22"/>
                </a:solidFill>
                <a:latin typeface="Calibri" pitchFamily="34" charset="0"/>
                <a:ea typeface="Calibri" pitchFamily="34" charset="-122"/>
                <a:cs typeface="Calibri" pitchFamily="34" charset="-120"/>
              </a:rPr>
              <a:t>Designer Studio — Log Level</a:t>
            </a:r>
            <a:endParaRPr lang="en-US" sz="950" dirty="0"/>
          </a:p>
        </p:txBody>
      </p:sp>
      <p:sp>
        <p:nvSpPr>
          <p:cNvPr id="43" name="Text 41"/>
          <p:cNvSpPr/>
          <p:nvPr/>
        </p:nvSpPr>
        <p:spPr>
          <a:xfrm>
            <a:off x="676656" y="4114800"/>
            <a:ext cx="3703320" cy="713232"/>
          </a:xfrm>
          <a:prstGeom prst="rect">
            <a:avLst/>
          </a:prstGeom>
          <a:noFill/>
          <a:ln/>
        </p:spPr>
        <p:txBody>
          <a:bodyPr wrap="square" rtlCol="0" anchor="t"/>
          <a:lstStyle/>
          <a:p>
            <a:pPr marL="0" indent="0">
              <a:buNone/>
            </a:pPr>
            <a:r>
              <a:rPr lang="en-US" sz="720" dirty="0">
                <a:solidFill>
                  <a:srgbClr val="1A1A2E"/>
                </a:solidFill>
                <a:latin typeface="Calibri" pitchFamily="34" charset="0"/>
                <a:ea typeface="Calibri" pitchFamily="34" charset="-122"/>
                <a:cs typeface="Calibri" pitchFamily="34" charset="-120"/>
              </a:rPr>
              <a:t>Upstream prevention. For HR/Payroll actions:</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Log Level = Minimal (name + status only)</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Disable 'Log SQL parameters'</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Disable 'Log REST body'</a:t>
            </a:r>
            <a:endParaRPr lang="en-US" sz="720" dirty="0"/>
          </a:p>
          <a:p>
            <a:pPr marL="0" indent="0">
              <a:buNone/>
            </a:pP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For IT Helpdesk/Procurement:</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Log Level = Standard (full diagnosis retained)</a:t>
            </a:r>
            <a:endParaRPr lang="en-US" sz="720" dirty="0"/>
          </a:p>
        </p:txBody>
      </p:sp>
      <p:sp>
        <p:nvSpPr>
          <p:cNvPr id="44" name="Shape 42"/>
          <p:cNvSpPr/>
          <p:nvPr/>
        </p:nvSpPr>
        <p:spPr>
          <a:xfrm>
            <a:off x="4736592" y="3840480"/>
            <a:ext cx="4160520" cy="1005840"/>
          </a:xfrm>
          <a:prstGeom prst="rect">
            <a:avLst/>
          </a:prstGeom>
          <a:solidFill>
            <a:srgbClr val="FFFFFF"/>
          </a:solidFill>
          <a:ln/>
          <a:effectLst>
            <a:outerShdw blurRad="101600" dist="38100" dir="8100000" algn="bl" rotWithShape="0">
              <a:srgbClr val="000000">
                <a:alpha val="12000"/>
              </a:srgbClr>
            </a:outerShdw>
          </a:effectLst>
        </p:spPr>
      </p:sp>
      <p:sp>
        <p:nvSpPr>
          <p:cNvPr id="45" name="Shape 43"/>
          <p:cNvSpPr/>
          <p:nvPr/>
        </p:nvSpPr>
        <p:spPr>
          <a:xfrm>
            <a:off x="4736592" y="3840480"/>
            <a:ext cx="329184" cy="1005840"/>
          </a:xfrm>
          <a:prstGeom prst="rect">
            <a:avLst/>
          </a:prstGeom>
          <a:solidFill>
            <a:srgbClr val="1B7A4A"/>
          </a:solidFill>
          <a:ln/>
        </p:spPr>
      </p:sp>
      <p:sp>
        <p:nvSpPr>
          <p:cNvPr id="46" name="Text 44"/>
          <p:cNvSpPr/>
          <p:nvPr/>
        </p:nvSpPr>
        <p:spPr>
          <a:xfrm>
            <a:off x="4736592" y="3840480"/>
            <a:ext cx="329184"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7" name="Shape 45"/>
          <p:cNvSpPr/>
          <p:nvPr/>
        </p:nvSpPr>
        <p:spPr>
          <a:xfrm>
            <a:off x="5065776" y="3840480"/>
            <a:ext cx="3831336" cy="256032"/>
          </a:xfrm>
          <a:prstGeom prst="rect">
            <a:avLst/>
          </a:prstGeom>
          <a:solidFill>
            <a:srgbClr val="E8F5E9"/>
          </a:solidFill>
          <a:ln/>
        </p:spPr>
      </p:sp>
      <p:sp>
        <p:nvSpPr>
          <p:cNvPr id="48" name="Text 46"/>
          <p:cNvSpPr/>
          <p:nvPr/>
        </p:nvSpPr>
        <p:spPr>
          <a:xfrm>
            <a:off x="5138928" y="3840480"/>
            <a:ext cx="3749040" cy="256032"/>
          </a:xfrm>
          <a:prstGeom prst="rect">
            <a:avLst/>
          </a:prstGeom>
          <a:noFill/>
          <a:ln/>
        </p:spPr>
        <p:txBody>
          <a:bodyPr wrap="square" rtlCol="0" anchor="ctr"/>
          <a:lstStyle/>
          <a:p>
            <a:pPr marL="0" indent="0">
              <a:buNone/>
            </a:pPr>
            <a:r>
              <a:rPr lang="en-US" sz="950" b="1" dirty="0">
                <a:solidFill>
                  <a:srgbClr val="1B7A4A"/>
                </a:solidFill>
                <a:latin typeface="Calibri" pitchFamily="34" charset="0"/>
                <a:ea typeface="Calibri" pitchFamily="34" charset="-122"/>
                <a:cs typeface="Calibri" pitchFamily="34" charset="-120"/>
              </a:rPr>
              <a:t>Log Retention Purge Job</a:t>
            </a:r>
            <a:endParaRPr lang="en-US" sz="950" dirty="0"/>
          </a:p>
        </p:txBody>
      </p:sp>
      <p:sp>
        <p:nvSpPr>
          <p:cNvPr id="49" name="Text 47"/>
          <p:cNvSpPr/>
          <p:nvPr/>
        </p:nvSpPr>
        <p:spPr>
          <a:xfrm>
            <a:off x="5138928" y="4114800"/>
            <a:ext cx="3703320" cy="713232"/>
          </a:xfrm>
          <a:prstGeom prst="rect">
            <a:avLst/>
          </a:prstGeom>
          <a:noFill/>
          <a:ln/>
        </p:spPr>
        <p:txBody>
          <a:bodyPr wrap="square" rtlCol="0" anchor="t"/>
          <a:lstStyle/>
          <a:p>
            <a:pPr marL="0" indent="0">
              <a:buNone/>
            </a:pPr>
            <a:r>
              <a:rPr lang="en-US" sz="720" dirty="0">
                <a:solidFill>
                  <a:srgbClr val="1A1A2E"/>
                </a:solidFill>
                <a:latin typeface="Calibri" pitchFamily="34" charset="0"/>
                <a:ea typeface="Calibri" pitchFamily="34" charset="-122"/>
                <a:cs typeface="Calibri" pitchFamily="34" charset="-120"/>
              </a:rPr>
              <a:t>Automated SQL Agent job purges sensitive process logs after 90 days (DPA-mandated):</a:t>
            </a:r>
            <a:endParaRPr lang="en-US" sz="720" dirty="0"/>
          </a:p>
          <a:p>
            <a:pPr marL="0" indent="0">
              <a:buNone/>
            </a:pP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DELETE FROM WFLogs</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WHERE WFL_FormType_ID IN (</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SELECT ProcessID</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FROM cfg_SensitiveProcessIDs)</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AND WFL_Timestamp &lt;</a:t>
            </a:r>
            <a:endParaRPr lang="en-US" sz="720" dirty="0"/>
          </a:p>
          <a:p>
            <a:pPr marL="0" indent="0">
              <a:buNone/>
            </a:pPr>
            <a:r>
              <a:rPr lang="en-US" sz="720" dirty="0">
                <a:solidFill>
                  <a:srgbClr val="1A1A2E"/>
                </a:solidFill>
                <a:latin typeface="Calibri" pitchFamily="34" charset="0"/>
                <a:ea typeface="Calibri" pitchFamily="34" charset="-122"/>
                <a:cs typeface="Calibri" pitchFamily="34" charset="-120"/>
              </a:rPr>
              <a:t>  DATEADD(DAY,-90,GETDATE());</a:t>
            </a:r>
            <a:endParaRPr lang="en-US" sz="720" dirty="0"/>
          </a:p>
        </p:txBody>
      </p:sp>
      <p:sp>
        <p:nvSpPr>
          <p:cNvPr id="50" name="Shape 48"/>
          <p:cNvSpPr/>
          <p:nvPr/>
        </p:nvSpPr>
        <p:spPr>
          <a:xfrm>
            <a:off x="0" y="4828032"/>
            <a:ext cx="9144000" cy="315468"/>
          </a:xfrm>
          <a:prstGeom prst="rect">
            <a:avLst/>
          </a:prstGeom>
          <a:solidFill>
            <a:srgbClr val="009B9E"/>
          </a:solidFill>
          <a:ln/>
        </p:spPr>
      </p:sp>
      <p:sp>
        <p:nvSpPr>
          <p:cNvPr id="51" name="Text 49"/>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52" name="Shape 50"/>
          <p:cNvSpPr/>
          <p:nvPr/>
        </p:nvSpPr>
        <p:spPr>
          <a:xfrm>
            <a:off x="502920" y="4919472"/>
            <a:ext cx="18288" cy="128016"/>
          </a:xfrm>
          <a:prstGeom prst="rect">
            <a:avLst/>
          </a:prstGeom>
          <a:solidFill>
            <a:srgbClr val="FFFFFF"/>
          </a:solidFill>
          <a:ln/>
        </p:spPr>
      </p:sp>
      <p:sp>
        <p:nvSpPr>
          <p:cNvPr id="53" name="Text 51"/>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54" name="Text 52"/>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COMPLETE COVERAGE MATRIX</a:t>
            </a:r>
            <a:endParaRPr lang="en-US" sz="1100" dirty="0"/>
          </a:p>
        </p:txBody>
      </p:sp>
      <p:sp>
        <p:nvSpPr>
          <p:cNvPr id="4" name="Text 2"/>
          <p:cNvSpPr/>
          <p:nvPr/>
        </p:nvSpPr>
        <p:spPr>
          <a:xfrm>
            <a:off x="320040" y="777240"/>
            <a:ext cx="8503920" cy="411480"/>
          </a:xfrm>
          <a:prstGeom prst="rect">
            <a:avLst/>
          </a:prstGeom>
          <a:noFill/>
          <a:ln/>
        </p:spPr>
        <p:txBody>
          <a:bodyPr wrap="square" rtlCol="0" anchor="ctr"/>
          <a:lstStyle/>
          <a:p>
            <a:pPr marL="0" indent="0">
              <a:buNone/>
            </a:pPr>
            <a:r>
              <a:rPr lang="en-US" sz="2000" b="1" dirty="0">
                <a:solidFill>
                  <a:srgbClr val="1A1A2E"/>
                </a:solidFill>
                <a:latin typeface="Calibri" pitchFamily="34" charset="0"/>
                <a:ea typeface="Calibri" pitchFamily="34" charset="-122"/>
                <a:cs typeface="Calibri" pitchFamily="34" charset="-120"/>
              </a:rPr>
              <a:t>All Runtime Tables — Complete Control Mapping</a:t>
            </a:r>
            <a:endParaRPr lang="en-US" sz="2000" dirty="0"/>
          </a:p>
        </p:txBody>
      </p:sp>
      <p:sp>
        <p:nvSpPr>
          <p:cNvPr id="5" name="Shape 3"/>
          <p:cNvSpPr/>
          <p:nvPr/>
        </p:nvSpPr>
        <p:spPr>
          <a:xfrm>
            <a:off x="228600" y="1298448"/>
            <a:ext cx="1874520" cy="384048"/>
          </a:xfrm>
          <a:prstGeom prst="rect">
            <a:avLst/>
          </a:prstGeom>
          <a:solidFill>
            <a:srgbClr val="1A1A2E"/>
          </a:solidFill>
          <a:ln/>
        </p:spPr>
      </p:sp>
      <p:sp>
        <p:nvSpPr>
          <p:cNvPr id="6" name="Text 4"/>
          <p:cNvSpPr/>
          <p:nvPr/>
        </p:nvSpPr>
        <p:spPr>
          <a:xfrm>
            <a:off x="228600" y="1298448"/>
            <a:ext cx="187452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Table</a:t>
            </a:r>
            <a:endParaRPr lang="en-US" sz="850" dirty="0"/>
          </a:p>
        </p:txBody>
      </p:sp>
      <p:sp>
        <p:nvSpPr>
          <p:cNvPr id="7" name="Shape 5"/>
          <p:cNvSpPr/>
          <p:nvPr/>
        </p:nvSpPr>
        <p:spPr>
          <a:xfrm>
            <a:off x="2103120" y="1298448"/>
            <a:ext cx="960120" cy="384048"/>
          </a:xfrm>
          <a:prstGeom prst="rect">
            <a:avLst/>
          </a:prstGeom>
          <a:solidFill>
            <a:srgbClr val="1A1A2E"/>
          </a:solidFill>
          <a:ln/>
        </p:spPr>
      </p:sp>
      <p:sp>
        <p:nvSpPr>
          <p:cNvPr id="8" name="Text 6"/>
          <p:cNvSpPr/>
          <p:nvPr/>
        </p:nvSpPr>
        <p:spPr>
          <a:xfrm>
            <a:off x="2103120" y="1298448"/>
            <a:ext cx="96012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L2 Views</a:t>
            </a:r>
            <a:endParaRPr lang="en-US" sz="850" dirty="0"/>
          </a:p>
        </p:txBody>
      </p:sp>
      <p:sp>
        <p:nvSpPr>
          <p:cNvPr id="9" name="Shape 7"/>
          <p:cNvSpPr/>
          <p:nvPr/>
        </p:nvSpPr>
        <p:spPr>
          <a:xfrm>
            <a:off x="3063240" y="1298448"/>
            <a:ext cx="960120" cy="384048"/>
          </a:xfrm>
          <a:prstGeom prst="rect">
            <a:avLst/>
          </a:prstGeom>
          <a:solidFill>
            <a:srgbClr val="1A1A2E"/>
          </a:solidFill>
          <a:ln/>
        </p:spPr>
      </p:sp>
      <p:sp>
        <p:nvSpPr>
          <p:cNvPr id="10" name="Text 8"/>
          <p:cNvSpPr/>
          <p:nvPr/>
        </p:nvSpPr>
        <p:spPr>
          <a:xfrm>
            <a:off x="3063240" y="1298448"/>
            <a:ext cx="96012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L3 RLS</a:t>
            </a:r>
            <a:endParaRPr lang="en-US" sz="850" dirty="0"/>
          </a:p>
        </p:txBody>
      </p:sp>
      <p:sp>
        <p:nvSpPr>
          <p:cNvPr id="11" name="Shape 9"/>
          <p:cNvSpPr/>
          <p:nvPr/>
        </p:nvSpPr>
        <p:spPr>
          <a:xfrm>
            <a:off x="4023360" y="1298448"/>
            <a:ext cx="1005840" cy="384048"/>
          </a:xfrm>
          <a:prstGeom prst="rect">
            <a:avLst/>
          </a:prstGeom>
          <a:solidFill>
            <a:srgbClr val="1A1A2E"/>
          </a:solidFill>
          <a:ln/>
        </p:spPr>
      </p:sp>
      <p:sp>
        <p:nvSpPr>
          <p:cNvPr id="12" name="Text 10"/>
          <p:cNvSpPr/>
          <p:nvPr/>
        </p:nvSpPr>
        <p:spPr>
          <a:xfrm>
            <a:off x="4023360" y="1298448"/>
            <a:ext cx="100584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L4 DDM</a:t>
            </a:r>
            <a:endParaRPr lang="en-US" sz="850" dirty="0"/>
          </a:p>
        </p:txBody>
      </p:sp>
      <p:sp>
        <p:nvSpPr>
          <p:cNvPr id="13" name="Shape 11"/>
          <p:cNvSpPr/>
          <p:nvPr/>
        </p:nvSpPr>
        <p:spPr>
          <a:xfrm>
            <a:off x="5029200" y="1298448"/>
            <a:ext cx="914400" cy="384048"/>
          </a:xfrm>
          <a:prstGeom prst="rect">
            <a:avLst/>
          </a:prstGeom>
          <a:solidFill>
            <a:srgbClr val="1A1A2E"/>
          </a:solidFill>
          <a:ln/>
        </p:spPr>
      </p:sp>
      <p:sp>
        <p:nvSpPr>
          <p:cNvPr id="14" name="Text 12"/>
          <p:cNvSpPr/>
          <p:nvPr/>
        </p:nvSpPr>
        <p:spPr>
          <a:xfrm>
            <a:off x="5029200" y="1298448"/>
            <a:ext cx="91440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L5 Svc</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Acct</a:t>
            </a:r>
            <a:endParaRPr lang="en-US" sz="850" dirty="0"/>
          </a:p>
        </p:txBody>
      </p:sp>
      <p:sp>
        <p:nvSpPr>
          <p:cNvPr id="15" name="Shape 13"/>
          <p:cNvSpPr/>
          <p:nvPr/>
        </p:nvSpPr>
        <p:spPr>
          <a:xfrm>
            <a:off x="5943600" y="1298448"/>
            <a:ext cx="914400" cy="384048"/>
          </a:xfrm>
          <a:prstGeom prst="rect">
            <a:avLst/>
          </a:prstGeom>
          <a:solidFill>
            <a:srgbClr val="1A1A2E"/>
          </a:solidFill>
          <a:ln/>
        </p:spPr>
      </p:sp>
      <p:sp>
        <p:nvSpPr>
          <p:cNvPr id="16" name="Text 14"/>
          <p:cNvSpPr/>
          <p:nvPr/>
        </p:nvSpPr>
        <p:spPr>
          <a:xfrm>
            <a:off x="5943600" y="1298448"/>
            <a:ext cx="91440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Binary</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Revoke</a:t>
            </a:r>
            <a:endParaRPr lang="en-US" sz="850" dirty="0"/>
          </a:p>
        </p:txBody>
      </p:sp>
      <p:sp>
        <p:nvSpPr>
          <p:cNvPr id="17" name="Shape 15"/>
          <p:cNvSpPr/>
          <p:nvPr/>
        </p:nvSpPr>
        <p:spPr>
          <a:xfrm>
            <a:off x="6858000" y="1298448"/>
            <a:ext cx="1143000" cy="384048"/>
          </a:xfrm>
          <a:prstGeom prst="rect">
            <a:avLst/>
          </a:prstGeom>
          <a:solidFill>
            <a:srgbClr val="1A1A2E"/>
          </a:solidFill>
          <a:ln/>
        </p:spPr>
      </p:sp>
      <p:sp>
        <p:nvSpPr>
          <p:cNvPr id="18" name="Text 16"/>
          <p:cNvSpPr/>
          <p:nvPr/>
        </p:nvSpPr>
        <p:spPr>
          <a:xfrm>
            <a:off x="6858000" y="1298448"/>
            <a:ext cx="114300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Log</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Purge</a:t>
            </a:r>
            <a:endParaRPr lang="en-US" sz="850" dirty="0"/>
          </a:p>
        </p:txBody>
      </p:sp>
      <p:sp>
        <p:nvSpPr>
          <p:cNvPr id="19" name="Shape 17"/>
          <p:cNvSpPr/>
          <p:nvPr/>
        </p:nvSpPr>
        <p:spPr>
          <a:xfrm>
            <a:off x="8001000" y="1298448"/>
            <a:ext cx="1097280" cy="384048"/>
          </a:xfrm>
          <a:prstGeom prst="rect">
            <a:avLst/>
          </a:prstGeom>
          <a:solidFill>
            <a:srgbClr val="1A1A2E"/>
          </a:solidFill>
          <a:ln/>
        </p:spPr>
      </p:sp>
      <p:sp>
        <p:nvSpPr>
          <p:cNvPr id="20" name="Text 18"/>
          <p:cNvSpPr/>
          <p:nvPr/>
        </p:nvSpPr>
        <p:spPr>
          <a:xfrm>
            <a:off x="8001000" y="1298448"/>
            <a:ext cx="109728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Risk Level</a:t>
            </a:r>
            <a:endParaRPr lang="en-US" sz="850" dirty="0"/>
          </a:p>
        </p:txBody>
      </p:sp>
      <p:sp>
        <p:nvSpPr>
          <p:cNvPr id="21" name="Shape 19"/>
          <p:cNvSpPr/>
          <p:nvPr/>
        </p:nvSpPr>
        <p:spPr>
          <a:xfrm>
            <a:off x="228600" y="1682496"/>
            <a:ext cx="1874520" cy="338328"/>
          </a:xfrm>
          <a:prstGeom prst="rect">
            <a:avLst/>
          </a:prstGeom>
          <a:solidFill>
            <a:srgbClr val="FFEBEE"/>
          </a:solidFill>
          <a:ln w="5080">
            <a:solidFill>
              <a:srgbClr val="DDE4EF"/>
            </a:solidFill>
            <a:prstDash val="solid"/>
          </a:ln>
        </p:spPr>
      </p:sp>
      <p:sp>
        <p:nvSpPr>
          <p:cNvPr id="22" name="Text 20"/>
          <p:cNvSpPr/>
          <p:nvPr/>
        </p:nvSpPr>
        <p:spPr>
          <a:xfrm>
            <a:off x="256032" y="168249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WFElements</a:t>
            </a:r>
            <a:endParaRPr lang="en-US" sz="800" dirty="0"/>
          </a:p>
        </p:txBody>
      </p:sp>
      <p:sp>
        <p:nvSpPr>
          <p:cNvPr id="23" name="Shape 21"/>
          <p:cNvSpPr/>
          <p:nvPr/>
        </p:nvSpPr>
        <p:spPr>
          <a:xfrm>
            <a:off x="2103120" y="1682496"/>
            <a:ext cx="960120" cy="338328"/>
          </a:xfrm>
          <a:prstGeom prst="rect">
            <a:avLst/>
          </a:prstGeom>
          <a:solidFill>
            <a:srgbClr val="FFFFFF"/>
          </a:solidFill>
          <a:ln w="5080">
            <a:solidFill>
              <a:srgbClr val="DDE4EF"/>
            </a:solidFill>
            <a:prstDash val="solid"/>
          </a:ln>
        </p:spPr>
      </p:sp>
      <p:sp>
        <p:nvSpPr>
          <p:cNvPr id="24" name="Text 22"/>
          <p:cNvSpPr/>
          <p:nvPr/>
        </p:nvSpPr>
        <p:spPr>
          <a:xfrm>
            <a:off x="2130552" y="168249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Per-process</a:t>
            </a:r>
            <a:endParaRPr lang="en-US" sz="850" dirty="0"/>
          </a:p>
        </p:txBody>
      </p:sp>
      <p:sp>
        <p:nvSpPr>
          <p:cNvPr id="25" name="Shape 23"/>
          <p:cNvSpPr/>
          <p:nvPr/>
        </p:nvSpPr>
        <p:spPr>
          <a:xfrm>
            <a:off x="3063240" y="1682496"/>
            <a:ext cx="960120" cy="338328"/>
          </a:xfrm>
          <a:prstGeom prst="rect">
            <a:avLst/>
          </a:prstGeom>
          <a:solidFill>
            <a:srgbClr val="FFFFFF"/>
          </a:solidFill>
          <a:ln w="5080">
            <a:solidFill>
              <a:srgbClr val="DDE4EF"/>
            </a:solidFill>
            <a:prstDash val="solid"/>
          </a:ln>
        </p:spPr>
      </p:sp>
      <p:sp>
        <p:nvSpPr>
          <p:cNvPr id="26" name="Text 24"/>
          <p:cNvSpPr/>
          <p:nvPr/>
        </p:nvSpPr>
        <p:spPr>
          <a:xfrm>
            <a:off x="3090672" y="168249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Direct</a:t>
            </a:r>
            <a:endParaRPr lang="en-US" sz="850" dirty="0"/>
          </a:p>
        </p:txBody>
      </p:sp>
      <p:sp>
        <p:nvSpPr>
          <p:cNvPr id="27" name="Shape 25"/>
          <p:cNvSpPr/>
          <p:nvPr/>
        </p:nvSpPr>
        <p:spPr>
          <a:xfrm>
            <a:off x="4023360" y="1682496"/>
            <a:ext cx="1005840" cy="338328"/>
          </a:xfrm>
          <a:prstGeom prst="rect">
            <a:avLst/>
          </a:prstGeom>
          <a:solidFill>
            <a:srgbClr val="FFFFFF"/>
          </a:solidFill>
          <a:ln w="5080">
            <a:solidFill>
              <a:srgbClr val="DDE4EF"/>
            </a:solidFill>
            <a:prstDash val="solid"/>
          </a:ln>
        </p:spPr>
      </p:sp>
      <p:sp>
        <p:nvSpPr>
          <p:cNvPr id="28" name="Text 26"/>
          <p:cNvSpPr/>
          <p:nvPr/>
        </p:nvSpPr>
        <p:spPr>
          <a:xfrm>
            <a:off x="4050792" y="1682496"/>
            <a:ext cx="96012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PII cols</a:t>
            </a:r>
            <a:endParaRPr lang="en-US" sz="850" dirty="0"/>
          </a:p>
        </p:txBody>
      </p:sp>
      <p:sp>
        <p:nvSpPr>
          <p:cNvPr id="29" name="Shape 27"/>
          <p:cNvSpPr/>
          <p:nvPr/>
        </p:nvSpPr>
        <p:spPr>
          <a:xfrm>
            <a:off x="5029200" y="1682496"/>
            <a:ext cx="914400" cy="338328"/>
          </a:xfrm>
          <a:prstGeom prst="rect">
            <a:avLst/>
          </a:prstGeom>
          <a:solidFill>
            <a:srgbClr val="FFFFFF"/>
          </a:solidFill>
          <a:ln w="5080">
            <a:solidFill>
              <a:srgbClr val="DDE4EF"/>
            </a:solidFill>
            <a:prstDash val="solid"/>
          </a:ln>
        </p:spPr>
      </p:sp>
      <p:sp>
        <p:nvSpPr>
          <p:cNvPr id="30" name="Text 28"/>
          <p:cNvSpPr/>
          <p:nvPr/>
        </p:nvSpPr>
        <p:spPr>
          <a:xfrm>
            <a:off x="5056632" y="168249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31" name="Shape 29"/>
          <p:cNvSpPr/>
          <p:nvPr/>
        </p:nvSpPr>
        <p:spPr>
          <a:xfrm>
            <a:off x="5943600" y="1682496"/>
            <a:ext cx="914400" cy="338328"/>
          </a:xfrm>
          <a:prstGeom prst="rect">
            <a:avLst/>
          </a:prstGeom>
          <a:solidFill>
            <a:srgbClr val="FFFFFF"/>
          </a:solidFill>
          <a:ln w="5080">
            <a:solidFill>
              <a:srgbClr val="DDE4EF"/>
            </a:solidFill>
            <a:prstDash val="solid"/>
          </a:ln>
        </p:spPr>
      </p:sp>
      <p:sp>
        <p:nvSpPr>
          <p:cNvPr id="32" name="Text 30"/>
          <p:cNvSpPr/>
          <p:nvPr/>
        </p:nvSpPr>
        <p:spPr>
          <a:xfrm>
            <a:off x="5971032" y="168249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33" name="Shape 31"/>
          <p:cNvSpPr/>
          <p:nvPr/>
        </p:nvSpPr>
        <p:spPr>
          <a:xfrm>
            <a:off x="6858000" y="1682496"/>
            <a:ext cx="1143000" cy="338328"/>
          </a:xfrm>
          <a:prstGeom prst="rect">
            <a:avLst/>
          </a:prstGeom>
          <a:solidFill>
            <a:srgbClr val="FFFFFF"/>
          </a:solidFill>
          <a:ln w="5080">
            <a:solidFill>
              <a:srgbClr val="DDE4EF"/>
            </a:solidFill>
            <a:prstDash val="solid"/>
          </a:ln>
        </p:spPr>
      </p:sp>
      <p:sp>
        <p:nvSpPr>
          <p:cNvPr id="34" name="Text 32"/>
          <p:cNvSpPr/>
          <p:nvPr/>
        </p:nvSpPr>
        <p:spPr>
          <a:xfrm>
            <a:off x="6885432" y="168249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35" name="Shape 33"/>
          <p:cNvSpPr/>
          <p:nvPr/>
        </p:nvSpPr>
        <p:spPr>
          <a:xfrm>
            <a:off x="8001000" y="1682496"/>
            <a:ext cx="1097280" cy="338328"/>
          </a:xfrm>
          <a:prstGeom prst="rect">
            <a:avLst/>
          </a:prstGeom>
          <a:solidFill>
            <a:srgbClr val="FFFFFF"/>
          </a:solidFill>
          <a:ln w="5080">
            <a:solidFill>
              <a:srgbClr val="DDE4EF"/>
            </a:solidFill>
            <a:prstDash val="solid"/>
          </a:ln>
        </p:spPr>
      </p:sp>
      <p:sp>
        <p:nvSpPr>
          <p:cNvPr id="36" name="Text 34"/>
          <p:cNvSpPr/>
          <p:nvPr/>
        </p:nvSpPr>
        <p:spPr>
          <a:xfrm>
            <a:off x="8028432" y="168249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HIGH</a:t>
            </a:r>
            <a:endParaRPr lang="en-US" sz="850" dirty="0"/>
          </a:p>
        </p:txBody>
      </p:sp>
      <p:sp>
        <p:nvSpPr>
          <p:cNvPr id="37" name="Shape 35"/>
          <p:cNvSpPr/>
          <p:nvPr/>
        </p:nvSpPr>
        <p:spPr>
          <a:xfrm>
            <a:off x="228600" y="2048256"/>
            <a:ext cx="1874520" cy="338328"/>
          </a:xfrm>
          <a:prstGeom prst="rect">
            <a:avLst/>
          </a:prstGeom>
          <a:solidFill>
            <a:srgbClr val="FFEBEE"/>
          </a:solidFill>
          <a:ln w="5080">
            <a:solidFill>
              <a:srgbClr val="DDE4EF"/>
            </a:solidFill>
            <a:prstDash val="solid"/>
          </a:ln>
        </p:spPr>
      </p:sp>
      <p:sp>
        <p:nvSpPr>
          <p:cNvPr id="38" name="Text 36"/>
          <p:cNvSpPr/>
          <p:nvPr/>
        </p:nvSpPr>
        <p:spPr>
          <a:xfrm>
            <a:off x="256032" y="204825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WFHistoryElements</a:t>
            </a:r>
            <a:endParaRPr lang="en-US" sz="800" dirty="0"/>
          </a:p>
        </p:txBody>
      </p:sp>
      <p:sp>
        <p:nvSpPr>
          <p:cNvPr id="39" name="Shape 37"/>
          <p:cNvSpPr/>
          <p:nvPr/>
        </p:nvSpPr>
        <p:spPr>
          <a:xfrm>
            <a:off x="2103120" y="2048256"/>
            <a:ext cx="960120" cy="338328"/>
          </a:xfrm>
          <a:prstGeom prst="rect">
            <a:avLst/>
          </a:prstGeom>
          <a:solidFill>
            <a:srgbClr val="F7F9FC"/>
          </a:solidFill>
          <a:ln w="5080">
            <a:solidFill>
              <a:srgbClr val="DDE4EF"/>
            </a:solidFill>
            <a:prstDash val="solid"/>
          </a:ln>
        </p:spPr>
      </p:sp>
      <p:sp>
        <p:nvSpPr>
          <p:cNvPr id="40" name="Text 38"/>
          <p:cNvSpPr/>
          <p:nvPr/>
        </p:nvSpPr>
        <p:spPr>
          <a:xfrm>
            <a:off x="2130552" y="204825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Hist views</a:t>
            </a:r>
            <a:endParaRPr lang="en-US" sz="850" dirty="0"/>
          </a:p>
        </p:txBody>
      </p:sp>
      <p:sp>
        <p:nvSpPr>
          <p:cNvPr id="41" name="Shape 39"/>
          <p:cNvSpPr/>
          <p:nvPr/>
        </p:nvSpPr>
        <p:spPr>
          <a:xfrm>
            <a:off x="3063240" y="2048256"/>
            <a:ext cx="960120" cy="338328"/>
          </a:xfrm>
          <a:prstGeom prst="rect">
            <a:avLst/>
          </a:prstGeom>
          <a:solidFill>
            <a:srgbClr val="F7F9FC"/>
          </a:solidFill>
          <a:ln w="5080">
            <a:solidFill>
              <a:srgbClr val="DDE4EF"/>
            </a:solidFill>
            <a:prstDash val="solid"/>
          </a:ln>
        </p:spPr>
      </p:sp>
      <p:sp>
        <p:nvSpPr>
          <p:cNvPr id="42" name="Text 40"/>
          <p:cNvSpPr/>
          <p:nvPr/>
        </p:nvSpPr>
        <p:spPr>
          <a:xfrm>
            <a:off x="3090672" y="204825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Mirror</a:t>
            </a:r>
            <a:endParaRPr lang="en-US" sz="850" dirty="0"/>
          </a:p>
        </p:txBody>
      </p:sp>
      <p:sp>
        <p:nvSpPr>
          <p:cNvPr id="43" name="Shape 41"/>
          <p:cNvSpPr/>
          <p:nvPr/>
        </p:nvSpPr>
        <p:spPr>
          <a:xfrm>
            <a:off x="4023360" y="2048256"/>
            <a:ext cx="1005840" cy="338328"/>
          </a:xfrm>
          <a:prstGeom prst="rect">
            <a:avLst/>
          </a:prstGeom>
          <a:solidFill>
            <a:srgbClr val="F7F9FC"/>
          </a:solidFill>
          <a:ln w="5080">
            <a:solidFill>
              <a:srgbClr val="DDE4EF"/>
            </a:solidFill>
            <a:prstDash val="solid"/>
          </a:ln>
        </p:spPr>
      </p:sp>
      <p:sp>
        <p:nvSpPr>
          <p:cNvPr id="44" name="Text 42"/>
          <p:cNvSpPr/>
          <p:nvPr/>
        </p:nvSpPr>
        <p:spPr>
          <a:xfrm>
            <a:off x="4050792" y="2048256"/>
            <a:ext cx="96012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Same cols</a:t>
            </a:r>
            <a:endParaRPr lang="en-US" sz="850" dirty="0"/>
          </a:p>
        </p:txBody>
      </p:sp>
      <p:sp>
        <p:nvSpPr>
          <p:cNvPr id="45" name="Shape 43"/>
          <p:cNvSpPr/>
          <p:nvPr/>
        </p:nvSpPr>
        <p:spPr>
          <a:xfrm>
            <a:off x="5029200" y="2048256"/>
            <a:ext cx="914400" cy="338328"/>
          </a:xfrm>
          <a:prstGeom prst="rect">
            <a:avLst/>
          </a:prstGeom>
          <a:solidFill>
            <a:srgbClr val="F7F9FC"/>
          </a:solidFill>
          <a:ln w="5080">
            <a:solidFill>
              <a:srgbClr val="DDE4EF"/>
            </a:solidFill>
            <a:prstDash val="solid"/>
          </a:ln>
        </p:spPr>
      </p:sp>
      <p:sp>
        <p:nvSpPr>
          <p:cNvPr id="46" name="Text 44"/>
          <p:cNvSpPr/>
          <p:nvPr/>
        </p:nvSpPr>
        <p:spPr>
          <a:xfrm>
            <a:off x="5056632" y="204825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47" name="Shape 45"/>
          <p:cNvSpPr/>
          <p:nvPr/>
        </p:nvSpPr>
        <p:spPr>
          <a:xfrm>
            <a:off x="5943600" y="2048256"/>
            <a:ext cx="914400" cy="338328"/>
          </a:xfrm>
          <a:prstGeom prst="rect">
            <a:avLst/>
          </a:prstGeom>
          <a:solidFill>
            <a:srgbClr val="F7F9FC"/>
          </a:solidFill>
          <a:ln w="5080">
            <a:solidFill>
              <a:srgbClr val="DDE4EF"/>
            </a:solidFill>
            <a:prstDash val="solid"/>
          </a:ln>
        </p:spPr>
      </p:sp>
      <p:sp>
        <p:nvSpPr>
          <p:cNvPr id="48" name="Text 46"/>
          <p:cNvSpPr/>
          <p:nvPr/>
        </p:nvSpPr>
        <p:spPr>
          <a:xfrm>
            <a:off x="5971032" y="204825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49" name="Shape 47"/>
          <p:cNvSpPr/>
          <p:nvPr/>
        </p:nvSpPr>
        <p:spPr>
          <a:xfrm>
            <a:off x="6858000" y="2048256"/>
            <a:ext cx="1143000" cy="338328"/>
          </a:xfrm>
          <a:prstGeom prst="rect">
            <a:avLst/>
          </a:prstGeom>
          <a:solidFill>
            <a:srgbClr val="F7F9FC"/>
          </a:solidFill>
          <a:ln w="5080">
            <a:solidFill>
              <a:srgbClr val="DDE4EF"/>
            </a:solidFill>
            <a:prstDash val="solid"/>
          </a:ln>
        </p:spPr>
      </p:sp>
      <p:sp>
        <p:nvSpPr>
          <p:cNvPr id="50" name="Text 48"/>
          <p:cNvSpPr/>
          <p:nvPr/>
        </p:nvSpPr>
        <p:spPr>
          <a:xfrm>
            <a:off x="6885432" y="204825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51" name="Shape 49"/>
          <p:cNvSpPr/>
          <p:nvPr/>
        </p:nvSpPr>
        <p:spPr>
          <a:xfrm>
            <a:off x="8001000" y="2048256"/>
            <a:ext cx="1097280" cy="338328"/>
          </a:xfrm>
          <a:prstGeom prst="rect">
            <a:avLst/>
          </a:prstGeom>
          <a:solidFill>
            <a:srgbClr val="F7F9FC"/>
          </a:solidFill>
          <a:ln w="5080">
            <a:solidFill>
              <a:srgbClr val="DDE4EF"/>
            </a:solidFill>
            <a:prstDash val="solid"/>
          </a:ln>
        </p:spPr>
      </p:sp>
      <p:sp>
        <p:nvSpPr>
          <p:cNvPr id="52" name="Text 50"/>
          <p:cNvSpPr/>
          <p:nvPr/>
        </p:nvSpPr>
        <p:spPr>
          <a:xfrm>
            <a:off x="8028432" y="204825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HIGH</a:t>
            </a:r>
            <a:endParaRPr lang="en-US" sz="850" dirty="0"/>
          </a:p>
        </p:txBody>
      </p:sp>
      <p:sp>
        <p:nvSpPr>
          <p:cNvPr id="53" name="Shape 51"/>
          <p:cNvSpPr/>
          <p:nvPr/>
        </p:nvSpPr>
        <p:spPr>
          <a:xfrm>
            <a:off x="228600" y="2414016"/>
            <a:ext cx="1874520" cy="338328"/>
          </a:xfrm>
          <a:prstGeom prst="rect">
            <a:avLst/>
          </a:prstGeom>
          <a:solidFill>
            <a:srgbClr val="FFEBEE"/>
          </a:solidFill>
          <a:ln w="5080">
            <a:solidFill>
              <a:srgbClr val="DDE4EF"/>
            </a:solidFill>
            <a:prstDash val="solid"/>
          </a:ln>
        </p:spPr>
      </p:sp>
      <p:sp>
        <p:nvSpPr>
          <p:cNvPr id="54" name="Text 52"/>
          <p:cNvSpPr/>
          <p:nvPr/>
        </p:nvSpPr>
        <p:spPr>
          <a:xfrm>
            <a:off x="256032" y="241401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WFElementDetails</a:t>
            </a:r>
            <a:endParaRPr lang="en-US" sz="800" dirty="0"/>
          </a:p>
        </p:txBody>
      </p:sp>
      <p:sp>
        <p:nvSpPr>
          <p:cNvPr id="55" name="Shape 53"/>
          <p:cNvSpPr/>
          <p:nvPr/>
        </p:nvSpPr>
        <p:spPr>
          <a:xfrm>
            <a:off x="2103120" y="2414016"/>
            <a:ext cx="960120" cy="338328"/>
          </a:xfrm>
          <a:prstGeom prst="rect">
            <a:avLst/>
          </a:prstGeom>
          <a:solidFill>
            <a:srgbClr val="FFFFFF"/>
          </a:solidFill>
          <a:ln w="5080">
            <a:solidFill>
              <a:srgbClr val="DDE4EF"/>
            </a:solidFill>
            <a:prstDash val="solid"/>
          </a:ln>
        </p:spPr>
      </p:sp>
      <p:sp>
        <p:nvSpPr>
          <p:cNvPr id="56" name="Text 54"/>
          <p:cNvSpPr/>
          <p:nvPr/>
        </p:nvSpPr>
        <p:spPr>
          <a:xfrm>
            <a:off x="2130552" y="241401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57" name="Shape 55"/>
          <p:cNvSpPr/>
          <p:nvPr/>
        </p:nvSpPr>
        <p:spPr>
          <a:xfrm>
            <a:off x="3063240" y="2414016"/>
            <a:ext cx="960120" cy="338328"/>
          </a:xfrm>
          <a:prstGeom prst="rect">
            <a:avLst/>
          </a:prstGeom>
          <a:solidFill>
            <a:srgbClr val="FFFFFF"/>
          </a:solidFill>
          <a:ln w="5080">
            <a:solidFill>
              <a:srgbClr val="DDE4EF"/>
            </a:solidFill>
            <a:prstDash val="solid"/>
          </a:ln>
        </p:spPr>
      </p:sp>
      <p:sp>
        <p:nvSpPr>
          <p:cNvPr id="58" name="Text 56"/>
          <p:cNvSpPr/>
          <p:nvPr/>
        </p:nvSpPr>
        <p:spPr>
          <a:xfrm>
            <a:off x="3090672" y="241401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Chained</a:t>
            </a:r>
            <a:endParaRPr lang="en-US" sz="850" dirty="0"/>
          </a:p>
        </p:txBody>
      </p:sp>
      <p:sp>
        <p:nvSpPr>
          <p:cNvPr id="59" name="Shape 57"/>
          <p:cNvSpPr/>
          <p:nvPr/>
        </p:nvSpPr>
        <p:spPr>
          <a:xfrm>
            <a:off x="4023360" y="2414016"/>
            <a:ext cx="1005840" cy="338328"/>
          </a:xfrm>
          <a:prstGeom prst="rect">
            <a:avLst/>
          </a:prstGeom>
          <a:solidFill>
            <a:srgbClr val="FFFFFF"/>
          </a:solidFill>
          <a:ln w="5080">
            <a:solidFill>
              <a:srgbClr val="DDE4EF"/>
            </a:solidFill>
            <a:prstDash val="solid"/>
          </a:ln>
        </p:spPr>
      </p:sp>
      <p:sp>
        <p:nvSpPr>
          <p:cNvPr id="60" name="Text 58"/>
          <p:cNvSpPr/>
          <p:nvPr/>
        </p:nvSpPr>
        <p:spPr>
          <a:xfrm>
            <a:off x="4050792" y="2414016"/>
            <a:ext cx="96012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Sub-fields</a:t>
            </a:r>
            <a:endParaRPr lang="en-US" sz="850" dirty="0"/>
          </a:p>
        </p:txBody>
      </p:sp>
      <p:sp>
        <p:nvSpPr>
          <p:cNvPr id="61" name="Shape 59"/>
          <p:cNvSpPr/>
          <p:nvPr/>
        </p:nvSpPr>
        <p:spPr>
          <a:xfrm>
            <a:off x="5029200" y="2414016"/>
            <a:ext cx="914400" cy="338328"/>
          </a:xfrm>
          <a:prstGeom prst="rect">
            <a:avLst/>
          </a:prstGeom>
          <a:solidFill>
            <a:srgbClr val="FFFFFF"/>
          </a:solidFill>
          <a:ln w="5080">
            <a:solidFill>
              <a:srgbClr val="DDE4EF"/>
            </a:solidFill>
            <a:prstDash val="solid"/>
          </a:ln>
        </p:spPr>
      </p:sp>
      <p:sp>
        <p:nvSpPr>
          <p:cNvPr id="62" name="Text 60"/>
          <p:cNvSpPr/>
          <p:nvPr/>
        </p:nvSpPr>
        <p:spPr>
          <a:xfrm>
            <a:off x="5056632" y="241401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63" name="Shape 61"/>
          <p:cNvSpPr/>
          <p:nvPr/>
        </p:nvSpPr>
        <p:spPr>
          <a:xfrm>
            <a:off x="5943600" y="2414016"/>
            <a:ext cx="914400" cy="338328"/>
          </a:xfrm>
          <a:prstGeom prst="rect">
            <a:avLst/>
          </a:prstGeom>
          <a:solidFill>
            <a:srgbClr val="FFFFFF"/>
          </a:solidFill>
          <a:ln w="5080">
            <a:solidFill>
              <a:srgbClr val="DDE4EF"/>
            </a:solidFill>
            <a:prstDash val="solid"/>
          </a:ln>
        </p:spPr>
      </p:sp>
      <p:sp>
        <p:nvSpPr>
          <p:cNvPr id="64" name="Text 62"/>
          <p:cNvSpPr/>
          <p:nvPr/>
        </p:nvSpPr>
        <p:spPr>
          <a:xfrm>
            <a:off x="5971032" y="241401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65" name="Shape 63"/>
          <p:cNvSpPr/>
          <p:nvPr/>
        </p:nvSpPr>
        <p:spPr>
          <a:xfrm>
            <a:off x="6858000" y="2414016"/>
            <a:ext cx="1143000" cy="338328"/>
          </a:xfrm>
          <a:prstGeom prst="rect">
            <a:avLst/>
          </a:prstGeom>
          <a:solidFill>
            <a:srgbClr val="FFFFFF"/>
          </a:solidFill>
          <a:ln w="5080">
            <a:solidFill>
              <a:srgbClr val="DDE4EF"/>
            </a:solidFill>
            <a:prstDash val="solid"/>
          </a:ln>
        </p:spPr>
      </p:sp>
      <p:sp>
        <p:nvSpPr>
          <p:cNvPr id="66" name="Text 64"/>
          <p:cNvSpPr/>
          <p:nvPr/>
        </p:nvSpPr>
        <p:spPr>
          <a:xfrm>
            <a:off x="6885432" y="241401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67" name="Shape 65"/>
          <p:cNvSpPr/>
          <p:nvPr/>
        </p:nvSpPr>
        <p:spPr>
          <a:xfrm>
            <a:off x="8001000" y="2414016"/>
            <a:ext cx="1097280" cy="338328"/>
          </a:xfrm>
          <a:prstGeom prst="rect">
            <a:avLst/>
          </a:prstGeom>
          <a:solidFill>
            <a:srgbClr val="FFFFFF"/>
          </a:solidFill>
          <a:ln w="5080">
            <a:solidFill>
              <a:srgbClr val="DDE4EF"/>
            </a:solidFill>
            <a:prstDash val="solid"/>
          </a:ln>
        </p:spPr>
      </p:sp>
      <p:sp>
        <p:nvSpPr>
          <p:cNvPr id="68" name="Text 66"/>
          <p:cNvSpPr/>
          <p:nvPr/>
        </p:nvSpPr>
        <p:spPr>
          <a:xfrm>
            <a:off x="8028432" y="241401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HIGH</a:t>
            </a:r>
            <a:endParaRPr lang="en-US" sz="850" dirty="0"/>
          </a:p>
        </p:txBody>
      </p:sp>
      <p:sp>
        <p:nvSpPr>
          <p:cNvPr id="69" name="Shape 67"/>
          <p:cNvSpPr/>
          <p:nvPr/>
        </p:nvSpPr>
        <p:spPr>
          <a:xfrm>
            <a:off x="228600" y="2779776"/>
            <a:ext cx="1874520" cy="338328"/>
          </a:xfrm>
          <a:prstGeom prst="rect">
            <a:avLst/>
          </a:prstGeom>
          <a:solidFill>
            <a:srgbClr val="FFF8E1"/>
          </a:solidFill>
          <a:ln w="5080">
            <a:solidFill>
              <a:srgbClr val="DDE4EF"/>
            </a:solidFill>
            <a:prstDash val="solid"/>
          </a:ln>
        </p:spPr>
      </p:sp>
      <p:sp>
        <p:nvSpPr>
          <p:cNvPr id="70" name="Text 68"/>
          <p:cNvSpPr/>
          <p:nvPr/>
        </p:nvSpPr>
        <p:spPr>
          <a:xfrm>
            <a:off x="256032" y="277977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WFElementComments</a:t>
            </a:r>
            <a:endParaRPr lang="en-US" sz="800" dirty="0"/>
          </a:p>
        </p:txBody>
      </p:sp>
      <p:sp>
        <p:nvSpPr>
          <p:cNvPr id="71" name="Shape 69"/>
          <p:cNvSpPr/>
          <p:nvPr/>
        </p:nvSpPr>
        <p:spPr>
          <a:xfrm>
            <a:off x="2103120" y="2779776"/>
            <a:ext cx="960120" cy="338328"/>
          </a:xfrm>
          <a:prstGeom prst="rect">
            <a:avLst/>
          </a:prstGeom>
          <a:solidFill>
            <a:srgbClr val="F7F9FC"/>
          </a:solidFill>
          <a:ln w="5080">
            <a:solidFill>
              <a:srgbClr val="DDE4EF"/>
            </a:solidFill>
            <a:prstDash val="solid"/>
          </a:ln>
        </p:spPr>
      </p:sp>
      <p:sp>
        <p:nvSpPr>
          <p:cNvPr id="72" name="Text 70"/>
          <p:cNvSpPr/>
          <p:nvPr/>
        </p:nvSpPr>
        <p:spPr>
          <a:xfrm>
            <a:off x="2130552" y="277977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73" name="Shape 71"/>
          <p:cNvSpPr/>
          <p:nvPr/>
        </p:nvSpPr>
        <p:spPr>
          <a:xfrm>
            <a:off x="3063240" y="2779776"/>
            <a:ext cx="960120" cy="338328"/>
          </a:xfrm>
          <a:prstGeom prst="rect">
            <a:avLst/>
          </a:prstGeom>
          <a:solidFill>
            <a:srgbClr val="F7F9FC"/>
          </a:solidFill>
          <a:ln w="5080">
            <a:solidFill>
              <a:srgbClr val="DDE4EF"/>
            </a:solidFill>
            <a:prstDash val="solid"/>
          </a:ln>
        </p:spPr>
      </p:sp>
      <p:sp>
        <p:nvSpPr>
          <p:cNvPr id="74" name="Text 72"/>
          <p:cNvSpPr/>
          <p:nvPr/>
        </p:nvSpPr>
        <p:spPr>
          <a:xfrm>
            <a:off x="3090672" y="277977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Chained</a:t>
            </a:r>
            <a:endParaRPr lang="en-US" sz="850" dirty="0"/>
          </a:p>
        </p:txBody>
      </p:sp>
      <p:sp>
        <p:nvSpPr>
          <p:cNvPr id="75" name="Shape 73"/>
          <p:cNvSpPr/>
          <p:nvPr/>
        </p:nvSpPr>
        <p:spPr>
          <a:xfrm>
            <a:off x="4023360" y="2779776"/>
            <a:ext cx="1005840" cy="338328"/>
          </a:xfrm>
          <a:prstGeom prst="rect">
            <a:avLst/>
          </a:prstGeom>
          <a:solidFill>
            <a:srgbClr val="F7F9FC"/>
          </a:solidFill>
          <a:ln w="5080">
            <a:solidFill>
              <a:srgbClr val="DDE4EF"/>
            </a:solidFill>
            <a:prstDash val="solid"/>
          </a:ln>
        </p:spPr>
      </p:sp>
      <p:sp>
        <p:nvSpPr>
          <p:cNvPr id="76" name="Text 74"/>
          <p:cNvSpPr/>
          <p:nvPr/>
        </p:nvSpPr>
        <p:spPr>
          <a:xfrm>
            <a:off x="4050792" y="2779776"/>
            <a:ext cx="96012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Content</a:t>
            </a:r>
            <a:endParaRPr lang="en-US" sz="850" dirty="0"/>
          </a:p>
        </p:txBody>
      </p:sp>
      <p:sp>
        <p:nvSpPr>
          <p:cNvPr id="77" name="Shape 75"/>
          <p:cNvSpPr/>
          <p:nvPr/>
        </p:nvSpPr>
        <p:spPr>
          <a:xfrm>
            <a:off x="5029200" y="2779776"/>
            <a:ext cx="914400" cy="338328"/>
          </a:xfrm>
          <a:prstGeom prst="rect">
            <a:avLst/>
          </a:prstGeom>
          <a:solidFill>
            <a:srgbClr val="F7F9FC"/>
          </a:solidFill>
          <a:ln w="5080">
            <a:solidFill>
              <a:srgbClr val="DDE4EF"/>
            </a:solidFill>
            <a:prstDash val="solid"/>
          </a:ln>
        </p:spPr>
      </p:sp>
      <p:sp>
        <p:nvSpPr>
          <p:cNvPr id="78" name="Text 76"/>
          <p:cNvSpPr/>
          <p:nvPr/>
        </p:nvSpPr>
        <p:spPr>
          <a:xfrm>
            <a:off x="5056632" y="277977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79" name="Shape 77"/>
          <p:cNvSpPr/>
          <p:nvPr/>
        </p:nvSpPr>
        <p:spPr>
          <a:xfrm>
            <a:off x="5943600" y="2779776"/>
            <a:ext cx="914400" cy="338328"/>
          </a:xfrm>
          <a:prstGeom prst="rect">
            <a:avLst/>
          </a:prstGeom>
          <a:solidFill>
            <a:srgbClr val="F7F9FC"/>
          </a:solidFill>
          <a:ln w="5080">
            <a:solidFill>
              <a:srgbClr val="DDE4EF"/>
            </a:solidFill>
            <a:prstDash val="solid"/>
          </a:ln>
        </p:spPr>
      </p:sp>
      <p:sp>
        <p:nvSpPr>
          <p:cNvPr id="80" name="Text 78"/>
          <p:cNvSpPr/>
          <p:nvPr/>
        </p:nvSpPr>
        <p:spPr>
          <a:xfrm>
            <a:off x="5971032" y="277977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81" name="Shape 79"/>
          <p:cNvSpPr/>
          <p:nvPr/>
        </p:nvSpPr>
        <p:spPr>
          <a:xfrm>
            <a:off x="6858000" y="2779776"/>
            <a:ext cx="1143000" cy="338328"/>
          </a:xfrm>
          <a:prstGeom prst="rect">
            <a:avLst/>
          </a:prstGeom>
          <a:solidFill>
            <a:srgbClr val="F7F9FC"/>
          </a:solidFill>
          <a:ln w="5080">
            <a:solidFill>
              <a:srgbClr val="DDE4EF"/>
            </a:solidFill>
            <a:prstDash val="solid"/>
          </a:ln>
        </p:spPr>
      </p:sp>
      <p:sp>
        <p:nvSpPr>
          <p:cNvPr id="82" name="Text 80"/>
          <p:cNvSpPr/>
          <p:nvPr/>
        </p:nvSpPr>
        <p:spPr>
          <a:xfrm>
            <a:off x="6885432" y="277977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83" name="Shape 81"/>
          <p:cNvSpPr/>
          <p:nvPr/>
        </p:nvSpPr>
        <p:spPr>
          <a:xfrm>
            <a:off x="8001000" y="2779776"/>
            <a:ext cx="1097280" cy="338328"/>
          </a:xfrm>
          <a:prstGeom prst="rect">
            <a:avLst/>
          </a:prstGeom>
          <a:solidFill>
            <a:srgbClr val="F7F9FC"/>
          </a:solidFill>
          <a:ln w="5080">
            <a:solidFill>
              <a:srgbClr val="DDE4EF"/>
            </a:solidFill>
            <a:prstDash val="solid"/>
          </a:ln>
        </p:spPr>
      </p:sp>
      <p:sp>
        <p:nvSpPr>
          <p:cNvPr id="84" name="Text 82"/>
          <p:cNvSpPr/>
          <p:nvPr/>
        </p:nvSpPr>
        <p:spPr>
          <a:xfrm>
            <a:off x="8028432" y="277977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MED</a:t>
            </a:r>
            <a:endParaRPr lang="en-US" sz="850" dirty="0"/>
          </a:p>
        </p:txBody>
      </p:sp>
      <p:sp>
        <p:nvSpPr>
          <p:cNvPr id="85" name="Shape 83"/>
          <p:cNvSpPr/>
          <p:nvPr/>
        </p:nvSpPr>
        <p:spPr>
          <a:xfrm>
            <a:off x="228600" y="3145536"/>
            <a:ext cx="1874520" cy="338328"/>
          </a:xfrm>
          <a:prstGeom prst="rect">
            <a:avLst/>
          </a:prstGeom>
          <a:solidFill>
            <a:srgbClr val="FFF8E1"/>
          </a:solidFill>
          <a:ln w="5080">
            <a:solidFill>
              <a:srgbClr val="DDE4EF"/>
            </a:solidFill>
            <a:prstDash val="solid"/>
          </a:ln>
        </p:spPr>
      </p:sp>
      <p:sp>
        <p:nvSpPr>
          <p:cNvPr id="86" name="Text 84"/>
          <p:cNvSpPr/>
          <p:nvPr/>
        </p:nvSpPr>
        <p:spPr>
          <a:xfrm>
            <a:off x="256032" y="314553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WFFiles</a:t>
            </a:r>
            <a:endParaRPr lang="en-US" sz="800" dirty="0"/>
          </a:p>
        </p:txBody>
      </p:sp>
      <p:sp>
        <p:nvSpPr>
          <p:cNvPr id="87" name="Shape 85"/>
          <p:cNvSpPr/>
          <p:nvPr/>
        </p:nvSpPr>
        <p:spPr>
          <a:xfrm>
            <a:off x="2103120" y="3145536"/>
            <a:ext cx="960120" cy="338328"/>
          </a:xfrm>
          <a:prstGeom prst="rect">
            <a:avLst/>
          </a:prstGeom>
          <a:solidFill>
            <a:srgbClr val="FFFFFF"/>
          </a:solidFill>
          <a:ln w="5080">
            <a:solidFill>
              <a:srgbClr val="DDE4EF"/>
            </a:solidFill>
            <a:prstDash val="solid"/>
          </a:ln>
        </p:spPr>
      </p:sp>
      <p:sp>
        <p:nvSpPr>
          <p:cNvPr id="88" name="Text 86"/>
          <p:cNvSpPr/>
          <p:nvPr/>
        </p:nvSpPr>
        <p:spPr>
          <a:xfrm>
            <a:off x="2130552" y="314553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89" name="Shape 87"/>
          <p:cNvSpPr/>
          <p:nvPr/>
        </p:nvSpPr>
        <p:spPr>
          <a:xfrm>
            <a:off x="3063240" y="3145536"/>
            <a:ext cx="960120" cy="338328"/>
          </a:xfrm>
          <a:prstGeom prst="rect">
            <a:avLst/>
          </a:prstGeom>
          <a:solidFill>
            <a:srgbClr val="FFFFFF"/>
          </a:solidFill>
          <a:ln w="5080">
            <a:solidFill>
              <a:srgbClr val="DDE4EF"/>
            </a:solidFill>
            <a:prstDash val="solid"/>
          </a:ln>
        </p:spPr>
      </p:sp>
      <p:sp>
        <p:nvSpPr>
          <p:cNvPr id="90" name="Text 88"/>
          <p:cNvSpPr/>
          <p:nvPr/>
        </p:nvSpPr>
        <p:spPr>
          <a:xfrm>
            <a:off x="3090672" y="314553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Chained</a:t>
            </a:r>
            <a:endParaRPr lang="en-US" sz="850" dirty="0"/>
          </a:p>
        </p:txBody>
      </p:sp>
      <p:sp>
        <p:nvSpPr>
          <p:cNvPr id="91" name="Shape 89"/>
          <p:cNvSpPr/>
          <p:nvPr/>
        </p:nvSpPr>
        <p:spPr>
          <a:xfrm>
            <a:off x="4023360" y="3145536"/>
            <a:ext cx="1005840" cy="338328"/>
          </a:xfrm>
          <a:prstGeom prst="rect">
            <a:avLst/>
          </a:prstGeom>
          <a:solidFill>
            <a:srgbClr val="FFFFFF"/>
          </a:solidFill>
          <a:ln w="5080">
            <a:solidFill>
              <a:srgbClr val="DDE4EF"/>
            </a:solidFill>
            <a:prstDash val="solid"/>
          </a:ln>
        </p:spPr>
      </p:sp>
      <p:sp>
        <p:nvSpPr>
          <p:cNvPr id="92" name="Text 90"/>
          <p:cNvSpPr/>
          <p:nvPr/>
        </p:nvSpPr>
        <p:spPr>
          <a:xfrm>
            <a:off x="4050792" y="3145536"/>
            <a:ext cx="96012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93" name="Shape 91"/>
          <p:cNvSpPr/>
          <p:nvPr/>
        </p:nvSpPr>
        <p:spPr>
          <a:xfrm>
            <a:off x="5029200" y="3145536"/>
            <a:ext cx="914400" cy="338328"/>
          </a:xfrm>
          <a:prstGeom prst="rect">
            <a:avLst/>
          </a:prstGeom>
          <a:solidFill>
            <a:srgbClr val="FFFFFF"/>
          </a:solidFill>
          <a:ln w="5080">
            <a:solidFill>
              <a:srgbClr val="DDE4EF"/>
            </a:solidFill>
            <a:prstDash val="solid"/>
          </a:ln>
        </p:spPr>
      </p:sp>
      <p:sp>
        <p:nvSpPr>
          <p:cNvPr id="94" name="Text 92"/>
          <p:cNvSpPr/>
          <p:nvPr/>
        </p:nvSpPr>
        <p:spPr>
          <a:xfrm>
            <a:off x="5056632" y="314553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95" name="Shape 93"/>
          <p:cNvSpPr/>
          <p:nvPr/>
        </p:nvSpPr>
        <p:spPr>
          <a:xfrm>
            <a:off x="5943600" y="3145536"/>
            <a:ext cx="914400" cy="338328"/>
          </a:xfrm>
          <a:prstGeom prst="rect">
            <a:avLst/>
          </a:prstGeom>
          <a:solidFill>
            <a:srgbClr val="FFFFFF"/>
          </a:solidFill>
          <a:ln w="5080">
            <a:solidFill>
              <a:srgbClr val="DDE4EF"/>
            </a:solidFill>
            <a:prstDash val="solid"/>
          </a:ln>
        </p:spPr>
      </p:sp>
      <p:sp>
        <p:nvSpPr>
          <p:cNvPr id="96" name="Text 94"/>
          <p:cNvSpPr/>
          <p:nvPr/>
        </p:nvSpPr>
        <p:spPr>
          <a:xfrm>
            <a:off x="5971032" y="314553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97" name="Shape 95"/>
          <p:cNvSpPr/>
          <p:nvPr/>
        </p:nvSpPr>
        <p:spPr>
          <a:xfrm>
            <a:off x="6858000" y="3145536"/>
            <a:ext cx="1143000" cy="338328"/>
          </a:xfrm>
          <a:prstGeom prst="rect">
            <a:avLst/>
          </a:prstGeom>
          <a:solidFill>
            <a:srgbClr val="FFFFFF"/>
          </a:solidFill>
          <a:ln w="5080">
            <a:solidFill>
              <a:srgbClr val="DDE4EF"/>
            </a:solidFill>
            <a:prstDash val="solid"/>
          </a:ln>
        </p:spPr>
      </p:sp>
      <p:sp>
        <p:nvSpPr>
          <p:cNvPr id="98" name="Text 96"/>
          <p:cNvSpPr/>
          <p:nvPr/>
        </p:nvSpPr>
        <p:spPr>
          <a:xfrm>
            <a:off x="6885432" y="314553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99" name="Shape 97"/>
          <p:cNvSpPr/>
          <p:nvPr/>
        </p:nvSpPr>
        <p:spPr>
          <a:xfrm>
            <a:off x="8001000" y="3145536"/>
            <a:ext cx="1097280" cy="338328"/>
          </a:xfrm>
          <a:prstGeom prst="rect">
            <a:avLst/>
          </a:prstGeom>
          <a:solidFill>
            <a:srgbClr val="FFFFFF"/>
          </a:solidFill>
          <a:ln w="5080">
            <a:solidFill>
              <a:srgbClr val="DDE4EF"/>
            </a:solidFill>
            <a:prstDash val="solid"/>
          </a:ln>
        </p:spPr>
      </p:sp>
      <p:sp>
        <p:nvSpPr>
          <p:cNvPr id="100" name="Text 98"/>
          <p:cNvSpPr/>
          <p:nvPr/>
        </p:nvSpPr>
        <p:spPr>
          <a:xfrm>
            <a:off x="8028432" y="314553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MED</a:t>
            </a:r>
            <a:endParaRPr lang="en-US" sz="850" dirty="0"/>
          </a:p>
        </p:txBody>
      </p:sp>
      <p:sp>
        <p:nvSpPr>
          <p:cNvPr id="101" name="Shape 99"/>
          <p:cNvSpPr/>
          <p:nvPr/>
        </p:nvSpPr>
        <p:spPr>
          <a:xfrm>
            <a:off x="228600" y="3511296"/>
            <a:ext cx="1874520" cy="338328"/>
          </a:xfrm>
          <a:prstGeom prst="rect">
            <a:avLst/>
          </a:prstGeom>
          <a:solidFill>
            <a:srgbClr val="FFEBEE"/>
          </a:solidFill>
          <a:ln w="5080">
            <a:solidFill>
              <a:srgbClr val="DDE4EF"/>
            </a:solidFill>
            <a:prstDash val="solid"/>
          </a:ln>
        </p:spPr>
      </p:sp>
      <p:sp>
        <p:nvSpPr>
          <p:cNvPr id="102" name="Text 100"/>
          <p:cNvSpPr/>
          <p:nvPr/>
        </p:nvSpPr>
        <p:spPr>
          <a:xfrm>
            <a:off x="256032" y="351129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WFFilesContent</a:t>
            </a:r>
            <a:endParaRPr lang="en-US" sz="800" dirty="0"/>
          </a:p>
        </p:txBody>
      </p:sp>
      <p:sp>
        <p:nvSpPr>
          <p:cNvPr id="103" name="Shape 101"/>
          <p:cNvSpPr/>
          <p:nvPr/>
        </p:nvSpPr>
        <p:spPr>
          <a:xfrm>
            <a:off x="2103120" y="3511296"/>
            <a:ext cx="960120" cy="338328"/>
          </a:xfrm>
          <a:prstGeom prst="rect">
            <a:avLst/>
          </a:prstGeom>
          <a:solidFill>
            <a:srgbClr val="F7F9FC"/>
          </a:solidFill>
          <a:ln w="5080">
            <a:solidFill>
              <a:srgbClr val="DDE4EF"/>
            </a:solidFill>
            <a:prstDash val="solid"/>
          </a:ln>
        </p:spPr>
      </p:sp>
      <p:sp>
        <p:nvSpPr>
          <p:cNvPr id="104" name="Text 102"/>
          <p:cNvSpPr/>
          <p:nvPr/>
        </p:nvSpPr>
        <p:spPr>
          <a:xfrm>
            <a:off x="2130552" y="351129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05" name="Shape 103"/>
          <p:cNvSpPr/>
          <p:nvPr/>
        </p:nvSpPr>
        <p:spPr>
          <a:xfrm>
            <a:off x="3063240" y="3511296"/>
            <a:ext cx="960120" cy="338328"/>
          </a:xfrm>
          <a:prstGeom prst="rect">
            <a:avLst/>
          </a:prstGeom>
          <a:solidFill>
            <a:srgbClr val="F7F9FC"/>
          </a:solidFill>
          <a:ln w="5080">
            <a:solidFill>
              <a:srgbClr val="DDE4EF"/>
            </a:solidFill>
            <a:prstDash val="solid"/>
          </a:ln>
        </p:spPr>
      </p:sp>
      <p:sp>
        <p:nvSpPr>
          <p:cNvPr id="106" name="Text 104"/>
          <p:cNvSpPr/>
          <p:nvPr/>
        </p:nvSpPr>
        <p:spPr>
          <a:xfrm>
            <a:off x="3090672" y="351129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07" name="Shape 105"/>
          <p:cNvSpPr/>
          <p:nvPr/>
        </p:nvSpPr>
        <p:spPr>
          <a:xfrm>
            <a:off x="4023360" y="3511296"/>
            <a:ext cx="1005840" cy="338328"/>
          </a:xfrm>
          <a:prstGeom prst="rect">
            <a:avLst/>
          </a:prstGeom>
          <a:solidFill>
            <a:srgbClr val="F7F9FC"/>
          </a:solidFill>
          <a:ln w="5080">
            <a:solidFill>
              <a:srgbClr val="DDE4EF"/>
            </a:solidFill>
            <a:prstDash val="solid"/>
          </a:ln>
        </p:spPr>
      </p:sp>
      <p:sp>
        <p:nvSpPr>
          <p:cNvPr id="108" name="Text 106"/>
          <p:cNvSpPr/>
          <p:nvPr/>
        </p:nvSpPr>
        <p:spPr>
          <a:xfrm>
            <a:off x="4050792" y="3511296"/>
            <a:ext cx="96012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09" name="Shape 107"/>
          <p:cNvSpPr/>
          <p:nvPr/>
        </p:nvSpPr>
        <p:spPr>
          <a:xfrm>
            <a:off x="5029200" y="3511296"/>
            <a:ext cx="914400" cy="338328"/>
          </a:xfrm>
          <a:prstGeom prst="rect">
            <a:avLst/>
          </a:prstGeom>
          <a:solidFill>
            <a:srgbClr val="F7F9FC"/>
          </a:solidFill>
          <a:ln w="5080">
            <a:solidFill>
              <a:srgbClr val="DDE4EF"/>
            </a:solidFill>
            <a:prstDash val="solid"/>
          </a:ln>
        </p:spPr>
      </p:sp>
      <p:sp>
        <p:nvSpPr>
          <p:cNvPr id="110" name="Text 108"/>
          <p:cNvSpPr/>
          <p:nvPr/>
        </p:nvSpPr>
        <p:spPr>
          <a:xfrm>
            <a:off x="5056632" y="351129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111" name="Shape 109"/>
          <p:cNvSpPr/>
          <p:nvPr/>
        </p:nvSpPr>
        <p:spPr>
          <a:xfrm>
            <a:off x="5943600" y="3511296"/>
            <a:ext cx="914400" cy="338328"/>
          </a:xfrm>
          <a:prstGeom prst="rect">
            <a:avLst/>
          </a:prstGeom>
          <a:solidFill>
            <a:srgbClr val="F7F9FC"/>
          </a:solidFill>
          <a:ln w="5080">
            <a:solidFill>
              <a:srgbClr val="DDE4EF"/>
            </a:solidFill>
            <a:prstDash val="solid"/>
          </a:ln>
        </p:spPr>
      </p:sp>
      <p:sp>
        <p:nvSpPr>
          <p:cNvPr id="112" name="Text 110"/>
          <p:cNvSpPr/>
          <p:nvPr/>
        </p:nvSpPr>
        <p:spPr>
          <a:xfrm>
            <a:off x="5971032" y="351129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REVOKE</a:t>
            </a:r>
            <a:endParaRPr lang="en-US" sz="850" dirty="0"/>
          </a:p>
        </p:txBody>
      </p:sp>
      <p:sp>
        <p:nvSpPr>
          <p:cNvPr id="113" name="Shape 111"/>
          <p:cNvSpPr/>
          <p:nvPr/>
        </p:nvSpPr>
        <p:spPr>
          <a:xfrm>
            <a:off x="6858000" y="3511296"/>
            <a:ext cx="1143000" cy="338328"/>
          </a:xfrm>
          <a:prstGeom prst="rect">
            <a:avLst/>
          </a:prstGeom>
          <a:solidFill>
            <a:srgbClr val="F7F9FC"/>
          </a:solidFill>
          <a:ln w="5080">
            <a:solidFill>
              <a:srgbClr val="DDE4EF"/>
            </a:solidFill>
            <a:prstDash val="solid"/>
          </a:ln>
        </p:spPr>
      </p:sp>
      <p:sp>
        <p:nvSpPr>
          <p:cNvPr id="114" name="Text 112"/>
          <p:cNvSpPr/>
          <p:nvPr/>
        </p:nvSpPr>
        <p:spPr>
          <a:xfrm>
            <a:off x="6885432" y="351129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15" name="Shape 113"/>
          <p:cNvSpPr/>
          <p:nvPr/>
        </p:nvSpPr>
        <p:spPr>
          <a:xfrm>
            <a:off x="8001000" y="3511296"/>
            <a:ext cx="1097280" cy="338328"/>
          </a:xfrm>
          <a:prstGeom prst="rect">
            <a:avLst/>
          </a:prstGeom>
          <a:solidFill>
            <a:srgbClr val="F7F9FC"/>
          </a:solidFill>
          <a:ln w="5080">
            <a:solidFill>
              <a:srgbClr val="DDE4EF"/>
            </a:solidFill>
            <a:prstDash val="solid"/>
          </a:ln>
        </p:spPr>
      </p:sp>
      <p:sp>
        <p:nvSpPr>
          <p:cNvPr id="116" name="Text 114"/>
          <p:cNvSpPr/>
          <p:nvPr/>
        </p:nvSpPr>
        <p:spPr>
          <a:xfrm>
            <a:off x="8028432" y="351129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HIGH</a:t>
            </a:r>
            <a:endParaRPr lang="en-US" sz="850" dirty="0"/>
          </a:p>
        </p:txBody>
      </p:sp>
      <p:sp>
        <p:nvSpPr>
          <p:cNvPr id="117" name="Shape 115"/>
          <p:cNvSpPr/>
          <p:nvPr/>
        </p:nvSpPr>
        <p:spPr>
          <a:xfrm>
            <a:off x="228600" y="3877056"/>
            <a:ext cx="1874520" cy="338328"/>
          </a:xfrm>
          <a:prstGeom prst="rect">
            <a:avLst/>
          </a:prstGeom>
          <a:solidFill>
            <a:srgbClr val="FFF8E1"/>
          </a:solidFill>
          <a:ln w="5080">
            <a:solidFill>
              <a:srgbClr val="DDE4EF"/>
            </a:solidFill>
            <a:prstDash val="solid"/>
          </a:ln>
        </p:spPr>
      </p:sp>
      <p:sp>
        <p:nvSpPr>
          <p:cNvPr id="118" name="Text 116"/>
          <p:cNvSpPr/>
          <p:nvPr/>
        </p:nvSpPr>
        <p:spPr>
          <a:xfrm>
            <a:off x="256032" y="387705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WFUsers</a:t>
            </a:r>
            <a:endParaRPr lang="en-US" sz="800" dirty="0"/>
          </a:p>
        </p:txBody>
      </p:sp>
      <p:sp>
        <p:nvSpPr>
          <p:cNvPr id="119" name="Shape 117"/>
          <p:cNvSpPr/>
          <p:nvPr/>
        </p:nvSpPr>
        <p:spPr>
          <a:xfrm>
            <a:off x="2103120" y="3877056"/>
            <a:ext cx="960120" cy="338328"/>
          </a:xfrm>
          <a:prstGeom prst="rect">
            <a:avLst/>
          </a:prstGeom>
          <a:solidFill>
            <a:srgbClr val="FFFFFF"/>
          </a:solidFill>
          <a:ln w="5080">
            <a:solidFill>
              <a:srgbClr val="DDE4EF"/>
            </a:solidFill>
            <a:prstDash val="solid"/>
          </a:ln>
        </p:spPr>
      </p:sp>
      <p:sp>
        <p:nvSpPr>
          <p:cNvPr id="120" name="Text 118"/>
          <p:cNvSpPr/>
          <p:nvPr/>
        </p:nvSpPr>
        <p:spPr>
          <a:xfrm>
            <a:off x="2130552" y="387705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21" name="Shape 119"/>
          <p:cNvSpPr/>
          <p:nvPr/>
        </p:nvSpPr>
        <p:spPr>
          <a:xfrm>
            <a:off x="3063240" y="3877056"/>
            <a:ext cx="960120" cy="338328"/>
          </a:xfrm>
          <a:prstGeom prst="rect">
            <a:avLst/>
          </a:prstGeom>
          <a:solidFill>
            <a:srgbClr val="FFFFFF"/>
          </a:solidFill>
          <a:ln w="5080">
            <a:solidFill>
              <a:srgbClr val="DDE4EF"/>
            </a:solidFill>
            <a:prstDash val="solid"/>
          </a:ln>
        </p:spPr>
      </p:sp>
      <p:sp>
        <p:nvSpPr>
          <p:cNvPr id="122" name="Text 120"/>
          <p:cNvSpPr/>
          <p:nvPr/>
        </p:nvSpPr>
        <p:spPr>
          <a:xfrm>
            <a:off x="3090672" y="387705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23" name="Shape 121"/>
          <p:cNvSpPr/>
          <p:nvPr/>
        </p:nvSpPr>
        <p:spPr>
          <a:xfrm>
            <a:off x="4023360" y="3877056"/>
            <a:ext cx="1005840" cy="338328"/>
          </a:xfrm>
          <a:prstGeom prst="rect">
            <a:avLst/>
          </a:prstGeom>
          <a:solidFill>
            <a:srgbClr val="FFFFFF"/>
          </a:solidFill>
          <a:ln w="5080">
            <a:solidFill>
              <a:srgbClr val="DDE4EF"/>
            </a:solidFill>
            <a:prstDash val="solid"/>
          </a:ln>
        </p:spPr>
      </p:sp>
      <p:sp>
        <p:nvSpPr>
          <p:cNvPr id="124" name="Text 122"/>
          <p:cNvSpPr/>
          <p:nvPr/>
        </p:nvSpPr>
        <p:spPr>
          <a:xfrm>
            <a:off x="4050792" y="3877056"/>
            <a:ext cx="96012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Name/Email</a:t>
            </a:r>
            <a:endParaRPr lang="en-US" sz="850" dirty="0"/>
          </a:p>
        </p:txBody>
      </p:sp>
      <p:sp>
        <p:nvSpPr>
          <p:cNvPr id="125" name="Shape 123"/>
          <p:cNvSpPr/>
          <p:nvPr/>
        </p:nvSpPr>
        <p:spPr>
          <a:xfrm>
            <a:off x="5029200" y="3877056"/>
            <a:ext cx="914400" cy="338328"/>
          </a:xfrm>
          <a:prstGeom prst="rect">
            <a:avLst/>
          </a:prstGeom>
          <a:solidFill>
            <a:srgbClr val="FFFFFF"/>
          </a:solidFill>
          <a:ln w="5080">
            <a:solidFill>
              <a:srgbClr val="DDE4EF"/>
            </a:solidFill>
            <a:prstDash val="solid"/>
          </a:ln>
        </p:spPr>
      </p:sp>
      <p:sp>
        <p:nvSpPr>
          <p:cNvPr id="126" name="Text 124"/>
          <p:cNvSpPr/>
          <p:nvPr/>
        </p:nvSpPr>
        <p:spPr>
          <a:xfrm>
            <a:off x="5056632" y="387705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127" name="Shape 125"/>
          <p:cNvSpPr/>
          <p:nvPr/>
        </p:nvSpPr>
        <p:spPr>
          <a:xfrm>
            <a:off x="5943600" y="3877056"/>
            <a:ext cx="914400" cy="338328"/>
          </a:xfrm>
          <a:prstGeom prst="rect">
            <a:avLst/>
          </a:prstGeom>
          <a:solidFill>
            <a:srgbClr val="FFFFFF"/>
          </a:solidFill>
          <a:ln w="5080">
            <a:solidFill>
              <a:srgbClr val="DDE4EF"/>
            </a:solidFill>
            <a:prstDash val="solid"/>
          </a:ln>
        </p:spPr>
      </p:sp>
      <p:sp>
        <p:nvSpPr>
          <p:cNvPr id="128" name="Text 126"/>
          <p:cNvSpPr/>
          <p:nvPr/>
        </p:nvSpPr>
        <p:spPr>
          <a:xfrm>
            <a:off x="5971032" y="387705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29" name="Shape 127"/>
          <p:cNvSpPr/>
          <p:nvPr/>
        </p:nvSpPr>
        <p:spPr>
          <a:xfrm>
            <a:off x="6858000" y="3877056"/>
            <a:ext cx="1143000" cy="338328"/>
          </a:xfrm>
          <a:prstGeom prst="rect">
            <a:avLst/>
          </a:prstGeom>
          <a:solidFill>
            <a:srgbClr val="FFFFFF"/>
          </a:solidFill>
          <a:ln w="5080">
            <a:solidFill>
              <a:srgbClr val="DDE4EF"/>
            </a:solidFill>
            <a:prstDash val="solid"/>
          </a:ln>
        </p:spPr>
      </p:sp>
      <p:sp>
        <p:nvSpPr>
          <p:cNvPr id="130" name="Text 128"/>
          <p:cNvSpPr/>
          <p:nvPr/>
        </p:nvSpPr>
        <p:spPr>
          <a:xfrm>
            <a:off x="6885432" y="3877056"/>
            <a:ext cx="10972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31" name="Shape 129"/>
          <p:cNvSpPr/>
          <p:nvPr/>
        </p:nvSpPr>
        <p:spPr>
          <a:xfrm>
            <a:off x="8001000" y="3877056"/>
            <a:ext cx="1097280" cy="338328"/>
          </a:xfrm>
          <a:prstGeom prst="rect">
            <a:avLst/>
          </a:prstGeom>
          <a:solidFill>
            <a:srgbClr val="FFFFFF"/>
          </a:solidFill>
          <a:ln w="5080">
            <a:solidFill>
              <a:srgbClr val="DDE4EF"/>
            </a:solidFill>
            <a:prstDash val="solid"/>
          </a:ln>
        </p:spPr>
      </p:sp>
      <p:sp>
        <p:nvSpPr>
          <p:cNvPr id="132" name="Text 130"/>
          <p:cNvSpPr/>
          <p:nvPr/>
        </p:nvSpPr>
        <p:spPr>
          <a:xfrm>
            <a:off x="8028432" y="387705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MED</a:t>
            </a:r>
            <a:endParaRPr lang="en-US" sz="850" dirty="0"/>
          </a:p>
        </p:txBody>
      </p:sp>
      <p:sp>
        <p:nvSpPr>
          <p:cNvPr id="133" name="Shape 131"/>
          <p:cNvSpPr/>
          <p:nvPr/>
        </p:nvSpPr>
        <p:spPr>
          <a:xfrm>
            <a:off x="228600" y="4242816"/>
            <a:ext cx="1874520" cy="338328"/>
          </a:xfrm>
          <a:prstGeom prst="rect">
            <a:avLst/>
          </a:prstGeom>
          <a:solidFill>
            <a:srgbClr val="FFF3E0"/>
          </a:solidFill>
          <a:ln w="5080">
            <a:solidFill>
              <a:srgbClr val="DDE4EF"/>
            </a:solidFill>
            <a:prstDash val="solid"/>
          </a:ln>
        </p:spPr>
      </p:sp>
      <p:sp>
        <p:nvSpPr>
          <p:cNvPr id="134" name="Text 132"/>
          <p:cNvSpPr/>
          <p:nvPr/>
        </p:nvSpPr>
        <p:spPr>
          <a:xfrm>
            <a:off x="256032" y="4242816"/>
            <a:ext cx="1828800" cy="338328"/>
          </a:xfrm>
          <a:prstGeom prst="rect">
            <a:avLst/>
          </a:prstGeom>
          <a:noFill/>
          <a:ln/>
        </p:spPr>
        <p:txBody>
          <a:bodyPr wrap="square" rtlCol="0" anchor="ctr"/>
          <a:lstStyle/>
          <a:p>
            <a:pPr marL="0" indent="0" algn="l">
              <a:buNone/>
            </a:pPr>
            <a:r>
              <a:rPr lang="en-US" sz="800" b="1" dirty="0">
                <a:solidFill>
                  <a:srgbClr val="1A1A2E"/>
                </a:solidFill>
                <a:latin typeface="Calibri" pitchFamily="34" charset="0"/>
                <a:ea typeface="Calibri" pitchFamily="34" charset="-122"/>
                <a:cs typeface="Calibri" pitchFamily="34" charset="-120"/>
              </a:rPr>
              <a:t>WFLogs</a:t>
            </a:r>
            <a:endParaRPr lang="en-US" sz="800" dirty="0"/>
          </a:p>
        </p:txBody>
      </p:sp>
      <p:sp>
        <p:nvSpPr>
          <p:cNvPr id="135" name="Shape 133"/>
          <p:cNvSpPr/>
          <p:nvPr/>
        </p:nvSpPr>
        <p:spPr>
          <a:xfrm>
            <a:off x="2103120" y="4242816"/>
            <a:ext cx="960120" cy="338328"/>
          </a:xfrm>
          <a:prstGeom prst="rect">
            <a:avLst/>
          </a:prstGeom>
          <a:solidFill>
            <a:srgbClr val="F7F9FC"/>
          </a:solidFill>
          <a:ln w="5080">
            <a:solidFill>
              <a:srgbClr val="DDE4EF"/>
            </a:solidFill>
            <a:prstDash val="solid"/>
          </a:ln>
        </p:spPr>
      </p:sp>
      <p:sp>
        <p:nvSpPr>
          <p:cNvPr id="136" name="Text 134"/>
          <p:cNvSpPr/>
          <p:nvPr/>
        </p:nvSpPr>
        <p:spPr>
          <a:xfrm>
            <a:off x="2130552" y="4242816"/>
            <a:ext cx="91440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37" name="Shape 135"/>
          <p:cNvSpPr/>
          <p:nvPr/>
        </p:nvSpPr>
        <p:spPr>
          <a:xfrm>
            <a:off x="3063240" y="4242816"/>
            <a:ext cx="960120" cy="338328"/>
          </a:xfrm>
          <a:prstGeom prst="rect">
            <a:avLst/>
          </a:prstGeom>
          <a:solidFill>
            <a:srgbClr val="F7F9FC"/>
          </a:solidFill>
          <a:ln w="5080">
            <a:solidFill>
              <a:srgbClr val="DDE4EF"/>
            </a:solidFill>
            <a:prstDash val="solid"/>
          </a:ln>
        </p:spPr>
      </p:sp>
      <p:sp>
        <p:nvSpPr>
          <p:cNvPr id="138" name="Text 136"/>
          <p:cNvSpPr/>
          <p:nvPr/>
        </p:nvSpPr>
        <p:spPr>
          <a:xfrm>
            <a:off x="3090672" y="4242816"/>
            <a:ext cx="91440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Direct</a:t>
            </a:r>
            <a:endParaRPr lang="en-US" sz="850" dirty="0"/>
          </a:p>
        </p:txBody>
      </p:sp>
      <p:sp>
        <p:nvSpPr>
          <p:cNvPr id="139" name="Shape 137"/>
          <p:cNvSpPr/>
          <p:nvPr/>
        </p:nvSpPr>
        <p:spPr>
          <a:xfrm>
            <a:off x="4023360" y="4242816"/>
            <a:ext cx="1005840" cy="338328"/>
          </a:xfrm>
          <a:prstGeom prst="rect">
            <a:avLst/>
          </a:prstGeom>
          <a:solidFill>
            <a:srgbClr val="F7F9FC"/>
          </a:solidFill>
          <a:ln w="5080">
            <a:solidFill>
              <a:srgbClr val="DDE4EF"/>
            </a:solidFill>
            <a:prstDash val="solid"/>
          </a:ln>
        </p:spPr>
      </p:sp>
      <p:sp>
        <p:nvSpPr>
          <p:cNvPr id="140" name="Text 138"/>
          <p:cNvSpPr/>
          <p:nvPr/>
        </p:nvSpPr>
        <p:spPr>
          <a:xfrm>
            <a:off x="4050792" y="4242816"/>
            <a:ext cx="96012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Message</a:t>
            </a:r>
            <a:endParaRPr lang="en-US" sz="850" dirty="0"/>
          </a:p>
        </p:txBody>
      </p:sp>
      <p:sp>
        <p:nvSpPr>
          <p:cNvPr id="141" name="Shape 139"/>
          <p:cNvSpPr/>
          <p:nvPr/>
        </p:nvSpPr>
        <p:spPr>
          <a:xfrm>
            <a:off x="5029200" y="4242816"/>
            <a:ext cx="914400" cy="338328"/>
          </a:xfrm>
          <a:prstGeom prst="rect">
            <a:avLst/>
          </a:prstGeom>
          <a:solidFill>
            <a:srgbClr val="F7F9FC"/>
          </a:solidFill>
          <a:ln w="5080">
            <a:solidFill>
              <a:srgbClr val="DDE4EF"/>
            </a:solidFill>
            <a:prstDash val="solid"/>
          </a:ln>
        </p:spPr>
      </p:sp>
      <p:sp>
        <p:nvSpPr>
          <p:cNvPr id="142" name="Text 140"/>
          <p:cNvSpPr/>
          <p:nvPr/>
        </p:nvSpPr>
        <p:spPr>
          <a:xfrm>
            <a:off x="5056632" y="4242816"/>
            <a:ext cx="8686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a:t>
            </a:r>
            <a:endParaRPr lang="en-US" sz="850" dirty="0"/>
          </a:p>
        </p:txBody>
      </p:sp>
      <p:sp>
        <p:nvSpPr>
          <p:cNvPr id="143" name="Shape 141"/>
          <p:cNvSpPr/>
          <p:nvPr/>
        </p:nvSpPr>
        <p:spPr>
          <a:xfrm>
            <a:off x="5943600" y="4242816"/>
            <a:ext cx="914400" cy="338328"/>
          </a:xfrm>
          <a:prstGeom prst="rect">
            <a:avLst/>
          </a:prstGeom>
          <a:solidFill>
            <a:srgbClr val="F7F9FC"/>
          </a:solidFill>
          <a:ln w="5080">
            <a:solidFill>
              <a:srgbClr val="DDE4EF"/>
            </a:solidFill>
            <a:prstDash val="solid"/>
          </a:ln>
        </p:spPr>
      </p:sp>
      <p:sp>
        <p:nvSpPr>
          <p:cNvPr id="144" name="Text 142"/>
          <p:cNvSpPr/>
          <p:nvPr/>
        </p:nvSpPr>
        <p:spPr>
          <a:xfrm>
            <a:off x="5971032" y="4242816"/>
            <a:ext cx="868680" cy="338328"/>
          </a:xfrm>
          <a:prstGeom prst="rect">
            <a:avLst/>
          </a:prstGeom>
          <a:noFill/>
          <a:ln/>
        </p:spPr>
        <p:txBody>
          <a:bodyPr wrap="square" rtlCol="0" anchor="ctr"/>
          <a:lstStyle/>
          <a:p>
            <a:pPr marL="0" indent="0" algn="ctr">
              <a:buNone/>
            </a:pPr>
            <a:r>
              <a:rPr lang="en-US" sz="850" dirty="0">
                <a:solidFill>
                  <a:srgbClr val="AAAAAA"/>
                </a:solidFill>
                <a:latin typeface="Calibri" pitchFamily="34" charset="0"/>
                <a:ea typeface="Calibri" pitchFamily="34" charset="-122"/>
                <a:cs typeface="Calibri" pitchFamily="34" charset="-120"/>
              </a:rPr>
              <a:t>—</a:t>
            </a:r>
            <a:endParaRPr lang="en-US" sz="850" dirty="0"/>
          </a:p>
        </p:txBody>
      </p:sp>
      <p:sp>
        <p:nvSpPr>
          <p:cNvPr id="145" name="Shape 143"/>
          <p:cNvSpPr/>
          <p:nvPr/>
        </p:nvSpPr>
        <p:spPr>
          <a:xfrm>
            <a:off x="6858000" y="4242816"/>
            <a:ext cx="1143000" cy="338328"/>
          </a:xfrm>
          <a:prstGeom prst="rect">
            <a:avLst/>
          </a:prstGeom>
          <a:solidFill>
            <a:srgbClr val="F7F9FC"/>
          </a:solidFill>
          <a:ln w="5080">
            <a:solidFill>
              <a:srgbClr val="DDE4EF"/>
            </a:solidFill>
            <a:prstDash val="solid"/>
          </a:ln>
        </p:spPr>
      </p:sp>
      <p:sp>
        <p:nvSpPr>
          <p:cNvPr id="146" name="Text 144"/>
          <p:cNvSpPr/>
          <p:nvPr/>
        </p:nvSpPr>
        <p:spPr>
          <a:xfrm>
            <a:off x="6885432" y="4242816"/>
            <a:ext cx="1097280" cy="338328"/>
          </a:xfrm>
          <a:prstGeom prst="rect">
            <a:avLst/>
          </a:prstGeom>
          <a:noFill/>
          <a:ln/>
        </p:spPr>
        <p:txBody>
          <a:bodyPr wrap="square" rtlCol="0" anchor="ctr"/>
          <a:lstStyle/>
          <a:p>
            <a:pPr marL="0" indent="0" algn="ctr">
              <a:buNone/>
            </a:pPr>
            <a:r>
              <a:rPr lang="en-US" sz="850" dirty="0">
                <a:solidFill>
                  <a:srgbClr val="1B7A4A"/>
                </a:solidFill>
                <a:latin typeface="Calibri" pitchFamily="34" charset="0"/>
                <a:ea typeface="Calibri" pitchFamily="34" charset="-122"/>
                <a:cs typeface="Calibri" pitchFamily="34" charset="-120"/>
              </a:rPr>
              <a:t>✔ 90d</a:t>
            </a:r>
            <a:endParaRPr lang="en-US" sz="850" dirty="0"/>
          </a:p>
        </p:txBody>
      </p:sp>
      <p:sp>
        <p:nvSpPr>
          <p:cNvPr id="147" name="Shape 145"/>
          <p:cNvSpPr/>
          <p:nvPr/>
        </p:nvSpPr>
        <p:spPr>
          <a:xfrm>
            <a:off x="8001000" y="4242816"/>
            <a:ext cx="1097280" cy="338328"/>
          </a:xfrm>
          <a:prstGeom prst="rect">
            <a:avLst/>
          </a:prstGeom>
          <a:solidFill>
            <a:srgbClr val="F7F9FC"/>
          </a:solidFill>
          <a:ln w="5080">
            <a:solidFill>
              <a:srgbClr val="DDE4EF"/>
            </a:solidFill>
            <a:prstDash val="solid"/>
          </a:ln>
        </p:spPr>
      </p:sp>
      <p:sp>
        <p:nvSpPr>
          <p:cNvPr id="148" name="Text 146"/>
          <p:cNvSpPr/>
          <p:nvPr/>
        </p:nvSpPr>
        <p:spPr>
          <a:xfrm>
            <a:off x="8028432" y="4242816"/>
            <a:ext cx="1051560" cy="338328"/>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 MED</a:t>
            </a:r>
            <a:endParaRPr lang="en-US" sz="850" dirty="0"/>
          </a:p>
        </p:txBody>
      </p:sp>
      <p:sp>
        <p:nvSpPr>
          <p:cNvPr id="149" name="Text 147"/>
          <p:cNvSpPr/>
          <p:nvPr/>
        </p:nvSpPr>
        <p:spPr>
          <a:xfrm>
            <a:off x="274320" y="4681728"/>
            <a:ext cx="8595360" cy="256032"/>
          </a:xfrm>
          <a:prstGeom prst="rect">
            <a:avLst/>
          </a:prstGeom>
          <a:noFill/>
          <a:ln/>
        </p:spPr>
        <p:txBody>
          <a:bodyPr wrap="square" rtlCol="0" anchor="ctr"/>
          <a:lstStyle/>
          <a:p>
            <a:pPr marL="0" indent="0">
              <a:buNone/>
            </a:pPr>
            <a:r>
              <a:rPr lang="en-US" sz="950" i="1" dirty="0">
                <a:solidFill>
                  <a:srgbClr val="6B7C93"/>
                </a:solidFill>
                <a:latin typeface="Calibri" pitchFamily="34" charset="0"/>
                <a:ea typeface="Calibri" pitchFamily="34" charset="-122"/>
                <a:cs typeface="Calibri" pitchFamily="34" charset="-120"/>
              </a:rPr>
              <a:t>8 tables covered · 5 security layers · WFLogs added · cfg_SensitiveProcessIDs is the single control point across all RLS policies.</a:t>
            </a:r>
            <a:endParaRPr lang="en-US" sz="950" dirty="0"/>
          </a:p>
        </p:txBody>
      </p:sp>
      <p:sp>
        <p:nvSpPr>
          <p:cNvPr id="150" name="Shape 148"/>
          <p:cNvSpPr/>
          <p:nvPr/>
        </p:nvSpPr>
        <p:spPr>
          <a:xfrm>
            <a:off x="0" y="4828032"/>
            <a:ext cx="9144000" cy="315468"/>
          </a:xfrm>
          <a:prstGeom prst="rect">
            <a:avLst/>
          </a:prstGeom>
          <a:solidFill>
            <a:srgbClr val="009B9E"/>
          </a:solidFill>
          <a:ln/>
        </p:spPr>
      </p:sp>
      <p:sp>
        <p:nvSpPr>
          <p:cNvPr id="151" name="Text 149"/>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152" name="Shape 150"/>
          <p:cNvSpPr/>
          <p:nvPr/>
        </p:nvSpPr>
        <p:spPr>
          <a:xfrm>
            <a:off x="502920" y="4919472"/>
            <a:ext cx="18288" cy="128016"/>
          </a:xfrm>
          <a:prstGeom prst="rect">
            <a:avLst/>
          </a:prstGeom>
          <a:solidFill>
            <a:srgbClr val="FFFFFF"/>
          </a:solidFill>
          <a:ln/>
        </p:spPr>
      </p:sp>
      <p:sp>
        <p:nvSpPr>
          <p:cNvPr id="153" name="Text 151"/>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154" name="Text 152"/>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IMPLEMENTATION ROADMAP</a:t>
            </a:r>
            <a:endParaRPr lang="en-US" sz="1100" dirty="0"/>
          </a:p>
        </p:txBody>
      </p:sp>
      <p:sp>
        <p:nvSpPr>
          <p:cNvPr id="4" name="Text 2"/>
          <p:cNvSpPr/>
          <p:nvPr/>
        </p:nvSpPr>
        <p:spPr>
          <a:xfrm>
            <a:off x="320040" y="777240"/>
            <a:ext cx="8503920" cy="411480"/>
          </a:xfrm>
          <a:prstGeom prst="rect">
            <a:avLst/>
          </a:prstGeom>
          <a:noFill/>
          <a:ln/>
        </p:spPr>
        <p:txBody>
          <a:bodyPr wrap="square" rtlCol="0" anchor="ctr"/>
          <a:lstStyle/>
          <a:p>
            <a:pPr marL="0" indent="0">
              <a:buNone/>
            </a:pPr>
            <a:r>
              <a:rPr lang="en-US" sz="2000" b="1" dirty="0">
                <a:solidFill>
                  <a:srgbClr val="1A1A2E"/>
                </a:solidFill>
                <a:latin typeface="Calibri" pitchFamily="34" charset="0"/>
                <a:ea typeface="Calibri" pitchFamily="34" charset="-122"/>
                <a:cs typeface="Calibri" pitchFamily="34" charset="-120"/>
              </a:rPr>
              <a:t>Six Phases — Sequenced to Minimise Production Risk</a:t>
            </a:r>
            <a:endParaRPr lang="en-US" sz="2000" dirty="0"/>
          </a:p>
        </p:txBody>
      </p:sp>
      <p:sp>
        <p:nvSpPr>
          <p:cNvPr id="5" name="Shape 3"/>
          <p:cNvSpPr/>
          <p:nvPr/>
        </p:nvSpPr>
        <p:spPr>
          <a:xfrm>
            <a:off x="274320" y="1325880"/>
            <a:ext cx="4160520" cy="1078992"/>
          </a:xfrm>
          <a:prstGeom prst="rect">
            <a:avLst/>
          </a:prstGeom>
          <a:solidFill>
            <a:srgbClr val="FFFFFF"/>
          </a:solidFill>
          <a:ln/>
          <a:effectLst>
            <a:outerShdw blurRad="101600" dist="38100" dir="8100000" algn="bl" rotWithShape="0">
              <a:srgbClr val="000000">
                <a:alpha val="12000"/>
              </a:srgbClr>
            </a:outerShdw>
          </a:effectLst>
        </p:spPr>
      </p:sp>
      <p:sp>
        <p:nvSpPr>
          <p:cNvPr id="6" name="Shape 4"/>
          <p:cNvSpPr/>
          <p:nvPr/>
        </p:nvSpPr>
        <p:spPr>
          <a:xfrm>
            <a:off x="274320" y="1325880"/>
            <a:ext cx="73152" cy="1078992"/>
          </a:xfrm>
          <a:prstGeom prst="rect">
            <a:avLst/>
          </a:prstGeom>
          <a:solidFill>
            <a:srgbClr val="1B7A4A"/>
          </a:solidFill>
          <a:ln/>
        </p:spPr>
      </p:sp>
      <p:sp>
        <p:nvSpPr>
          <p:cNvPr id="7" name="Text 5"/>
          <p:cNvSpPr/>
          <p:nvPr/>
        </p:nvSpPr>
        <p:spPr>
          <a:xfrm>
            <a:off x="438912" y="1380744"/>
            <a:ext cx="685800" cy="219456"/>
          </a:xfrm>
          <a:prstGeom prst="rect">
            <a:avLst/>
          </a:prstGeom>
          <a:noFill/>
          <a:ln/>
        </p:spPr>
        <p:txBody>
          <a:bodyPr wrap="square" rtlCol="0" anchor="ctr"/>
          <a:lstStyle/>
          <a:p>
            <a:pPr marL="0" indent="0">
              <a:buNone/>
            </a:pPr>
            <a:r>
              <a:rPr lang="en-US" sz="850" b="1" dirty="0">
                <a:solidFill>
                  <a:srgbClr val="1B7A4A"/>
                </a:solidFill>
                <a:latin typeface="Calibri" pitchFamily="34" charset="0"/>
                <a:ea typeface="Calibri" pitchFamily="34" charset="-122"/>
                <a:cs typeface="Calibri" pitchFamily="34" charset="-120"/>
              </a:rPr>
              <a:t>Phase 1</a:t>
            </a:r>
            <a:endParaRPr lang="en-US" sz="850" dirty="0"/>
          </a:p>
        </p:txBody>
      </p:sp>
      <p:sp>
        <p:nvSpPr>
          <p:cNvPr id="8" name="Text 6"/>
          <p:cNvSpPr/>
          <p:nvPr/>
        </p:nvSpPr>
        <p:spPr>
          <a:xfrm>
            <a:off x="438912" y="1563624"/>
            <a:ext cx="2743200" cy="256032"/>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PII Discovery</a:t>
            </a:r>
            <a:endParaRPr lang="en-US" sz="1200" dirty="0"/>
          </a:p>
        </p:txBody>
      </p:sp>
      <p:sp>
        <p:nvSpPr>
          <p:cNvPr id="9" name="Shape 7"/>
          <p:cNvSpPr/>
          <p:nvPr/>
        </p:nvSpPr>
        <p:spPr>
          <a:xfrm>
            <a:off x="3291840" y="1399032"/>
            <a:ext cx="1005840" cy="237744"/>
          </a:xfrm>
          <a:prstGeom prst="rect">
            <a:avLst/>
          </a:prstGeom>
          <a:solidFill>
            <a:srgbClr val="E8F5E9"/>
          </a:solidFill>
          <a:ln/>
        </p:spPr>
      </p:sp>
      <p:sp>
        <p:nvSpPr>
          <p:cNvPr id="10" name="Text 8"/>
          <p:cNvSpPr/>
          <p:nvPr/>
        </p:nvSpPr>
        <p:spPr>
          <a:xfrm>
            <a:off x="3291840" y="1399032"/>
            <a:ext cx="1005840" cy="237744"/>
          </a:xfrm>
          <a:prstGeom prst="rect">
            <a:avLst/>
          </a:prstGeom>
          <a:noFill/>
          <a:ln/>
        </p:spPr>
        <p:txBody>
          <a:bodyPr wrap="square" rtlCol="0" anchor="ctr"/>
          <a:lstStyle/>
          <a:p>
            <a:pPr marL="0" indent="0" algn="ctr">
              <a:buNone/>
            </a:pPr>
            <a:r>
              <a:rPr lang="en-US" sz="750" b="1" dirty="0">
                <a:solidFill>
                  <a:srgbClr val="1B7A4A"/>
                </a:solidFill>
                <a:latin typeface="Calibri" pitchFamily="34" charset="0"/>
                <a:ea typeface="Calibri" pitchFamily="34" charset="-122"/>
                <a:cs typeface="Calibri" pitchFamily="34" charset="-120"/>
              </a:rPr>
              <a:t>2 days  · LOW</a:t>
            </a:r>
            <a:endParaRPr lang="en-US" sz="750" dirty="0"/>
          </a:p>
        </p:txBody>
      </p:sp>
      <p:sp>
        <p:nvSpPr>
          <p:cNvPr id="11" name="Text 9"/>
          <p:cNvSpPr/>
          <p:nvPr/>
        </p:nvSpPr>
        <p:spPr>
          <a:xfrm>
            <a:off x="438912" y="1828800"/>
            <a:ext cx="3886200" cy="50292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Run PII discovery SQL across WFElements. Map which FormType_IDs contain sensitive data. Populate cfg_SensitiveProcessIDs table.</a:t>
            </a:r>
            <a:endParaRPr lang="en-US" sz="850" dirty="0"/>
          </a:p>
        </p:txBody>
      </p:sp>
      <p:sp>
        <p:nvSpPr>
          <p:cNvPr id="12" name="Shape 10"/>
          <p:cNvSpPr/>
          <p:nvPr/>
        </p:nvSpPr>
        <p:spPr>
          <a:xfrm>
            <a:off x="274320" y="2496312"/>
            <a:ext cx="4160520" cy="1078992"/>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274320" y="2496312"/>
            <a:ext cx="73152" cy="1078992"/>
          </a:xfrm>
          <a:prstGeom prst="rect">
            <a:avLst/>
          </a:prstGeom>
          <a:solidFill>
            <a:srgbClr val="E67E22"/>
          </a:solidFill>
          <a:ln/>
        </p:spPr>
      </p:sp>
      <p:sp>
        <p:nvSpPr>
          <p:cNvPr id="14" name="Text 12"/>
          <p:cNvSpPr/>
          <p:nvPr/>
        </p:nvSpPr>
        <p:spPr>
          <a:xfrm>
            <a:off x="438912" y="2551176"/>
            <a:ext cx="685800" cy="219456"/>
          </a:xfrm>
          <a:prstGeom prst="rect">
            <a:avLst/>
          </a:prstGeom>
          <a:noFill/>
          <a:ln/>
        </p:spPr>
        <p:txBody>
          <a:bodyPr wrap="square" rtlCol="0" anchor="ctr"/>
          <a:lstStyle/>
          <a:p>
            <a:pPr marL="0" indent="0">
              <a:buNone/>
            </a:pPr>
            <a:r>
              <a:rPr lang="en-US" sz="850" b="1" dirty="0">
                <a:solidFill>
                  <a:srgbClr val="E67E22"/>
                </a:solidFill>
                <a:latin typeface="Calibri" pitchFamily="34" charset="0"/>
                <a:ea typeface="Calibri" pitchFamily="34" charset="-122"/>
                <a:cs typeface="Calibri" pitchFamily="34" charset="-120"/>
              </a:rPr>
              <a:t>Phase 2</a:t>
            </a:r>
            <a:endParaRPr lang="en-US" sz="850" dirty="0"/>
          </a:p>
        </p:txBody>
      </p:sp>
      <p:sp>
        <p:nvSpPr>
          <p:cNvPr id="15" name="Text 13"/>
          <p:cNvSpPr/>
          <p:nvPr/>
        </p:nvSpPr>
        <p:spPr>
          <a:xfrm>
            <a:off x="438912" y="2734056"/>
            <a:ext cx="2743200" cy="256032"/>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Service Account Split</a:t>
            </a:r>
            <a:endParaRPr lang="en-US" sz="1200" dirty="0"/>
          </a:p>
        </p:txBody>
      </p:sp>
      <p:sp>
        <p:nvSpPr>
          <p:cNvPr id="16" name="Shape 14"/>
          <p:cNvSpPr/>
          <p:nvPr/>
        </p:nvSpPr>
        <p:spPr>
          <a:xfrm>
            <a:off x="3291840" y="2569464"/>
            <a:ext cx="1005840" cy="237744"/>
          </a:xfrm>
          <a:prstGeom prst="rect">
            <a:avLst/>
          </a:prstGeom>
          <a:solidFill>
            <a:srgbClr val="FFF8E1"/>
          </a:solidFill>
          <a:ln/>
        </p:spPr>
      </p:sp>
      <p:sp>
        <p:nvSpPr>
          <p:cNvPr id="17" name="Text 15"/>
          <p:cNvSpPr/>
          <p:nvPr/>
        </p:nvSpPr>
        <p:spPr>
          <a:xfrm>
            <a:off x="3291840" y="2569464"/>
            <a:ext cx="1005840" cy="237744"/>
          </a:xfrm>
          <a:prstGeom prst="rect">
            <a:avLst/>
          </a:prstGeom>
          <a:noFill/>
          <a:ln/>
        </p:spPr>
        <p:txBody>
          <a:bodyPr wrap="square" rtlCol="0" anchor="ctr"/>
          <a:lstStyle/>
          <a:p>
            <a:pPr marL="0" indent="0" algn="ctr">
              <a:buNone/>
            </a:pPr>
            <a:r>
              <a:rPr lang="en-US" sz="750" b="1" dirty="0">
                <a:solidFill>
                  <a:srgbClr val="E67E22"/>
                </a:solidFill>
                <a:latin typeface="Calibri" pitchFamily="34" charset="0"/>
                <a:ea typeface="Calibri" pitchFamily="34" charset="-122"/>
                <a:cs typeface="Calibri" pitchFamily="34" charset="-120"/>
              </a:rPr>
              <a:t>1 day  · MEDIUM</a:t>
            </a:r>
            <a:endParaRPr lang="en-US" sz="750" dirty="0"/>
          </a:p>
        </p:txBody>
      </p:sp>
      <p:sp>
        <p:nvSpPr>
          <p:cNvPr id="18" name="Text 16"/>
          <p:cNvSpPr/>
          <p:nvPr/>
        </p:nvSpPr>
        <p:spPr>
          <a:xfrm>
            <a:off x="438912" y="2999232"/>
            <a:ext cx="3886200" cy="50292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Create webcon_svc_nonea. Reconfigure SSRS and Power BI data sources. Test all COMPANY NAME reports still function.</a:t>
            </a:r>
            <a:endParaRPr lang="en-US" sz="850" dirty="0"/>
          </a:p>
        </p:txBody>
      </p:sp>
      <p:sp>
        <p:nvSpPr>
          <p:cNvPr id="19" name="Shape 17"/>
          <p:cNvSpPr/>
          <p:nvPr/>
        </p:nvSpPr>
        <p:spPr>
          <a:xfrm>
            <a:off x="274320" y="3666744"/>
            <a:ext cx="4160520" cy="1078992"/>
          </a:xfrm>
          <a:prstGeom prst="rect">
            <a:avLst/>
          </a:prstGeom>
          <a:solidFill>
            <a:srgbClr val="FFFFFF"/>
          </a:solidFill>
          <a:ln/>
          <a:effectLst>
            <a:outerShdw blurRad="101600" dist="38100" dir="8100000" algn="bl" rotWithShape="0">
              <a:srgbClr val="000000">
                <a:alpha val="12000"/>
              </a:srgbClr>
            </a:outerShdw>
          </a:effectLst>
        </p:spPr>
      </p:sp>
      <p:sp>
        <p:nvSpPr>
          <p:cNvPr id="20" name="Shape 18"/>
          <p:cNvSpPr/>
          <p:nvPr/>
        </p:nvSpPr>
        <p:spPr>
          <a:xfrm>
            <a:off x="274320" y="3666744"/>
            <a:ext cx="73152" cy="1078992"/>
          </a:xfrm>
          <a:prstGeom prst="rect">
            <a:avLst/>
          </a:prstGeom>
          <a:solidFill>
            <a:srgbClr val="1B7A4A"/>
          </a:solidFill>
          <a:ln/>
        </p:spPr>
      </p:sp>
      <p:sp>
        <p:nvSpPr>
          <p:cNvPr id="21" name="Text 19"/>
          <p:cNvSpPr/>
          <p:nvPr/>
        </p:nvSpPr>
        <p:spPr>
          <a:xfrm>
            <a:off x="438912" y="3721608"/>
            <a:ext cx="685800" cy="219456"/>
          </a:xfrm>
          <a:prstGeom prst="rect">
            <a:avLst/>
          </a:prstGeom>
          <a:noFill/>
          <a:ln/>
        </p:spPr>
        <p:txBody>
          <a:bodyPr wrap="square" rtlCol="0" anchor="ctr"/>
          <a:lstStyle/>
          <a:p>
            <a:pPr marL="0" indent="0">
              <a:buNone/>
            </a:pPr>
            <a:r>
              <a:rPr lang="en-US" sz="850" b="1" dirty="0">
                <a:solidFill>
                  <a:srgbClr val="1B7A4A"/>
                </a:solidFill>
                <a:latin typeface="Calibri" pitchFamily="34" charset="0"/>
                <a:ea typeface="Calibri" pitchFamily="34" charset="-122"/>
                <a:cs typeface="Calibri" pitchFamily="34" charset="-120"/>
              </a:rPr>
              <a:t>Phase 3</a:t>
            </a:r>
            <a:endParaRPr lang="en-US" sz="850" dirty="0"/>
          </a:p>
        </p:txBody>
      </p:sp>
      <p:sp>
        <p:nvSpPr>
          <p:cNvPr id="22" name="Text 20"/>
          <p:cNvSpPr/>
          <p:nvPr/>
        </p:nvSpPr>
        <p:spPr>
          <a:xfrm>
            <a:off x="438912" y="3904488"/>
            <a:ext cx="2743200" cy="256032"/>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DDM</a:t>
            </a:r>
            <a:endParaRPr lang="en-US" sz="1200" dirty="0"/>
          </a:p>
        </p:txBody>
      </p:sp>
      <p:sp>
        <p:nvSpPr>
          <p:cNvPr id="23" name="Shape 21"/>
          <p:cNvSpPr/>
          <p:nvPr/>
        </p:nvSpPr>
        <p:spPr>
          <a:xfrm>
            <a:off x="3291840" y="3739896"/>
            <a:ext cx="1005840" cy="237744"/>
          </a:xfrm>
          <a:prstGeom prst="rect">
            <a:avLst/>
          </a:prstGeom>
          <a:solidFill>
            <a:srgbClr val="E8F5E9"/>
          </a:solidFill>
          <a:ln/>
        </p:spPr>
      </p:sp>
      <p:sp>
        <p:nvSpPr>
          <p:cNvPr id="24" name="Text 22"/>
          <p:cNvSpPr/>
          <p:nvPr/>
        </p:nvSpPr>
        <p:spPr>
          <a:xfrm>
            <a:off x="3291840" y="3739896"/>
            <a:ext cx="1005840" cy="237744"/>
          </a:xfrm>
          <a:prstGeom prst="rect">
            <a:avLst/>
          </a:prstGeom>
          <a:noFill/>
          <a:ln/>
        </p:spPr>
        <p:txBody>
          <a:bodyPr wrap="square" rtlCol="0" anchor="ctr"/>
          <a:lstStyle/>
          <a:p>
            <a:pPr marL="0" indent="0" algn="ctr">
              <a:buNone/>
            </a:pPr>
            <a:r>
              <a:rPr lang="en-US" sz="750" b="1" dirty="0">
                <a:solidFill>
                  <a:srgbClr val="1B7A4A"/>
                </a:solidFill>
                <a:latin typeface="Calibri" pitchFamily="34" charset="0"/>
                <a:ea typeface="Calibri" pitchFamily="34" charset="-122"/>
                <a:cs typeface="Calibri" pitchFamily="34" charset="-120"/>
              </a:rPr>
              <a:t>1 day  · LOW</a:t>
            </a:r>
            <a:endParaRPr lang="en-US" sz="750" dirty="0"/>
          </a:p>
        </p:txBody>
      </p:sp>
      <p:sp>
        <p:nvSpPr>
          <p:cNvPr id="25" name="Text 23"/>
          <p:cNvSpPr/>
          <p:nvPr/>
        </p:nvSpPr>
        <p:spPr>
          <a:xfrm>
            <a:off x="438912" y="4169664"/>
            <a:ext cx="3886200" cy="50292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Apply masks to salary, medical, email, name columns across WFElements and WFHistoryElements. Purely additive — invisible to EEA users.</a:t>
            </a:r>
            <a:endParaRPr lang="en-US" sz="850" dirty="0"/>
          </a:p>
        </p:txBody>
      </p:sp>
      <p:sp>
        <p:nvSpPr>
          <p:cNvPr id="26" name="Shape 24"/>
          <p:cNvSpPr/>
          <p:nvPr/>
        </p:nvSpPr>
        <p:spPr>
          <a:xfrm>
            <a:off x="4736592" y="1325880"/>
            <a:ext cx="4160520" cy="1078992"/>
          </a:xfrm>
          <a:prstGeom prst="rect">
            <a:avLst/>
          </a:prstGeom>
          <a:solidFill>
            <a:srgbClr val="FFFFFF"/>
          </a:solidFill>
          <a:ln/>
          <a:effectLst>
            <a:outerShdw blurRad="101600" dist="38100" dir="8100000" algn="bl" rotWithShape="0">
              <a:srgbClr val="000000">
                <a:alpha val="12000"/>
              </a:srgbClr>
            </a:outerShdw>
          </a:effectLst>
        </p:spPr>
      </p:sp>
      <p:sp>
        <p:nvSpPr>
          <p:cNvPr id="27" name="Shape 25"/>
          <p:cNvSpPr/>
          <p:nvPr/>
        </p:nvSpPr>
        <p:spPr>
          <a:xfrm>
            <a:off x="4736592" y="1325880"/>
            <a:ext cx="73152" cy="1078992"/>
          </a:xfrm>
          <a:prstGeom prst="rect">
            <a:avLst/>
          </a:prstGeom>
          <a:solidFill>
            <a:srgbClr val="C0392B"/>
          </a:solidFill>
          <a:ln/>
        </p:spPr>
      </p:sp>
      <p:sp>
        <p:nvSpPr>
          <p:cNvPr id="28" name="Text 26"/>
          <p:cNvSpPr/>
          <p:nvPr/>
        </p:nvSpPr>
        <p:spPr>
          <a:xfrm>
            <a:off x="4901184" y="1380744"/>
            <a:ext cx="685800" cy="219456"/>
          </a:xfrm>
          <a:prstGeom prst="rect">
            <a:avLst/>
          </a:prstGeom>
          <a:noFill/>
          <a:ln/>
        </p:spPr>
        <p:txBody>
          <a:bodyPr wrap="square" rtlCol="0" anchor="ctr"/>
          <a:lstStyle/>
          <a:p>
            <a:pPr marL="0" indent="0">
              <a:buNone/>
            </a:pPr>
            <a:r>
              <a:rPr lang="en-US" sz="850" b="1" dirty="0">
                <a:solidFill>
                  <a:srgbClr val="C0392B"/>
                </a:solidFill>
                <a:latin typeface="Calibri" pitchFamily="34" charset="0"/>
                <a:ea typeface="Calibri" pitchFamily="34" charset="-122"/>
                <a:cs typeface="Calibri" pitchFamily="34" charset="-120"/>
              </a:rPr>
              <a:t>Phase 4</a:t>
            </a:r>
            <a:endParaRPr lang="en-US" sz="850" dirty="0"/>
          </a:p>
        </p:txBody>
      </p:sp>
      <p:sp>
        <p:nvSpPr>
          <p:cNvPr id="29" name="Text 27"/>
          <p:cNvSpPr/>
          <p:nvPr/>
        </p:nvSpPr>
        <p:spPr>
          <a:xfrm>
            <a:off x="4901184" y="1563624"/>
            <a:ext cx="2743200" cy="256032"/>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RLS Deployment</a:t>
            </a:r>
            <a:endParaRPr lang="en-US" sz="1200" dirty="0"/>
          </a:p>
        </p:txBody>
      </p:sp>
      <p:sp>
        <p:nvSpPr>
          <p:cNvPr id="30" name="Shape 28"/>
          <p:cNvSpPr/>
          <p:nvPr/>
        </p:nvSpPr>
        <p:spPr>
          <a:xfrm>
            <a:off x="7754112" y="1399032"/>
            <a:ext cx="1005840" cy="237744"/>
          </a:xfrm>
          <a:prstGeom prst="rect">
            <a:avLst/>
          </a:prstGeom>
          <a:solidFill>
            <a:srgbClr val="FFEBEE"/>
          </a:solidFill>
          <a:ln/>
        </p:spPr>
      </p:sp>
      <p:sp>
        <p:nvSpPr>
          <p:cNvPr id="31" name="Text 29"/>
          <p:cNvSpPr/>
          <p:nvPr/>
        </p:nvSpPr>
        <p:spPr>
          <a:xfrm>
            <a:off x="7754112" y="1399032"/>
            <a:ext cx="1005840" cy="237744"/>
          </a:xfrm>
          <a:prstGeom prst="rect">
            <a:avLst/>
          </a:prstGeom>
          <a:noFill/>
          <a:ln/>
        </p:spPr>
        <p:txBody>
          <a:bodyPr wrap="square" rtlCol="0" anchor="ctr"/>
          <a:lstStyle/>
          <a:p>
            <a:pPr marL="0" indent="0" algn="ctr">
              <a:buNone/>
            </a:pPr>
            <a:r>
              <a:rPr lang="en-US" sz="750" b="1" dirty="0">
                <a:solidFill>
                  <a:srgbClr val="C0392B"/>
                </a:solidFill>
                <a:latin typeface="Calibri" pitchFamily="34" charset="0"/>
                <a:ea typeface="Calibri" pitchFamily="34" charset="-122"/>
                <a:cs typeface="Calibri" pitchFamily="34" charset="-120"/>
              </a:rPr>
              <a:t>2 days  · HIGH</a:t>
            </a:r>
            <a:endParaRPr lang="en-US" sz="750" dirty="0"/>
          </a:p>
        </p:txBody>
      </p:sp>
      <p:sp>
        <p:nvSpPr>
          <p:cNvPr id="32" name="Text 30"/>
          <p:cNvSpPr/>
          <p:nvPr/>
        </p:nvSpPr>
        <p:spPr>
          <a:xfrm>
            <a:off x="4901184" y="1828800"/>
            <a:ext cx="3886200" cy="50292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Deploy fn_WFElements_AccessPolicy and mirror to WFHistoryElements, WFElementDetails, WFFiles, WFElementComments. Test thoroughly — wrong ProcessIDs break workflows.</a:t>
            </a:r>
            <a:endParaRPr lang="en-US" sz="850" dirty="0"/>
          </a:p>
        </p:txBody>
      </p:sp>
      <p:sp>
        <p:nvSpPr>
          <p:cNvPr id="33" name="Shape 31"/>
          <p:cNvSpPr/>
          <p:nvPr/>
        </p:nvSpPr>
        <p:spPr>
          <a:xfrm>
            <a:off x="4736592" y="2496312"/>
            <a:ext cx="4160520" cy="1078992"/>
          </a:xfrm>
          <a:prstGeom prst="rect">
            <a:avLst/>
          </a:prstGeom>
          <a:solidFill>
            <a:srgbClr val="FFFFFF"/>
          </a:solidFill>
          <a:ln/>
          <a:effectLst>
            <a:outerShdw blurRad="101600" dist="38100" dir="8100000" algn="bl" rotWithShape="0">
              <a:srgbClr val="000000">
                <a:alpha val="12000"/>
              </a:srgbClr>
            </a:outerShdw>
          </a:effectLst>
        </p:spPr>
      </p:sp>
      <p:sp>
        <p:nvSpPr>
          <p:cNvPr id="34" name="Shape 32"/>
          <p:cNvSpPr/>
          <p:nvPr/>
        </p:nvSpPr>
        <p:spPr>
          <a:xfrm>
            <a:off x="4736592" y="2496312"/>
            <a:ext cx="73152" cy="1078992"/>
          </a:xfrm>
          <a:prstGeom prst="rect">
            <a:avLst/>
          </a:prstGeom>
          <a:solidFill>
            <a:srgbClr val="E67E22"/>
          </a:solidFill>
          <a:ln/>
        </p:spPr>
      </p:sp>
      <p:sp>
        <p:nvSpPr>
          <p:cNvPr id="35" name="Text 33"/>
          <p:cNvSpPr/>
          <p:nvPr/>
        </p:nvSpPr>
        <p:spPr>
          <a:xfrm>
            <a:off x="4901184" y="2551176"/>
            <a:ext cx="685800" cy="219456"/>
          </a:xfrm>
          <a:prstGeom prst="rect">
            <a:avLst/>
          </a:prstGeom>
          <a:noFill/>
          <a:ln/>
        </p:spPr>
        <p:txBody>
          <a:bodyPr wrap="square" rtlCol="0" anchor="ctr"/>
          <a:lstStyle/>
          <a:p>
            <a:pPr marL="0" indent="0">
              <a:buNone/>
            </a:pPr>
            <a:r>
              <a:rPr lang="en-US" sz="850" b="1" dirty="0">
                <a:solidFill>
                  <a:srgbClr val="E67E22"/>
                </a:solidFill>
                <a:latin typeface="Calibri" pitchFamily="34" charset="0"/>
                <a:ea typeface="Calibri" pitchFamily="34" charset="-122"/>
                <a:cs typeface="Calibri" pitchFamily="34" charset="-120"/>
              </a:rPr>
              <a:t>Phase 5</a:t>
            </a:r>
            <a:endParaRPr lang="en-US" sz="850" dirty="0"/>
          </a:p>
        </p:txBody>
      </p:sp>
      <p:sp>
        <p:nvSpPr>
          <p:cNvPr id="36" name="Text 34"/>
          <p:cNvSpPr/>
          <p:nvPr/>
        </p:nvSpPr>
        <p:spPr>
          <a:xfrm>
            <a:off x="4901184" y="2734056"/>
            <a:ext cx="2743200" cy="256032"/>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Views + REVOKE</a:t>
            </a:r>
            <a:endParaRPr lang="en-US" sz="1200" dirty="0"/>
          </a:p>
        </p:txBody>
      </p:sp>
      <p:sp>
        <p:nvSpPr>
          <p:cNvPr id="37" name="Shape 35"/>
          <p:cNvSpPr/>
          <p:nvPr/>
        </p:nvSpPr>
        <p:spPr>
          <a:xfrm>
            <a:off x="7754112" y="2569464"/>
            <a:ext cx="1005840" cy="237744"/>
          </a:xfrm>
          <a:prstGeom prst="rect">
            <a:avLst/>
          </a:prstGeom>
          <a:solidFill>
            <a:srgbClr val="FFF8E1"/>
          </a:solidFill>
          <a:ln/>
        </p:spPr>
      </p:sp>
      <p:sp>
        <p:nvSpPr>
          <p:cNvPr id="38" name="Text 36"/>
          <p:cNvSpPr/>
          <p:nvPr/>
        </p:nvSpPr>
        <p:spPr>
          <a:xfrm>
            <a:off x="7754112" y="2569464"/>
            <a:ext cx="1005840" cy="237744"/>
          </a:xfrm>
          <a:prstGeom prst="rect">
            <a:avLst/>
          </a:prstGeom>
          <a:noFill/>
          <a:ln/>
        </p:spPr>
        <p:txBody>
          <a:bodyPr wrap="square" rtlCol="0" anchor="ctr"/>
          <a:lstStyle/>
          <a:p>
            <a:pPr marL="0" indent="0" algn="ctr">
              <a:buNone/>
            </a:pPr>
            <a:r>
              <a:rPr lang="en-US" sz="750" b="1" dirty="0">
                <a:solidFill>
                  <a:srgbClr val="E67E22"/>
                </a:solidFill>
                <a:latin typeface="Calibri" pitchFamily="34" charset="0"/>
                <a:ea typeface="Calibri" pitchFamily="34" charset="-122"/>
                <a:cs typeface="Calibri" pitchFamily="34" charset="-120"/>
              </a:rPr>
              <a:t>2 days  · MEDIUM</a:t>
            </a:r>
            <a:endParaRPr lang="en-US" sz="750" dirty="0"/>
          </a:p>
        </p:txBody>
      </p:sp>
      <p:sp>
        <p:nvSpPr>
          <p:cNvPr id="39" name="Text 37"/>
          <p:cNvSpPr/>
          <p:nvPr/>
        </p:nvSpPr>
        <p:spPr>
          <a:xfrm>
            <a:off x="4901184" y="2999232"/>
            <a:ext cx="3886200" cy="50292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Create process-scoped views. Revoke direct WFElements SELECT from Non-EEA roles. REVOKE WFFilesContent entirely.</a:t>
            </a:r>
            <a:endParaRPr lang="en-US" sz="850" dirty="0"/>
          </a:p>
        </p:txBody>
      </p:sp>
      <p:sp>
        <p:nvSpPr>
          <p:cNvPr id="40" name="Shape 38"/>
          <p:cNvSpPr/>
          <p:nvPr/>
        </p:nvSpPr>
        <p:spPr>
          <a:xfrm>
            <a:off x="4736592" y="3666744"/>
            <a:ext cx="4160520" cy="1078992"/>
          </a:xfrm>
          <a:prstGeom prst="rect">
            <a:avLst/>
          </a:prstGeom>
          <a:solidFill>
            <a:srgbClr val="FFFFFF"/>
          </a:solidFill>
          <a:ln/>
          <a:effectLst>
            <a:outerShdw blurRad="101600" dist="38100" dir="8100000" algn="bl" rotWithShape="0">
              <a:srgbClr val="000000">
                <a:alpha val="12000"/>
              </a:srgbClr>
            </a:outerShdw>
          </a:effectLst>
        </p:spPr>
      </p:sp>
      <p:sp>
        <p:nvSpPr>
          <p:cNvPr id="41" name="Shape 39"/>
          <p:cNvSpPr/>
          <p:nvPr/>
        </p:nvSpPr>
        <p:spPr>
          <a:xfrm>
            <a:off x="4736592" y="3666744"/>
            <a:ext cx="73152" cy="1078992"/>
          </a:xfrm>
          <a:prstGeom prst="rect">
            <a:avLst/>
          </a:prstGeom>
          <a:solidFill>
            <a:srgbClr val="009B9E"/>
          </a:solidFill>
          <a:ln/>
        </p:spPr>
      </p:sp>
      <p:sp>
        <p:nvSpPr>
          <p:cNvPr id="42" name="Text 40"/>
          <p:cNvSpPr/>
          <p:nvPr/>
        </p:nvSpPr>
        <p:spPr>
          <a:xfrm>
            <a:off x="4901184" y="3721608"/>
            <a:ext cx="685800" cy="219456"/>
          </a:xfrm>
          <a:prstGeom prst="rect">
            <a:avLst/>
          </a:prstGeom>
          <a:noFill/>
          <a:ln/>
        </p:spPr>
        <p:txBody>
          <a:bodyPr wrap="square" rtlCol="0" anchor="ctr"/>
          <a:lstStyle/>
          <a:p>
            <a:pPr marL="0" indent="0">
              <a:buNone/>
            </a:pPr>
            <a:r>
              <a:rPr lang="en-US" sz="850" b="1" dirty="0">
                <a:solidFill>
                  <a:srgbClr val="009B9E"/>
                </a:solidFill>
                <a:latin typeface="Calibri" pitchFamily="34" charset="0"/>
                <a:ea typeface="Calibri" pitchFamily="34" charset="-122"/>
                <a:cs typeface="Calibri" pitchFamily="34" charset="-120"/>
              </a:rPr>
              <a:t>Phase 6</a:t>
            </a:r>
            <a:endParaRPr lang="en-US" sz="850" dirty="0"/>
          </a:p>
        </p:txBody>
      </p:sp>
      <p:sp>
        <p:nvSpPr>
          <p:cNvPr id="43" name="Text 41"/>
          <p:cNvSpPr/>
          <p:nvPr/>
        </p:nvSpPr>
        <p:spPr>
          <a:xfrm>
            <a:off x="4901184" y="3904488"/>
            <a:ext cx="2743200" cy="256032"/>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UAT &amp; Sign-off</a:t>
            </a:r>
            <a:endParaRPr lang="en-US" sz="1200" dirty="0"/>
          </a:p>
        </p:txBody>
      </p:sp>
      <p:sp>
        <p:nvSpPr>
          <p:cNvPr id="44" name="Shape 42"/>
          <p:cNvSpPr/>
          <p:nvPr/>
        </p:nvSpPr>
        <p:spPr>
          <a:xfrm>
            <a:off x="7754112" y="3739896"/>
            <a:ext cx="1005840" cy="237744"/>
          </a:xfrm>
          <a:prstGeom prst="rect">
            <a:avLst/>
          </a:prstGeom>
          <a:solidFill>
            <a:srgbClr val="E3F2FD"/>
          </a:solidFill>
          <a:ln/>
        </p:spPr>
      </p:sp>
      <p:sp>
        <p:nvSpPr>
          <p:cNvPr id="45" name="Text 43"/>
          <p:cNvSpPr/>
          <p:nvPr/>
        </p:nvSpPr>
        <p:spPr>
          <a:xfrm>
            <a:off x="7754112" y="3739896"/>
            <a:ext cx="1005840" cy="237744"/>
          </a:xfrm>
          <a:prstGeom prst="rect">
            <a:avLst/>
          </a:prstGeom>
          <a:noFill/>
          <a:ln/>
        </p:spPr>
        <p:txBody>
          <a:bodyPr wrap="square" rtlCol="0" anchor="ctr"/>
          <a:lstStyle/>
          <a:p>
            <a:pPr marL="0" indent="0" algn="ctr">
              <a:buNone/>
            </a:pPr>
            <a:r>
              <a:rPr lang="en-US" sz="750" b="1" dirty="0">
                <a:solidFill>
                  <a:srgbClr val="009B9E"/>
                </a:solidFill>
                <a:latin typeface="Calibri" pitchFamily="34" charset="0"/>
                <a:ea typeface="Calibri" pitchFamily="34" charset="-122"/>
                <a:cs typeface="Calibri" pitchFamily="34" charset="-120"/>
              </a:rPr>
              <a:t>3 days  </a:t>
            </a:r>
            <a:endParaRPr lang="en-US" sz="750" dirty="0"/>
          </a:p>
        </p:txBody>
      </p:sp>
      <p:sp>
        <p:nvSpPr>
          <p:cNvPr id="46" name="Text 44"/>
          <p:cNvSpPr/>
          <p:nvPr/>
        </p:nvSpPr>
        <p:spPr>
          <a:xfrm>
            <a:off x="4901184" y="4169664"/>
            <a:ext cx="3886200" cy="50292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COMPANY NAME team validates operational access. EEA team validates full unmasked access. DPO sign-off on Technical Organisational Measures.</a:t>
            </a:r>
            <a:endParaRPr lang="en-US" sz="850" dirty="0"/>
          </a:p>
        </p:txBody>
      </p:sp>
      <p:sp>
        <p:nvSpPr>
          <p:cNvPr id="47" name="Text 45"/>
          <p:cNvSpPr/>
          <p:nvPr/>
        </p:nvSpPr>
        <p:spPr>
          <a:xfrm>
            <a:off x="274320" y="4818888"/>
            <a:ext cx="8595360" cy="274320"/>
          </a:xfrm>
          <a:prstGeom prst="rect">
            <a:avLst/>
          </a:prstGeom>
          <a:noFill/>
          <a:ln/>
        </p:spPr>
        <p:txBody>
          <a:bodyPr wrap="square" rtlCol="0" anchor="ctr"/>
          <a:lstStyle/>
          <a:p>
            <a:pPr marL="0" indent="0">
              <a:buNone/>
            </a:pPr>
            <a:r>
              <a:rPr lang="en-US" sz="850" i="1" dirty="0">
                <a:solidFill>
                  <a:srgbClr val="E67E22"/>
                </a:solidFill>
                <a:latin typeface="Calibri" pitchFamily="34" charset="0"/>
                <a:ea typeface="Calibri" pitchFamily="34" charset="-122"/>
                <a:cs typeface="Calibri" pitchFamily="34" charset="-120"/>
              </a:rPr>
              <a:t>⚠  Do DDM (Phase 3) before RLS (Phase 4). DDM is additive and invisible to EEA users. RLS changes query results and can break WEBCON internal queries if service account is not separated first.</a:t>
            </a:r>
            <a:endParaRPr lang="en-US" sz="850" dirty="0"/>
          </a:p>
        </p:txBody>
      </p:sp>
      <p:sp>
        <p:nvSpPr>
          <p:cNvPr id="48" name="Shape 46"/>
          <p:cNvSpPr/>
          <p:nvPr/>
        </p:nvSpPr>
        <p:spPr>
          <a:xfrm>
            <a:off x="0" y="4828032"/>
            <a:ext cx="9144000" cy="315468"/>
          </a:xfrm>
          <a:prstGeom prst="rect">
            <a:avLst/>
          </a:prstGeom>
          <a:solidFill>
            <a:srgbClr val="009B9E"/>
          </a:solidFill>
          <a:ln/>
        </p:spPr>
      </p:sp>
      <p:sp>
        <p:nvSpPr>
          <p:cNvPr id="49" name="Text 47"/>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50" name="Shape 48"/>
          <p:cNvSpPr/>
          <p:nvPr/>
        </p:nvSpPr>
        <p:spPr>
          <a:xfrm>
            <a:off x="502920" y="4919472"/>
            <a:ext cx="18288" cy="128016"/>
          </a:xfrm>
          <a:prstGeom prst="rect">
            <a:avLst/>
          </a:prstGeom>
          <a:solidFill>
            <a:srgbClr val="FFFFFF"/>
          </a:solidFill>
          <a:ln/>
        </p:spPr>
      </p:sp>
      <p:sp>
        <p:nvSpPr>
          <p:cNvPr id="51" name="Text 49"/>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52" name="Text 50"/>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9B9E"/>
          </a:solidFill>
          <a:ln/>
        </p:spPr>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GOVERNANCE RULE</a:t>
            </a:r>
            <a:endParaRPr lang="en-US" sz="1100" dirty="0"/>
          </a:p>
        </p:txBody>
      </p:sp>
      <p:sp>
        <p:nvSpPr>
          <p:cNvPr id="4" name="Text 2"/>
          <p:cNvSpPr/>
          <p:nvPr/>
        </p:nvSpPr>
        <p:spPr>
          <a:xfrm>
            <a:off x="457200" y="804672"/>
            <a:ext cx="8412480" cy="475488"/>
          </a:xfrm>
          <a:prstGeom prst="rect">
            <a:avLst/>
          </a:prstGeom>
          <a:noFill/>
          <a:ln/>
        </p:spPr>
        <p:txBody>
          <a:bodyPr wrap="square" rtlCol="0" anchor="ctr"/>
          <a:lstStyle/>
          <a:p>
            <a:pPr marL="0" indent="0">
              <a:buNone/>
            </a:pPr>
            <a:r>
              <a:rPr lang="en-US" sz="2200" b="1" dirty="0">
                <a:solidFill>
                  <a:srgbClr val="1A1A2E"/>
                </a:solidFill>
                <a:latin typeface="Calibri" pitchFamily="34" charset="0"/>
                <a:ea typeface="Calibri" pitchFamily="34" charset="-122"/>
                <a:cs typeface="Calibri" pitchFamily="34" charset="-120"/>
              </a:rPr>
              <a:t>Every New Process — Three Questions Before Go-Live</a:t>
            </a:r>
            <a:endParaRPr lang="en-US" sz="2200" dirty="0"/>
          </a:p>
        </p:txBody>
      </p:sp>
      <p:sp>
        <p:nvSpPr>
          <p:cNvPr id="5" name="Text 3"/>
          <p:cNvSpPr/>
          <p:nvPr/>
        </p:nvSpPr>
        <p:spPr>
          <a:xfrm>
            <a:off x="457200" y="1316736"/>
            <a:ext cx="8412480" cy="292608"/>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Add any new WEBCON process to the cfg_SensitiveProcessIDs table if it handles PII — all RLS policies update automatically.</a:t>
            </a:r>
            <a:endParaRPr lang="en-US" sz="1050" dirty="0"/>
          </a:p>
        </p:txBody>
      </p:sp>
      <p:sp>
        <p:nvSpPr>
          <p:cNvPr id="6" name="Shape 4"/>
          <p:cNvSpPr/>
          <p:nvPr/>
        </p:nvSpPr>
        <p:spPr>
          <a:xfrm>
            <a:off x="365760" y="1719072"/>
            <a:ext cx="8412480" cy="868680"/>
          </a:xfrm>
          <a:prstGeom prst="rect">
            <a:avLst/>
          </a:prstGeom>
          <a:solidFill>
            <a:srgbClr val="FFFFFF"/>
          </a:solidFill>
          <a:ln w="10160">
            <a:solidFill>
              <a:srgbClr val="009B9E"/>
            </a:solidFill>
            <a:prstDash val="solid"/>
          </a:ln>
          <a:effectLst>
            <a:outerShdw blurRad="101600" dist="38100" dir="8100000" algn="bl" rotWithShape="0">
              <a:srgbClr val="000000">
                <a:alpha val="12000"/>
              </a:srgbClr>
            </a:outerShdw>
          </a:effectLst>
        </p:spPr>
      </p:sp>
      <p:sp>
        <p:nvSpPr>
          <p:cNvPr id="7" name="Shape 5"/>
          <p:cNvSpPr/>
          <p:nvPr/>
        </p:nvSpPr>
        <p:spPr>
          <a:xfrm>
            <a:off x="365760" y="1719072"/>
            <a:ext cx="502920" cy="868680"/>
          </a:xfrm>
          <a:prstGeom prst="rect">
            <a:avLst/>
          </a:prstGeom>
          <a:solidFill>
            <a:srgbClr val="C0392B"/>
          </a:solidFill>
          <a:ln/>
        </p:spPr>
      </p:sp>
      <p:sp>
        <p:nvSpPr>
          <p:cNvPr id="8" name="Text 6"/>
          <p:cNvSpPr/>
          <p:nvPr/>
        </p:nvSpPr>
        <p:spPr>
          <a:xfrm>
            <a:off x="365760" y="1719072"/>
            <a:ext cx="502920" cy="8686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969264" y="1810512"/>
            <a:ext cx="768096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Does this process collect PII?</a:t>
            </a:r>
            <a:endParaRPr lang="en-US" sz="1300" dirty="0"/>
          </a:p>
        </p:txBody>
      </p:sp>
      <p:sp>
        <p:nvSpPr>
          <p:cNvPr id="10" name="Text 8"/>
          <p:cNvSpPr/>
          <p:nvPr/>
        </p:nvSpPr>
        <p:spPr>
          <a:xfrm>
            <a:off x="969264" y="2121408"/>
            <a:ext cx="7680960" cy="411480"/>
          </a:xfrm>
          <a:prstGeom prst="rect">
            <a:avLst/>
          </a:prstGeom>
          <a:noFill/>
          <a:ln/>
        </p:spPr>
        <p:txBody>
          <a:bodyPr wrap="square" rtlCol="0" anchor="ctr"/>
          <a:lstStyle/>
          <a:p>
            <a:pPr marL="0" indent="0">
              <a:buNone/>
            </a:pPr>
            <a:r>
              <a:rPr lang="en-US" sz="1000" dirty="0">
                <a:solidFill>
                  <a:srgbClr val="6B7C93"/>
                </a:solidFill>
                <a:latin typeface="Calibri" pitchFamily="34" charset="0"/>
                <a:ea typeface="Calibri" pitchFamily="34" charset="-122"/>
                <a:cs typeface="Calibri" pitchFamily="34" charset="-120"/>
              </a:rPr>
              <a:t>If YES → add its FormType_ID to cfg_SensitiveProcessIDs. Both WFElements and WFHistoryElements RLS policies update automatically.</a:t>
            </a:r>
            <a:endParaRPr lang="en-US" sz="1000" dirty="0"/>
          </a:p>
        </p:txBody>
      </p:sp>
      <p:sp>
        <p:nvSpPr>
          <p:cNvPr id="11" name="Shape 9"/>
          <p:cNvSpPr/>
          <p:nvPr/>
        </p:nvSpPr>
        <p:spPr>
          <a:xfrm>
            <a:off x="365760" y="2679192"/>
            <a:ext cx="8412480" cy="868680"/>
          </a:xfrm>
          <a:prstGeom prst="rect">
            <a:avLst/>
          </a:prstGeom>
          <a:solidFill>
            <a:srgbClr val="FFFFFF"/>
          </a:solidFill>
          <a:ln w="10160">
            <a:solidFill>
              <a:srgbClr val="009B9E"/>
            </a:solidFill>
            <a:prstDash val="solid"/>
          </a:ln>
          <a:effectLst>
            <a:outerShdw blurRad="101600" dist="38100" dir="8100000" algn="bl" rotWithShape="0">
              <a:srgbClr val="000000">
                <a:alpha val="12000"/>
              </a:srgbClr>
            </a:outerShdw>
          </a:effectLst>
        </p:spPr>
      </p:sp>
      <p:sp>
        <p:nvSpPr>
          <p:cNvPr id="12" name="Shape 10"/>
          <p:cNvSpPr/>
          <p:nvPr/>
        </p:nvSpPr>
        <p:spPr>
          <a:xfrm>
            <a:off x="365760" y="2679192"/>
            <a:ext cx="502920" cy="868680"/>
          </a:xfrm>
          <a:prstGeom prst="rect">
            <a:avLst/>
          </a:prstGeom>
          <a:solidFill>
            <a:srgbClr val="E67E22"/>
          </a:solidFill>
          <a:ln/>
        </p:spPr>
      </p:sp>
      <p:sp>
        <p:nvSpPr>
          <p:cNvPr id="13" name="Text 11"/>
          <p:cNvSpPr/>
          <p:nvPr/>
        </p:nvSpPr>
        <p:spPr>
          <a:xfrm>
            <a:off x="365760" y="2679192"/>
            <a:ext cx="502920" cy="8686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969264" y="2770632"/>
            <a:ext cx="768096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Does it use sub-forms?</a:t>
            </a:r>
            <a:endParaRPr lang="en-US" sz="1300" dirty="0"/>
          </a:p>
        </p:txBody>
      </p:sp>
      <p:sp>
        <p:nvSpPr>
          <p:cNvPr id="15" name="Text 13"/>
          <p:cNvSpPr/>
          <p:nvPr/>
        </p:nvSpPr>
        <p:spPr>
          <a:xfrm>
            <a:off x="969264" y="3081528"/>
            <a:ext cx="7680960" cy="411480"/>
          </a:xfrm>
          <a:prstGeom prst="rect">
            <a:avLst/>
          </a:prstGeom>
          <a:noFill/>
          <a:ln/>
        </p:spPr>
        <p:txBody>
          <a:bodyPr wrap="square" rtlCol="0" anchor="ctr"/>
          <a:lstStyle/>
          <a:p>
            <a:pPr marL="0" indent="0">
              <a:buNone/>
            </a:pPr>
            <a:r>
              <a:rPr lang="en-US" sz="1000" dirty="0">
                <a:solidFill>
                  <a:srgbClr val="6B7C93"/>
                </a:solidFill>
                <a:latin typeface="Calibri" pitchFamily="34" charset="0"/>
                <a:ea typeface="Calibri" pitchFamily="34" charset="-122"/>
                <a:cs typeface="Calibri" pitchFamily="34" charset="-120"/>
              </a:rPr>
              <a:t>If YES → verify WFElementDetails chained RLS covers the new WFDID range. Test with a Non-EEA login before go-live.</a:t>
            </a:r>
            <a:endParaRPr lang="en-US" sz="1000" dirty="0"/>
          </a:p>
        </p:txBody>
      </p:sp>
      <p:sp>
        <p:nvSpPr>
          <p:cNvPr id="16" name="Shape 14"/>
          <p:cNvSpPr/>
          <p:nvPr/>
        </p:nvSpPr>
        <p:spPr>
          <a:xfrm>
            <a:off x="365760" y="3639312"/>
            <a:ext cx="8412480" cy="868680"/>
          </a:xfrm>
          <a:prstGeom prst="rect">
            <a:avLst/>
          </a:prstGeom>
          <a:solidFill>
            <a:srgbClr val="FFFFFF"/>
          </a:solidFill>
          <a:ln w="10160">
            <a:solidFill>
              <a:srgbClr val="009B9E"/>
            </a:solidFill>
            <a:prstDash val="solid"/>
          </a:ln>
          <a:effectLst>
            <a:outerShdw blurRad="101600" dist="38100" dir="8100000" algn="bl" rotWithShape="0">
              <a:srgbClr val="000000">
                <a:alpha val="12000"/>
              </a:srgbClr>
            </a:outerShdw>
          </a:effectLst>
        </p:spPr>
      </p:sp>
      <p:sp>
        <p:nvSpPr>
          <p:cNvPr id="17" name="Shape 15"/>
          <p:cNvSpPr/>
          <p:nvPr/>
        </p:nvSpPr>
        <p:spPr>
          <a:xfrm>
            <a:off x="365760" y="3639312"/>
            <a:ext cx="502920" cy="868680"/>
          </a:xfrm>
          <a:prstGeom prst="rect">
            <a:avLst/>
          </a:prstGeom>
          <a:solidFill>
            <a:srgbClr val="007A7D"/>
          </a:solidFill>
          <a:ln/>
        </p:spPr>
      </p:sp>
      <p:sp>
        <p:nvSpPr>
          <p:cNvPr id="18" name="Text 16"/>
          <p:cNvSpPr/>
          <p:nvPr/>
        </p:nvSpPr>
        <p:spPr>
          <a:xfrm>
            <a:off x="365760" y="3639312"/>
            <a:ext cx="502920" cy="8686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9" name="Text 17"/>
          <p:cNvSpPr/>
          <p:nvPr/>
        </p:nvSpPr>
        <p:spPr>
          <a:xfrm>
            <a:off x="969264" y="3730752"/>
            <a:ext cx="768096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Does it accept file attachments?</a:t>
            </a:r>
            <a:endParaRPr lang="en-US" sz="1300" dirty="0"/>
          </a:p>
        </p:txBody>
      </p:sp>
      <p:sp>
        <p:nvSpPr>
          <p:cNvPr id="20" name="Text 18"/>
          <p:cNvSpPr/>
          <p:nvPr/>
        </p:nvSpPr>
        <p:spPr>
          <a:xfrm>
            <a:off x="969264" y="4041648"/>
            <a:ext cx="7680960" cy="411480"/>
          </a:xfrm>
          <a:prstGeom prst="rect">
            <a:avLst/>
          </a:prstGeom>
          <a:noFill/>
          <a:ln/>
        </p:spPr>
        <p:txBody>
          <a:bodyPr wrap="square" rtlCol="0" anchor="ctr"/>
          <a:lstStyle/>
          <a:p>
            <a:pPr marL="0" indent="0">
              <a:buNone/>
            </a:pPr>
            <a:r>
              <a:rPr lang="en-US" sz="1000" dirty="0">
                <a:solidFill>
                  <a:srgbClr val="6B7C93"/>
                </a:solidFill>
                <a:latin typeface="Calibri" pitchFamily="34" charset="0"/>
                <a:ea typeface="Calibri" pitchFamily="34" charset="-122"/>
                <a:cs typeface="Calibri" pitchFamily="34" charset="-120"/>
              </a:rPr>
              <a:t>If YES → confirm WFFilesContent REVOKE is in place for Non-EEA roles. Confirm WFFiles chained RLS is active.</a:t>
            </a:r>
            <a:endParaRPr lang="en-US" sz="1000" dirty="0"/>
          </a:p>
        </p:txBody>
      </p:sp>
      <p:sp>
        <p:nvSpPr>
          <p:cNvPr id="21" name="Text 19"/>
          <p:cNvSpPr/>
          <p:nvPr/>
        </p:nvSpPr>
        <p:spPr>
          <a:xfrm>
            <a:off x="457200" y="4626864"/>
            <a:ext cx="8412480" cy="201168"/>
          </a:xfrm>
          <a:prstGeom prst="rect">
            <a:avLst/>
          </a:prstGeom>
          <a:noFill/>
          <a:ln/>
        </p:spPr>
        <p:txBody>
          <a:bodyPr wrap="square" rtlCol="0" anchor="ctr"/>
          <a:lstStyle/>
          <a:p>
            <a:pPr marL="0" indent="0">
              <a:buNone/>
            </a:pPr>
            <a:r>
              <a:rPr lang="en-US" sz="950" i="1" dirty="0">
                <a:solidFill>
                  <a:srgbClr val="007A7D"/>
                </a:solidFill>
                <a:latin typeface="Calibri" pitchFamily="34" charset="0"/>
                <a:ea typeface="Calibri" pitchFamily="34" charset="-122"/>
                <a:cs typeface="Calibri" pitchFamily="34" charset="-120"/>
              </a:rPr>
              <a:t>This makes Schrems II compliance part of the deployment checklist — not a retrospective audit.</a:t>
            </a:r>
            <a:endParaRPr lang="en-US" sz="950" dirty="0"/>
          </a:p>
        </p:txBody>
      </p:sp>
      <p:sp>
        <p:nvSpPr>
          <p:cNvPr id="22" name="Shape 20"/>
          <p:cNvSpPr/>
          <p:nvPr/>
        </p:nvSpPr>
        <p:spPr>
          <a:xfrm>
            <a:off x="0" y="4828032"/>
            <a:ext cx="9144000" cy="315468"/>
          </a:xfrm>
          <a:prstGeom prst="rect">
            <a:avLst/>
          </a:prstGeom>
          <a:solidFill>
            <a:srgbClr val="009B9E"/>
          </a:solidFill>
          <a:ln/>
        </p:spPr>
      </p:sp>
      <p:sp>
        <p:nvSpPr>
          <p:cNvPr id="23" name="Text 21"/>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26</a:t>
            </a:r>
            <a:endParaRPr lang="en-US" sz="900" dirty="0"/>
          </a:p>
        </p:txBody>
      </p:sp>
      <p:sp>
        <p:nvSpPr>
          <p:cNvPr id="24" name="Shape 22"/>
          <p:cNvSpPr/>
          <p:nvPr/>
        </p:nvSpPr>
        <p:spPr>
          <a:xfrm>
            <a:off x="502920" y="4919472"/>
            <a:ext cx="18288" cy="128016"/>
          </a:xfrm>
          <a:prstGeom prst="rect">
            <a:avLst/>
          </a:prstGeom>
          <a:solidFill>
            <a:srgbClr val="FFFFFF"/>
          </a:solidFill>
          <a:ln/>
        </p:spPr>
      </p:sp>
      <p:sp>
        <p:nvSpPr>
          <p:cNvPr id="25" name="Text 23"/>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26" name="Text 24"/>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009B9E"/>
          </a:solidFill>
          <a:ln/>
        </p:spPr>
      </p:sp>
      <p:sp>
        <p:nvSpPr>
          <p:cNvPr id="3" name="Text 1"/>
          <p:cNvSpPr/>
          <p:nvPr/>
        </p:nvSpPr>
        <p:spPr>
          <a:xfrm>
            <a:off x="411480" y="164592"/>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WEBCON BPS  —  Schrems II Remediation</a:t>
            </a:r>
            <a:endParaRPr lang="en-US" sz="2600" dirty="0"/>
          </a:p>
        </p:txBody>
      </p:sp>
      <p:sp>
        <p:nvSpPr>
          <p:cNvPr id="4" name="Text 2"/>
          <p:cNvSpPr/>
          <p:nvPr/>
        </p:nvSpPr>
        <p:spPr>
          <a:xfrm>
            <a:off x="411480" y="713232"/>
            <a:ext cx="8229600" cy="347472"/>
          </a:xfrm>
          <a:prstGeom prst="rect">
            <a:avLst/>
          </a:prstGeom>
          <a:noFill/>
          <a:ln/>
        </p:spPr>
        <p:txBody>
          <a:bodyPr wrap="square" rtlCol="0" anchor="ctr"/>
          <a:lstStyle/>
          <a:p>
            <a:pPr marL="0" indent="0">
              <a:buNone/>
            </a:pPr>
            <a:r>
              <a:rPr lang="en-US" sz="1400" dirty="0">
                <a:solidFill>
                  <a:srgbClr val="E0F5F5"/>
                </a:solidFill>
                <a:latin typeface="Calibri" pitchFamily="34" charset="0"/>
                <a:ea typeface="Calibri" pitchFamily="34" charset="-122"/>
                <a:cs typeface="Calibri" pitchFamily="34" charset="-120"/>
              </a:rPr>
              <a:t>Architecture Ready for Implementation</a:t>
            </a:r>
            <a:endParaRPr lang="en-US" sz="1400" dirty="0"/>
          </a:p>
        </p:txBody>
      </p:sp>
      <p:sp>
        <p:nvSpPr>
          <p:cNvPr id="5" name="Shape 3"/>
          <p:cNvSpPr/>
          <p:nvPr/>
        </p:nvSpPr>
        <p:spPr>
          <a:xfrm>
            <a:off x="0" y="1463040"/>
            <a:ext cx="109728" cy="3364992"/>
          </a:xfrm>
          <a:prstGeom prst="rect">
            <a:avLst/>
          </a:prstGeom>
          <a:solidFill>
            <a:srgbClr val="007A7D"/>
          </a:solidFill>
          <a:ln/>
        </p:spPr>
      </p:sp>
      <p:sp>
        <p:nvSpPr>
          <p:cNvPr id="6" name="Shape 4"/>
          <p:cNvSpPr/>
          <p:nvPr/>
        </p:nvSpPr>
        <p:spPr>
          <a:xfrm>
            <a:off x="274320" y="1572768"/>
            <a:ext cx="8595360" cy="3108960"/>
          </a:xfrm>
          <a:prstGeom prst="rect">
            <a:avLst/>
          </a:prstGeom>
          <a:solidFill>
            <a:srgbClr val="FFFFFF"/>
          </a:solidFill>
          <a:ln w="12700">
            <a:solidFill>
              <a:srgbClr val="009B9E"/>
            </a:solidFill>
            <a:prstDash val="solid"/>
          </a:ln>
          <a:effectLst>
            <a:outerShdw blurRad="101600" dist="38100" dir="8100000" algn="bl" rotWithShape="0">
              <a:srgbClr val="000000">
                <a:alpha val="12000"/>
              </a:srgbClr>
            </a:outerShdw>
          </a:effectLst>
        </p:spPr>
      </p:sp>
      <p:sp>
        <p:nvSpPr>
          <p:cNvPr id="7" name="Shape 5"/>
          <p:cNvSpPr/>
          <p:nvPr/>
        </p:nvSpPr>
        <p:spPr>
          <a:xfrm>
            <a:off x="274320" y="1572768"/>
            <a:ext cx="8595360" cy="292608"/>
          </a:xfrm>
          <a:prstGeom prst="rect">
            <a:avLst/>
          </a:prstGeom>
          <a:solidFill>
            <a:srgbClr val="E0F5F5"/>
          </a:solidFill>
          <a:ln/>
        </p:spPr>
      </p:sp>
      <p:sp>
        <p:nvSpPr>
          <p:cNvPr id="8" name="Text 6"/>
          <p:cNvSpPr/>
          <p:nvPr/>
        </p:nvSpPr>
        <p:spPr>
          <a:xfrm>
            <a:off x="384048" y="1572768"/>
            <a:ext cx="8321040" cy="292608"/>
          </a:xfrm>
          <a:prstGeom prst="rect">
            <a:avLst/>
          </a:prstGeom>
          <a:noFill/>
          <a:ln/>
        </p:spPr>
        <p:txBody>
          <a:bodyPr wrap="square" rtlCol="0" anchor="ctr"/>
          <a:lstStyle/>
          <a:p>
            <a:pPr marL="0" indent="0">
              <a:buNone/>
            </a:pPr>
            <a:r>
              <a:rPr lang="en-US" sz="1050" b="1" dirty="0">
                <a:solidFill>
                  <a:srgbClr val="007A7D"/>
                </a:solidFill>
                <a:latin typeface="Calibri" pitchFamily="34" charset="0"/>
                <a:ea typeface="Calibri" pitchFamily="34" charset="-122"/>
                <a:cs typeface="Calibri" pitchFamily="34" charset="-120"/>
              </a:rPr>
              <a:t>Summary — What This Architecture Delivers</a:t>
            </a:r>
            <a:endParaRPr lang="en-US" sz="1050" dirty="0"/>
          </a:p>
        </p:txBody>
      </p:sp>
      <p:sp>
        <p:nvSpPr>
          <p:cNvPr id="9" name="Shape 7"/>
          <p:cNvSpPr/>
          <p:nvPr/>
        </p:nvSpPr>
        <p:spPr>
          <a:xfrm>
            <a:off x="347472" y="1920240"/>
            <a:ext cx="201168" cy="201168"/>
          </a:xfrm>
          <a:prstGeom prst="rect">
            <a:avLst/>
          </a:prstGeom>
          <a:solidFill>
            <a:srgbClr val="009B9E"/>
          </a:solidFill>
          <a:ln/>
        </p:spPr>
      </p:sp>
      <p:sp>
        <p:nvSpPr>
          <p:cNvPr id="10" name="Text 8"/>
          <p:cNvSpPr/>
          <p:nvPr/>
        </p:nvSpPr>
        <p:spPr>
          <a:xfrm>
            <a:off x="640080" y="1901952"/>
            <a:ext cx="8046720" cy="2560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8 runtime tables covered — WFElements through WFLogs</a:t>
            </a:r>
            <a:endParaRPr lang="en-US" sz="1050" dirty="0"/>
          </a:p>
        </p:txBody>
      </p:sp>
      <p:sp>
        <p:nvSpPr>
          <p:cNvPr id="11" name="Shape 9"/>
          <p:cNvSpPr/>
          <p:nvPr/>
        </p:nvSpPr>
        <p:spPr>
          <a:xfrm>
            <a:off x="347472" y="2359152"/>
            <a:ext cx="201168" cy="201168"/>
          </a:xfrm>
          <a:prstGeom prst="rect">
            <a:avLst/>
          </a:prstGeom>
          <a:solidFill>
            <a:srgbClr val="009B9E"/>
          </a:solidFill>
          <a:ln/>
        </p:spPr>
      </p:sp>
      <p:sp>
        <p:nvSpPr>
          <p:cNvPr id="12" name="Text 10"/>
          <p:cNvSpPr/>
          <p:nvPr/>
        </p:nvSpPr>
        <p:spPr>
          <a:xfrm>
            <a:off x="640080" y="2340864"/>
            <a:ext cx="8046720" cy="2560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5 independent security layers — each independently enforced</a:t>
            </a:r>
            <a:endParaRPr lang="en-US" sz="1050" dirty="0"/>
          </a:p>
        </p:txBody>
      </p:sp>
      <p:sp>
        <p:nvSpPr>
          <p:cNvPr id="13" name="Shape 11"/>
          <p:cNvSpPr/>
          <p:nvPr/>
        </p:nvSpPr>
        <p:spPr>
          <a:xfrm>
            <a:off x="347472" y="2798064"/>
            <a:ext cx="201168" cy="201168"/>
          </a:xfrm>
          <a:prstGeom prst="rect">
            <a:avLst/>
          </a:prstGeom>
          <a:solidFill>
            <a:srgbClr val="009B9E"/>
          </a:solidFill>
          <a:ln/>
        </p:spPr>
      </p:sp>
      <p:sp>
        <p:nvSpPr>
          <p:cNvPr id="14" name="Text 12"/>
          <p:cNvSpPr/>
          <p:nvPr/>
        </p:nvSpPr>
        <p:spPr>
          <a:xfrm>
            <a:off x="640080" y="2779776"/>
            <a:ext cx="8046720" cy="2560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EEA / Non-EEA role separation at every layer</a:t>
            </a:r>
            <a:endParaRPr lang="en-US" sz="1050" dirty="0"/>
          </a:p>
        </p:txBody>
      </p:sp>
      <p:sp>
        <p:nvSpPr>
          <p:cNvPr id="15" name="Shape 13"/>
          <p:cNvSpPr/>
          <p:nvPr/>
        </p:nvSpPr>
        <p:spPr>
          <a:xfrm>
            <a:off x="347472" y="3236976"/>
            <a:ext cx="201168" cy="201168"/>
          </a:xfrm>
          <a:prstGeom prst="rect">
            <a:avLst/>
          </a:prstGeom>
          <a:solidFill>
            <a:srgbClr val="009B9E"/>
          </a:solidFill>
          <a:ln/>
        </p:spPr>
      </p:sp>
      <p:sp>
        <p:nvSpPr>
          <p:cNvPr id="16" name="Text 14"/>
          <p:cNvSpPr/>
          <p:nvPr/>
        </p:nvSpPr>
        <p:spPr>
          <a:xfrm>
            <a:off x="640080" y="3218688"/>
            <a:ext cx="8046720" cy="2560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COMPANY NAME operational access to IT, Procurement &amp; Ops preserved</a:t>
            </a:r>
            <a:endParaRPr lang="en-US" sz="1050" dirty="0"/>
          </a:p>
        </p:txBody>
      </p:sp>
      <p:sp>
        <p:nvSpPr>
          <p:cNvPr id="17" name="Shape 15"/>
          <p:cNvSpPr/>
          <p:nvPr/>
        </p:nvSpPr>
        <p:spPr>
          <a:xfrm>
            <a:off x="347472" y="3675888"/>
            <a:ext cx="201168" cy="201168"/>
          </a:xfrm>
          <a:prstGeom prst="rect">
            <a:avLst/>
          </a:prstGeom>
          <a:solidFill>
            <a:srgbClr val="009B9E"/>
          </a:solidFill>
          <a:ln/>
        </p:spPr>
      </p:sp>
      <p:sp>
        <p:nvSpPr>
          <p:cNvPr id="18" name="Text 16"/>
          <p:cNvSpPr/>
          <p:nvPr/>
        </p:nvSpPr>
        <p:spPr>
          <a:xfrm>
            <a:off x="640080" y="3657600"/>
            <a:ext cx="8046720" cy="2560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cfg_SensitiveProcessIDs — single control point for all RLS policies</a:t>
            </a:r>
            <a:endParaRPr lang="en-US" sz="1050" dirty="0"/>
          </a:p>
        </p:txBody>
      </p:sp>
      <p:sp>
        <p:nvSpPr>
          <p:cNvPr id="19" name="Shape 17"/>
          <p:cNvSpPr/>
          <p:nvPr/>
        </p:nvSpPr>
        <p:spPr>
          <a:xfrm>
            <a:off x="347472" y="4114800"/>
            <a:ext cx="201168" cy="201168"/>
          </a:xfrm>
          <a:prstGeom prst="rect">
            <a:avLst/>
          </a:prstGeom>
          <a:solidFill>
            <a:srgbClr val="009B9E"/>
          </a:solidFill>
          <a:ln/>
        </p:spPr>
      </p:sp>
      <p:sp>
        <p:nvSpPr>
          <p:cNvPr id="20" name="Text 18"/>
          <p:cNvSpPr/>
          <p:nvPr/>
        </p:nvSpPr>
        <p:spPr>
          <a:xfrm>
            <a:off x="640080" y="4096512"/>
            <a:ext cx="8046720" cy="25603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Designer Studio Log Level controls upstream PII prevention in WFLogs</a:t>
            </a:r>
            <a:endParaRPr lang="en-US" sz="1050" dirty="0"/>
          </a:p>
        </p:txBody>
      </p:sp>
      <p:sp>
        <p:nvSpPr>
          <p:cNvPr id="21" name="Shape 19"/>
          <p:cNvSpPr/>
          <p:nvPr/>
        </p:nvSpPr>
        <p:spPr>
          <a:xfrm>
            <a:off x="0" y="4828032"/>
            <a:ext cx="9144000" cy="315468"/>
          </a:xfrm>
          <a:prstGeom prst="rect">
            <a:avLst/>
          </a:prstGeom>
          <a:solidFill>
            <a:srgbClr val="009B9E"/>
          </a:solidFill>
          <a:ln/>
        </p:spPr>
      </p:sp>
      <p:sp>
        <p:nvSpPr>
          <p:cNvPr id="22" name="Text 20"/>
          <p:cNvSpPr/>
          <p:nvPr/>
        </p:nvSpPr>
        <p:spPr>
          <a:xfrm>
            <a:off x="228600" y="4828032"/>
            <a:ext cx="27432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27</a:t>
            </a:r>
            <a:endParaRPr lang="en-US" sz="900" dirty="0"/>
          </a:p>
        </p:txBody>
      </p:sp>
      <p:sp>
        <p:nvSpPr>
          <p:cNvPr id="23" name="Shape 21"/>
          <p:cNvSpPr/>
          <p:nvPr/>
        </p:nvSpPr>
        <p:spPr>
          <a:xfrm>
            <a:off x="502920" y="4919472"/>
            <a:ext cx="18288" cy="128016"/>
          </a:xfrm>
          <a:prstGeom prst="rect">
            <a:avLst/>
          </a:prstGeom>
          <a:solidFill>
            <a:srgbClr val="FFFFFF"/>
          </a:solidFill>
          <a:ln/>
        </p:spPr>
      </p:sp>
      <p:sp>
        <p:nvSpPr>
          <p:cNvPr id="24" name="Text 22"/>
          <p:cNvSpPr/>
          <p:nvPr/>
        </p:nvSpPr>
        <p:spPr>
          <a:xfrm>
            <a:off x="594360" y="4828032"/>
            <a:ext cx="4572000" cy="315468"/>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COMPANY NAME  ·  April 2026  ·  Confidential</a:t>
            </a:r>
            <a:endParaRPr lang="en-US" sz="900" dirty="0"/>
          </a:p>
        </p:txBody>
      </p:sp>
      <p:sp>
        <p:nvSpPr>
          <p:cNvPr id="25" name="Text 23"/>
          <p:cNvSpPr/>
          <p:nvPr/>
        </p:nvSpPr>
        <p:spPr>
          <a:xfrm>
            <a:off x="8686800" y="4828032"/>
            <a:ext cx="365760" cy="315468"/>
          </a:xfrm>
          <a:prstGeom prst="rect">
            <a:avLst/>
          </a:prstGeom>
          <a:noFill/>
          <a:ln/>
        </p:spPr>
        <p:txBody>
          <a:bodyPr wrap="square" rtlCol="0" anchor="ctr"/>
          <a:lstStyle/>
          <a:p>
            <a:pPr marL="0" indent="0" algn="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6896</Words>
  <Application>Microsoft Office PowerPoint</Application>
  <PresentationFormat>On-screen Show (16:9)</PresentationFormat>
  <Paragraphs>1128</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WEBCON BPS — Schrems II Remediation</dc:title>
  <dc:subject>PptxGenJS Presentation</dc:subject>
  <dc:creator>Ayvens GSC Bangalore</dc:creator>
  <cp:lastModifiedBy>user</cp:lastModifiedBy>
  <cp:revision>2</cp:revision>
  <dcterms:created xsi:type="dcterms:W3CDTF">2026-04-08T14:47:02Z</dcterms:created>
  <dcterms:modified xsi:type="dcterms:W3CDTF">2026-04-09T06:50:38Z</dcterms:modified>
</cp:coreProperties>
</file>